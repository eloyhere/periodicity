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8" d="100"/>
          <a:sy n="158" d="100"/>
        </p:scale>
        <p:origin x="174" y="2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position: 'relative', flexDirection: 'row', background: '#0E3F8C', fontFamily: '&quot;Microsoft YaHei&quot;, &quot;Source Han Sans SC&quot;, sans-serif' }}&gt;&#10;&#10;    {/* 左：周转圆嵌套主视觉 */}&#10;    &lt;Box style={{ width: 730, height: 720, justifyContent: 'center', alignItems: 'center', position: 'relative' }}&gt;&#10;        &lt;svg width={640} height={640} viewBox='0 0 560 560'&gt;&#10;            &lt;circle cx='280' cy='280' r='250' fill='none' stroke='#B8CEEC' strokeWidth='16' strokeDasharray='7 19.18' opacity='0.85' /&gt;&#10;            &lt;circle cx='280' cy='280' r='205' fill='none' stroke='#3D7BD9' strokeWidth='18' strokeDasharray='14 93.34' /&gt;&#10;            &lt;circle cx='280' cy='280' r='160' fill='none' stroke='#FFC107' strokeWidth='17' strokeDasharray='16 109.66' opacity='0.9' /&gt;&#10;            &lt;circle cx='280' cy='280' r='115' fill='none' stroke='#FFFFFF' strokeWidth='15' strokeDasharray='18 126.51' opacity='0.9' /&gt;&#10;            &lt;line x1='280' y1='280' x2='280' y2='222' stroke='#8FB4E8' strokeWidth='1.6' /&gt;&#10;            &lt;circle cx='280' cy='222' r='58' fill='none' stroke='#8FB4E8' strokeWidth='1.6' strokeDasharray='4 8' /&gt;&#10;            &lt;line x1='280' y1='222' x2='280' y2='164' stroke='#8FB4E8' strokeWidth='1.4' /&gt;&#10;            &lt;circle cx='280' cy='164' r='24' fill='none' stroke='#B8CEEC' strokeWidth='1.4' strokeDasharray='3 6' /&gt;&#10;            &lt;circle cx='280' cy='280' r='7' fill='#D9534F' /&gt;&#10;            &lt;circle cx='280' cy='222' r='4' fill='#B8CEEC' /&gt;&#10;            &lt;circle cx='280' cy='164' r='3' fill='#FFFFFF' /&gt;&#10;        &lt;/svg&gt;&#10;        &lt;Text style={{ position: 'absolute', bottom: 34, fontSize: 15, color: '#8FB4E8', letterSpacing: 2 }}&gt;&#10;            {`外圈每前进一步　内圈旋转一整圈`}&#10;        &lt;/Text&gt;&#10;    &lt;/Box&gt;&#10;&#10;    {/* 右：标题区 */}&#10;    &lt;Box style={{ width: 550, height: 720, paddingTop: 74, paddingBottom: 56, paddingLeft: 46, paddingRight: 56, justifyContent: 'space-between' }}&gt;&#10;        &lt;Box style={{ flexDirection: 'row' }}&gt;&#10;            &lt;Box style={{ paddingLeft: 14, paddingRight: 14, paddingTop: 6, paddingBottom: 6, borderRadius: 4, border: '1px solid rgba(184,206,236,0.55)' }}&gt;&#10;                &lt;Text style={{ fontSize: 14, color: '#B8CEEC', letterSpacing: 1 }}&gt;独立研究 · 研究纲领&lt;/Text&gt;&#10;            &lt;/Box&gt;&#10;        &lt;/Box&gt;&#10;&#10;        &lt;Box style={{ flexDirection: 'column' }}&gt;&#10;            &lt;Text style={{ fontSize: 78, fontWeight: 'bold', color: '#FFFFFF', lineHeight: 1.12 }}&gt;周期数学&lt;/Text&gt;&#10;            &lt;Box style={{ width: 108, height: 5, background: '#FFC107', marginTop: 20, marginBottom: 22 }} /&gt;&#10;            &lt;Text style={{ fontSize: 30, color: '#DCE7F7', lineHeight: 1.5 }}&gt;{`为周期现象建立\n统一的数学语言`}&lt;/Text&gt;&#10;            &lt;Text style={{ fontSize: 19, color: '#8FB4E8', lineHeight: 1.55, marginTop: 26, fontFamily: '&quot;Times New Roman&quot;, serif', fontStyle: 'italic' }}&gt;&#10;                Periodicity Mathematics&#10;            &lt;/Text&gt;&#10;            &lt;Text style={{ fontSize: 16, color: '#8FB4E8', lineHeight: 1.5, marginTop: 4 }}&gt;&#10;                A Unified Language for Periodic Structure&#10;            &lt;/Text&gt;&#10;        &lt;/Box&gt;&#10;&#10;        &lt;Box style={{ flexDirection: 'column' }}&gt;&#10;            &lt;Box style={{ width: '100%', height: 1, background: 'rgba(184,206,236,0.3)', marginBottom: 18 }} /&gt;&#10;            &lt;Text style={{ fontSize: 17, color: '#DCE7F7', lineHeight: 1.6 }}&gt;&#10;                {`41 章 · 中文版 691 页 / 英文版 793 页 · 中英双语平行成稿`}&#10;            &lt;/Text&gt;&#10;            &lt;Text style={{ fontSize: 15, color: '#8FB4E8', lineHeight: 1.6, marginTop: 8 }}&gt;&#10;                著者 · 独立研究者　|　对外宣讲版&#10;            &lt;/Text&gt;&#10;        &lt;/Box&gt;&#10;    &lt;/Box&gt;&#10;&lt;/Slide&gt;&#10;"/>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E3F8C"/>
          </a:solidFill>
          <a:ln/>
        </p:spPr>
        <p:txBody>
          <a:bodyPr/>
          <a:lstStyle/>
          <a:p>
            <a:endParaRPr/>
          </a:p>
        </p:txBody>
      </p:sp>
      <p:sp>
        <p:nvSpPr>
          <p:cNvPr id="3" name="矩形: 圆角 2"/>
          <p:cNvSpPr/>
          <p:nvPr/>
        </p:nvSpPr>
        <p:spPr>
          <a:xfrm>
            <a:off x="7391400" y="704850"/>
            <a:ext cx="1552575" cy="276225"/>
          </a:xfrm>
          <a:prstGeom prst="roundRect">
            <a:avLst>
              <a:gd name="adj" fmla="val 13793"/>
            </a:avLst>
          </a:prstGeom>
          <a:ln w="12700">
            <a:solidFill>
              <a:srgbClr val="B8CEEC">
                <a:alpha val="55000"/>
              </a:srgbClr>
            </a:solidFill>
            <a:prstDash val="solid"/>
          </a:ln>
        </p:spPr>
        <p:txBody>
          <a:bodyPr/>
          <a:lstStyle/>
          <a:p>
            <a:endParaRPr/>
          </a:p>
        </p:txBody>
      </p:sp>
      <p:sp>
        <p:nvSpPr>
          <p:cNvPr id="4" name="文本框 3" descr="{&quot;isTemplate&quot;:true,&quot;type&quot;:&quot;text&quot;}"/>
          <p:cNvSpPr txBox="1"/>
          <p:nvPr/>
        </p:nvSpPr>
        <p:spPr>
          <a:xfrm>
            <a:off x="7524750" y="762000"/>
            <a:ext cx="1285875" cy="161925"/>
          </a:xfrm>
          <a:prstGeom prst="rect">
            <a:avLst/>
          </a:prstGeom>
        </p:spPr>
        <p:txBody>
          <a:bodyPr wrap="none" lIns="0" tIns="0" rIns="0" bIns="0"/>
          <a:lstStyle/>
          <a:p>
            <a:pPr>
              <a:lnSpc>
                <a:spcPct val="100000"/>
              </a:lnSpc>
            </a:pPr>
            <a:r>
              <a:rPr lang="zh-CN" sz="1050" spc="75">
                <a:solidFill>
                  <a:srgbClr val="B8CEEC"/>
                </a:solidFill>
                <a:latin typeface="Microsoft YaHei"/>
                <a:ea typeface="Microsoft YaHei"/>
              </a:rPr>
              <a:t>独立研究</a:t>
            </a:r>
            <a:r>
              <a:rPr lang="en-US" sz="1050" spc="75">
                <a:solidFill>
                  <a:srgbClr val="B8CEEC"/>
                </a:solidFill>
                <a:latin typeface="Microsoft YaHei"/>
                <a:ea typeface="Microsoft YaHei"/>
              </a:rPr>
              <a:t> · </a:t>
            </a:r>
            <a:r>
              <a:rPr lang="zh-CN" sz="1050" spc="75">
                <a:solidFill>
                  <a:srgbClr val="B8CEEC"/>
                </a:solidFill>
                <a:latin typeface="Microsoft YaHei"/>
                <a:ea typeface="Microsoft YaHei"/>
              </a:rPr>
              <a:t>研究纲领</a:t>
            </a:r>
            <a:endParaRPr/>
          </a:p>
        </p:txBody>
      </p:sp>
      <p:sp>
        <p:nvSpPr>
          <p:cNvPr id="5" name="文本框 4" descr="{&quot;isTemplate&quot;:true,&quot;type&quot;:&quot;text&quot;}"/>
          <p:cNvSpPr txBox="1"/>
          <p:nvPr/>
        </p:nvSpPr>
        <p:spPr>
          <a:xfrm>
            <a:off x="7391400" y="1543050"/>
            <a:ext cx="4267200" cy="1000125"/>
          </a:xfrm>
          <a:prstGeom prst="rect">
            <a:avLst/>
          </a:prstGeom>
        </p:spPr>
        <p:txBody>
          <a:bodyPr wrap="none" lIns="0" tIns="0" rIns="0" bIns="0"/>
          <a:lstStyle/>
          <a:p>
            <a:pPr>
              <a:lnSpc>
                <a:spcPct val="112000"/>
              </a:lnSpc>
            </a:pPr>
            <a:r>
              <a:rPr lang="zh-CN" sz="5850" b="1">
                <a:solidFill>
                  <a:srgbClr val="FFFFFF"/>
                </a:solidFill>
                <a:latin typeface="Microsoft YaHei"/>
                <a:ea typeface="Microsoft YaHei"/>
              </a:rPr>
              <a:t>周期数学</a:t>
            </a:r>
            <a:endParaRPr/>
          </a:p>
        </p:txBody>
      </p:sp>
      <p:sp>
        <p:nvSpPr>
          <p:cNvPr id="6" name="矩形 5"/>
          <p:cNvSpPr/>
          <p:nvPr/>
        </p:nvSpPr>
        <p:spPr>
          <a:xfrm>
            <a:off x="7391400" y="2733675"/>
            <a:ext cx="1028700" cy="47625"/>
          </a:xfrm>
          <a:prstGeom prst="rect">
            <a:avLst/>
          </a:prstGeom>
          <a:solidFill>
            <a:srgbClr val="FFC107"/>
          </a:solidFill>
          <a:ln/>
        </p:spPr>
        <p:txBody>
          <a:bodyPr/>
          <a:lstStyle/>
          <a:p>
            <a:endParaRPr/>
          </a:p>
        </p:txBody>
      </p:sp>
      <p:sp>
        <p:nvSpPr>
          <p:cNvPr id="7" name="文本框 6" descr="{&quot;isTemplate&quot;:true,&quot;type&quot;:&quot;text&quot;}"/>
          <p:cNvSpPr txBox="1"/>
          <p:nvPr/>
        </p:nvSpPr>
        <p:spPr>
          <a:xfrm>
            <a:off x="7391400" y="2990850"/>
            <a:ext cx="4267200" cy="1028700"/>
          </a:xfrm>
          <a:prstGeom prst="rect">
            <a:avLst/>
          </a:prstGeom>
        </p:spPr>
        <p:txBody>
          <a:bodyPr wrap="none" lIns="0" tIns="0" rIns="0" bIns="0"/>
          <a:lstStyle/>
          <a:p>
            <a:pPr>
              <a:lnSpc>
                <a:spcPct val="150000"/>
              </a:lnSpc>
            </a:pPr>
            <a:r>
              <a:rPr lang="zh-CN" sz="2250">
                <a:solidFill>
                  <a:srgbClr val="DCE7F7"/>
                </a:solidFill>
                <a:latin typeface="Microsoft YaHei"/>
                <a:ea typeface="Microsoft YaHei"/>
              </a:rPr>
              <a:t>为周期现象建立
统一的数学语言</a:t>
            </a:r>
            <a:endParaRPr/>
          </a:p>
        </p:txBody>
      </p:sp>
      <p:sp>
        <p:nvSpPr>
          <p:cNvPr id="8" name="文本框 7" descr="{&quot;isTemplate&quot;:true,&quot;type&quot;:&quot;text&quot;}"/>
          <p:cNvSpPr txBox="1"/>
          <p:nvPr/>
        </p:nvSpPr>
        <p:spPr>
          <a:xfrm>
            <a:off x="7391400" y="4267200"/>
            <a:ext cx="4267200" cy="342900"/>
          </a:xfrm>
          <a:prstGeom prst="rect">
            <a:avLst/>
          </a:prstGeom>
        </p:spPr>
        <p:txBody>
          <a:bodyPr wrap="none" lIns="0" tIns="0" rIns="0" bIns="0"/>
          <a:lstStyle/>
          <a:p>
            <a:pPr>
              <a:lnSpc>
                <a:spcPct val="155000"/>
              </a:lnSpc>
            </a:pPr>
            <a:r>
              <a:rPr lang="en-US" sz="1425" i="1">
                <a:solidFill>
                  <a:srgbClr val="8FB4E8"/>
                </a:solidFill>
                <a:latin typeface="Times New Roman"/>
                <a:ea typeface="Times New Roman"/>
              </a:rPr>
              <a:t>Periodicity Mathematics</a:t>
            </a:r>
            <a:endParaRPr/>
          </a:p>
        </p:txBody>
      </p:sp>
      <p:sp>
        <p:nvSpPr>
          <p:cNvPr id="9" name="文本框 8" descr="{&quot;isTemplate&quot;:true,&quot;type&quot;:&quot;text&quot;}"/>
          <p:cNvSpPr txBox="1"/>
          <p:nvPr/>
        </p:nvSpPr>
        <p:spPr>
          <a:xfrm>
            <a:off x="7391400" y="4648200"/>
            <a:ext cx="4267200" cy="276225"/>
          </a:xfrm>
          <a:prstGeom prst="rect">
            <a:avLst/>
          </a:prstGeom>
        </p:spPr>
        <p:txBody>
          <a:bodyPr wrap="none" lIns="0" tIns="0" rIns="0" bIns="0"/>
          <a:lstStyle/>
          <a:p>
            <a:pPr>
              <a:lnSpc>
                <a:spcPct val="150000"/>
              </a:lnSpc>
            </a:pPr>
            <a:r>
              <a:rPr lang="en-US" sz="1200">
                <a:solidFill>
                  <a:srgbClr val="8FB4E8"/>
                </a:solidFill>
                <a:latin typeface="Microsoft YaHei"/>
                <a:ea typeface="Microsoft YaHei"/>
              </a:rPr>
              <a:t>A Unified Language for Periodic Structure</a:t>
            </a:r>
            <a:endParaRPr/>
          </a:p>
        </p:txBody>
      </p:sp>
      <p:sp>
        <p:nvSpPr>
          <p:cNvPr id="10" name="矩形 9"/>
          <p:cNvSpPr/>
          <p:nvPr/>
        </p:nvSpPr>
        <p:spPr>
          <a:xfrm>
            <a:off x="7391400" y="5476875"/>
            <a:ext cx="4267200" cy="9525"/>
          </a:xfrm>
          <a:prstGeom prst="rect">
            <a:avLst/>
          </a:prstGeom>
          <a:solidFill>
            <a:srgbClr val="B8CEEC">
              <a:alpha val="30000"/>
            </a:srgbClr>
          </a:solidFill>
          <a:ln/>
        </p:spPr>
        <p:txBody>
          <a:bodyPr/>
          <a:lstStyle/>
          <a:p>
            <a:endParaRPr/>
          </a:p>
        </p:txBody>
      </p:sp>
      <p:sp>
        <p:nvSpPr>
          <p:cNvPr id="11" name="文本框 10" descr="{&quot;isTemplate&quot;:true,&quot;type&quot;:&quot;text&quot;}"/>
          <p:cNvSpPr txBox="1"/>
          <p:nvPr/>
        </p:nvSpPr>
        <p:spPr>
          <a:xfrm>
            <a:off x="7391400" y="5657850"/>
            <a:ext cx="4267200" cy="314325"/>
          </a:xfrm>
          <a:prstGeom prst="rect">
            <a:avLst/>
          </a:prstGeom>
        </p:spPr>
        <p:txBody>
          <a:bodyPr wrap="none" lIns="0" tIns="0" rIns="0" bIns="0"/>
          <a:lstStyle/>
          <a:p>
            <a:pPr>
              <a:lnSpc>
                <a:spcPct val="160000"/>
              </a:lnSpc>
            </a:pPr>
            <a:r>
              <a:rPr lang="en-US" sz="1275">
                <a:solidFill>
                  <a:srgbClr val="DCE7F7"/>
                </a:solidFill>
                <a:latin typeface="Microsoft YaHei"/>
                <a:ea typeface="Microsoft YaHei"/>
              </a:rPr>
              <a:t>46 </a:t>
            </a:r>
            <a:r>
              <a:rPr lang="zh-CN" sz="1275">
                <a:solidFill>
                  <a:srgbClr val="DCE7F7"/>
                </a:solidFill>
                <a:latin typeface="Microsoft YaHei"/>
                <a:ea typeface="Microsoft YaHei"/>
              </a:rPr>
              <a:t>章</a:t>
            </a:r>
            <a:r>
              <a:rPr lang="en-US" sz="1275">
                <a:solidFill>
                  <a:srgbClr val="DCE7F7"/>
                </a:solidFill>
                <a:latin typeface="Microsoft YaHei"/>
                <a:ea typeface="Microsoft YaHei"/>
              </a:rPr>
              <a:t> · </a:t>
            </a:r>
            <a:r>
              <a:rPr lang="zh-CN" sz="1275">
                <a:solidFill>
                  <a:srgbClr val="DCE7F7"/>
                </a:solidFill>
                <a:latin typeface="Microsoft YaHei"/>
                <a:ea typeface="Microsoft YaHei"/>
              </a:rPr>
              <a:t>中文版</a:t>
            </a:r>
            <a:r>
              <a:rPr lang="en-US" sz="1275">
                <a:solidFill>
                  <a:srgbClr val="DCE7F7"/>
                </a:solidFill>
                <a:latin typeface="Microsoft YaHei"/>
                <a:ea typeface="Microsoft YaHei"/>
              </a:rPr>
              <a:t> 1271 </a:t>
            </a:r>
            <a:r>
              <a:rPr lang="zh-CN" sz="1275">
                <a:solidFill>
                  <a:srgbClr val="DCE7F7"/>
                </a:solidFill>
                <a:latin typeface="Microsoft YaHei"/>
                <a:ea typeface="Microsoft YaHei"/>
              </a:rPr>
              <a:t>页</a:t>
            </a:r>
            <a:r>
              <a:rPr lang="en-US" sz="1275">
                <a:solidFill>
                  <a:srgbClr val="DCE7F7"/>
                </a:solidFill>
                <a:latin typeface="Microsoft YaHei"/>
                <a:ea typeface="Microsoft YaHei"/>
              </a:rPr>
              <a:t> / </a:t>
            </a:r>
            <a:r>
              <a:rPr lang="zh-CN" sz="1275">
                <a:solidFill>
                  <a:srgbClr val="DCE7F7"/>
                </a:solidFill>
                <a:latin typeface="Microsoft YaHei"/>
                <a:ea typeface="Microsoft YaHei"/>
              </a:rPr>
              <a:t>英文版</a:t>
            </a:r>
            <a:r>
              <a:rPr lang="en-US" sz="1275">
                <a:solidFill>
                  <a:srgbClr val="DCE7F7"/>
                </a:solidFill>
                <a:latin typeface="Microsoft YaHei"/>
                <a:ea typeface="Microsoft YaHei"/>
              </a:rPr>
              <a:t> 1456 </a:t>
            </a:r>
            <a:r>
              <a:rPr lang="zh-CN" sz="1275">
                <a:solidFill>
                  <a:srgbClr val="DCE7F7"/>
                </a:solidFill>
                <a:latin typeface="Microsoft YaHei"/>
                <a:ea typeface="Microsoft YaHei"/>
              </a:rPr>
              <a:t>页</a:t>
            </a:r>
            <a:r>
              <a:rPr lang="en-US" sz="1275">
                <a:solidFill>
                  <a:srgbClr val="DCE7F7"/>
                </a:solidFill>
                <a:latin typeface="Microsoft YaHei"/>
                <a:ea typeface="Microsoft YaHei"/>
              </a:rPr>
              <a:t> · </a:t>
            </a:r>
            <a:r>
              <a:rPr lang="zh-CN" sz="1275">
                <a:solidFill>
                  <a:srgbClr val="DCE7F7"/>
                </a:solidFill>
                <a:latin typeface="Microsoft YaHei"/>
                <a:ea typeface="Microsoft YaHei"/>
              </a:rPr>
              <a:t>中英双语平行成稿</a:t>
            </a:r>
            <a:endParaRPr/>
          </a:p>
        </p:txBody>
      </p:sp>
      <p:sp>
        <p:nvSpPr>
          <p:cNvPr id="12" name="文本框 11" descr="{&quot;isTemplate&quot;:true,&quot;type&quot;:&quot;text&quot;}"/>
          <p:cNvSpPr txBox="1"/>
          <p:nvPr/>
        </p:nvSpPr>
        <p:spPr>
          <a:xfrm>
            <a:off x="7391400" y="6048375"/>
            <a:ext cx="4267200" cy="276225"/>
          </a:xfrm>
          <a:prstGeom prst="rect">
            <a:avLst/>
          </a:prstGeom>
        </p:spPr>
        <p:txBody>
          <a:bodyPr wrap="none" lIns="0" tIns="0" rIns="0" bIns="0"/>
          <a:lstStyle/>
          <a:p>
            <a:pPr>
              <a:lnSpc>
                <a:spcPct val="160000"/>
              </a:lnSpc>
            </a:pPr>
            <a:r>
              <a:rPr lang="zh-CN" sz="1125" dirty="0">
                <a:solidFill>
                  <a:srgbClr val="8FB4E8"/>
                </a:solidFill>
                <a:latin typeface="Microsoft YaHei"/>
                <a:ea typeface="Microsoft YaHei"/>
              </a:rPr>
              <a:t>著者</a:t>
            </a:r>
            <a:r>
              <a:rPr lang="en-US" sz="1125" dirty="0">
                <a:solidFill>
                  <a:srgbClr val="8FB4E8"/>
                </a:solidFill>
                <a:latin typeface="Microsoft YaHei"/>
                <a:ea typeface="Microsoft YaHei"/>
              </a:rPr>
              <a:t> · Eloy Kim</a:t>
            </a:r>
            <a:r>
              <a:rPr lang="zh-CN" sz="1125" dirty="0">
                <a:solidFill>
                  <a:srgbClr val="8FB4E8"/>
                </a:solidFill>
                <a:latin typeface="Microsoft YaHei"/>
                <a:ea typeface="Microsoft YaHei"/>
              </a:rPr>
              <a:t>　</a:t>
            </a:r>
            <a:r>
              <a:rPr lang="en-US" sz="1125" dirty="0">
                <a:solidFill>
                  <a:srgbClr val="8FB4E8"/>
                </a:solidFill>
                <a:latin typeface="Microsoft YaHei"/>
                <a:ea typeface="Microsoft YaHei"/>
              </a:rPr>
              <a:t>|</a:t>
            </a:r>
            <a:r>
              <a:rPr lang="zh-CN" sz="1125" dirty="0">
                <a:solidFill>
                  <a:srgbClr val="8FB4E8"/>
                </a:solidFill>
                <a:latin typeface="Microsoft YaHei"/>
                <a:ea typeface="Microsoft YaHei"/>
              </a:rPr>
              <a:t>　对外宣讲版</a:t>
            </a:r>
            <a:endParaRPr dirty="0"/>
          </a:p>
        </p:txBody>
      </p:sp>
      <p:pic>
        <p:nvPicPr>
          <p:cNvPr id="13" name="图形 1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8625" y="381000"/>
            <a:ext cx="6096000" cy="6096000"/>
          </a:xfrm>
          <a:prstGeom prst="rect">
            <a:avLst/>
          </a:prstGeom>
          <a:ln/>
        </p:spPr>
      </p:pic>
      <p:sp>
        <p:nvSpPr>
          <p:cNvPr id="14" name="文本框 13" descr="{&quot;isTemplate&quot;:true,&quot;type&quot;:&quot;text&quot;}"/>
          <p:cNvSpPr txBox="1"/>
          <p:nvPr/>
        </p:nvSpPr>
        <p:spPr>
          <a:xfrm>
            <a:off x="2266950" y="6362700"/>
            <a:ext cx="2428875" cy="171450"/>
          </a:xfrm>
          <a:prstGeom prst="rect">
            <a:avLst/>
          </a:prstGeom>
        </p:spPr>
        <p:txBody>
          <a:bodyPr wrap="none" lIns="0" tIns="0" rIns="0" bIns="0"/>
          <a:lstStyle/>
          <a:p>
            <a:pPr>
              <a:lnSpc>
                <a:spcPct val="100000"/>
              </a:lnSpc>
            </a:pPr>
            <a:r>
              <a:rPr lang="zh-CN" sz="1125" spc="150">
                <a:solidFill>
                  <a:srgbClr val="8FB4E8"/>
                </a:solidFill>
                <a:latin typeface="Microsoft YaHei"/>
                <a:ea typeface="Microsoft YaHei"/>
              </a:rPr>
              <a:t>外圈每前进一步　内圈旋转一整圈</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目录&lt;/Text&gt;&#10;    &lt;/Box&gt;&#10;&#10;    &lt;Box style={{ width: '100%', height: 78, paddingLeft: 40, paddingRight: 40, justifyContent: 'center' }}&gt;&#10;        &lt;Text style={{ fontSize: 34, fontWeight: 'bold', color: '#0E3F8C' }}&gt;今天讲四件事&lt;/Text&gt;&#10;    &lt;/Box&gt;&#10;&#10;    &lt;Box style={{ width: '100%', flex: 1, flexDirection: 'row', gap: 24, paddingLeft: 40, paddingRight: 40, paddingBottom: 14 }}&gt;&#10;&#10;        &lt;Box style={{ width: 368, borderRadius: 6, background: '#0E3F8C', padding: 28, flexDirection: 'column' }}&gt;&#10;            &lt;Text style={{ fontSize: 12, color: '#8FB4E8', letterSpacing: 3 }}&gt;CONTENTS&lt;/Text&gt;&#10;            &lt;Box style={{ width: 46, height: 4, background: '#FFC107', marginTop: 14, marginBottom: 20 }} /&gt;&#10;            &lt;Text style={{ fontSize: 19, fontWeight: 'bold', color: '#FFFFFF', lineHeight: 1.5 }}&gt;{`四章递进：\n问题 → 框架 → 工具 → 去向`}&lt;/Text&gt;&#10;            &lt;Text style={{ fontSize: 15, color: '#B8CEEC', lineHeight: 1.85, marginTop: 18 }}&gt;&#10;                {`先说明缺口为何存在，再给出纲领的组织方式，然后交出已经成形的工具与落地判据，最后逐条划清&quot;已证&quot;与&quot;待研究&quot;的界线——并说明它需要什么样的合作。`}&#10;            &lt;/Text&gt;&#10;            &lt;Box style={{ flex: 1 }} /&gt;&#10;            &lt;Box style={{ width: '100%', height: 1, background: 'rgba(184,206,236,0.3)', marginBottom: 14 }} /&gt;&#10;            &lt;Text style={{ fontSize: 13, color: '#8FB4E8', lineHeight: 1.7 }}&gt;&#10;                {`全书 41 章 · 21 个应用领域\n252 条定理 · 754 条定义`}&#10;            &lt;/Text&gt;&#10;        &lt;/Box&gt;&#10;&#10;        &lt;Box style={{ flex: 1, flexDirection: 'column', gap: 12 }}&gt;&#10;            {[&#10;                { n: '01', t: '缘起与问题', p: '03–05', d: '周期现象被研究了数千年，却始终没有一套跨学科通用的描述语言' },&#10;                { n: '02', t: '核心理念与框架', p: '06–10', d: '三个对称中心、三种生成变换、一份自我限定的工作定义' },&#10;                { n: '03', t: '方法工具与价值', p: '11–17', d: '四大支柱、周期卷积、置闰方法，以及 21 个应用领域的诊断版图' },&#10;                { n: '04', t: '边界、路线与展望', p: '18–22', d: '逐条标注定理与纲领的界线，以及从手稿到影响的三步路线' },&#10;            ].map((it) =&gt; (&#10;                &lt;Box key={it.n} style={{ flex: 1, flexDirection: 'row', alignItems: 'center', gap: 20, paddingLeft: 22, paddingRight: 22, background: '#F7F9FC', borderRadius: 6, border: '1px solid #E5E7EB' }}&gt;&#10;                    &lt;Text style={{ fontSize: 30, fontWeight: 'bold', color: '#3D7BD9', width: 56 }}&gt;{it.n}&lt;/Text&gt;&#10;                    &lt;Box style={{ width: 1, height: 46, background: '#D6DCE5' }} /&gt;&#10;                    &lt;Box style={{ flex: 1, flexDirection: 'column' }}&gt;&#10;                        &lt;Text style={{ fontSize: 21, fontWeight: 'bold', color: '#1A2230' }}&gt;{it.t}&lt;/Text&gt;&#10;                        &lt;Text style={{ fontSize: 14, color: '#4A5568', lineHeight: 1.5, marginTop: 5 }}&gt;{it.d}&lt;/Text&gt;&#10;                    &lt;/Box&gt;&#10;                    &lt;Text style={{ fontSize: 15, color: '#8B97A8' }}&gt;{`P${it.p}`}&lt;/Text&gt;&#10;                &lt;/Box&gt;&#10;            ))}&#10;        &lt;/Box&gt;&#10;    &lt;/Box&gt;&#10;&#10;    &lt;Box style={{ width: '100%', height: 34, paddingLeft: 40, paddingRight: 40, flexDirection: 'row', alignItems: 'center', justifyContent: 'space-between' }}&gt;&#10;        &lt;Text style={{ fontSize: 12, color: '#8B97A8' }}&gt;Periodicity Mathematics&lt;/Text&gt;&#10;        &lt;Text style={{ fontSize: 14, color: '#0E3F8C' }}&gt;02 / 22&lt;/Text&gt;&#10;    &lt;/Box&gt;&#10;&lt;/Slide&gt;&#10;"/>
        <p:cNvGrpSpPr/>
        <p:nvPr/>
      </p:nvGrpSpPr>
      <p:grpSpPr>
        <a:xfrm>
          <a:off x="0" y="0"/>
          <a:ext cx="0" cy="0"/>
          <a:chOff x="0" y="0"/>
          <a:chExt cx="0" cy="0"/>
        </a:xfrm>
      </p:grpSpPr>
      <p:sp>
        <p:nvSpPr>
          <p:cNvPr id="303" name="矩形 302"/>
          <p:cNvSpPr/>
          <p:nvPr/>
        </p:nvSpPr>
        <p:spPr>
          <a:xfrm>
            <a:off x="0" y="0"/>
            <a:ext cx="12192000" cy="6858000"/>
          </a:xfrm>
          <a:prstGeom prst="rect">
            <a:avLst/>
          </a:prstGeom>
          <a:solidFill>
            <a:srgbClr val="FFFFFF"/>
          </a:solidFill>
          <a:ln/>
        </p:spPr>
        <p:txBody>
          <a:bodyPr/>
          <a:lstStyle/>
          <a:p>
            <a:endParaRPr/>
          </a:p>
        </p:txBody>
      </p:sp>
      <p:sp>
        <p:nvSpPr>
          <p:cNvPr id="304" name="矩形 303"/>
          <p:cNvSpPr/>
          <p:nvPr/>
        </p:nvSpPr>
        <p:spPr>
          <a:xfrm>
            <a:off x="0" y="0"/>
            <a:ext cx="12192000" cy="76200"/>
          </a:xfrm>
          <a:prstGeom prst="rect">
            <a:avLst/>
          </a:prstGeom>
          <a:solidFill>
            <a:srgbClr val="1E4FA8"/>
          </a:solidFill>
          <a:ln/>
        </p:spPr>
        <p:txBody>
          <a:bodyPr/>
          <a:lstStyle/>
          <a:p>
            <a:endParaRPr/>
          </a:p>
        </p:txBody>
      </p:sp>
      <p:sp>
        <p:nvSpPr>
          <p:cNvPr id="305" name="任意多边形: 形状 304"/>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306" name="文本框 305"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307" name="文本框 306" descr="{&quot;isTemplate&quot;:true,&quot;type&quot;:&quot;text&quot;}"/>
          <p:cNvSpPr txBox="1"/>
          <p:nvPr/>
        </p:nvSpPr>
        <p:spPr>
          <a:xfrm>
            <a:off x="11525250" y="257175"/>
            <a:ext cx="285750" cy="161925"/>
          </a:xfrm>
          <a:prstGeom prst="rect">
            <a:avLst/>
          </a:prstGeom>
        </p:spPr>
        <p:txBody>
          <a:bodyPr wrap="none" lIns="0" tIns="0" rIns="0" bIns="0"/>
          <a:lstStyle/>
          <a:p>
            <a:pPr>
              <a:lnSpc>
                <a:spcPct val="100000"/>
              </a:lnSpc>
            </a:pPr>
            <a:r>
              <a:rPr lang="zh-CN" sz="1050" spc="75">
                <a:solidFill>
                  <a:srgbClr val="1E4FA8"/>
                </a:solidFill>
                <a:latin typeface="Microsoft YaHei"/>
                <a:ea typeface="Microsoft YaHei"/>
              </a:rPr>
              <a:t>目录</a:t>
            </a:r>
            <a:endParaRPr/>
          </a:p>
        </p:txBody>
      </p:sp>
      <p:sp>
        <p:nvSpPr>
          <p:cNvPr id="308" name="文本框 307" descr="{&quot;isTemplate&quot;:true,&quot;type&quot;:&quot;text&quot;}"/>
          <p:cNvSpPr txBox="1"/>
          <p:nvPr/>
        </p:nvSpPr>
        <p:spPr>
          <a:xfrm>
            <a:off x="381000" y="790575"/>
            <a:ext cx="11430000" cy="390525"/>
          </a:xfrm>
          <a:prstGeom prst="rect">
            <a:avLst/>
          </a:prstGeom>
        </p:spPr>
        <p:txBody>
          <a:bodyPr wrap="none" lIns="0" tIns="0" rIns="0" bIns="0"/>
          <a:lstStyle/>
          <a:p>
            <a:pPr>
              <a:lnSpc>
                <a:spcPct val="100000"/>
              </a:lnSpc>
            </a:pPr>
            <a:r>
              <a:rPr lang="zh-CN" sz="2550" b="1">
                <a:solidFill>
                  <a:srgbClr val="0E3F8C"/>
                </a:solidFill>
                <a:latin typeface="Microsoft YaHei"/>
                <a:ea typeface="Microsoft YaHei"/>
              </a:rPr>
              <a:t>今天讲四件事</a:t>
            </a:r>
            <a:endParaRPr/>
          </a:p>
        </p:txBody>
      </p:sp>
      <p:sp>
        <p:nvSpPr>
          <p:cNvPr id="309" name="矩形: 圆角 308"/>
          <p:cNvSpPr/>
          <p:nvPr/>
        </p:nvSpPr>
        <p:spPr>
          <a:xfrm>
            <a:off x="381000" y="1352550"/>
            <a:ext cx="3505200" cy="5048250"/>
          </a:xfrm>
          <a:prstGeom prst="roundRect">
            <a:avLst>
              <a:gd name="adj" fmla="val 1630"/>
            </a:avLst>
          </a:prstGeom>
          <a:solidFill>
            <a:srgbClr val="0E3F8C"/>
          </a:solidFill>
          <a:ln/>
        </p:spPr>
        <p:txBody>
          <a:bodyPr/>
          <a:lstStyle/>
          <a:p>
            <a:endParaRPr/>
          </a:p>
        </p:txBody>
      </p:sp>
      <p:sp>
        <p:nvSpPr>
          <p:cNvPr id="310" name="文本框 309" descr="{&quot;isTemplate&quot;:true,&quot;type&quot;:&quot;text&quot;}"/>
          <p:cNvSpPr txBox="1"/>
          <p:nvPr/>
        </p:nvSpPr>
        <p:spPr>
          <a:xfrm>
            <a:off x="647700" y="1619250"/>
            <a:ext cx="2971800" cy="142875"/>
          </a:xfrm>
          <a:prstGeom prst="rect">
            <a:avLst/>
          </a:prstGeom>
        </p:spPr>
        <p:txBody>
          <a:bodyPr wrap="none" lIns="0" tIns="0" rIns="0" bIns="0"/>
          <a:lstStyle/>
          <a:p>
            <a:pPr>
              <a:lnSpc>
                <a:spcPct val="100000"/>
              </a:lnSpc>
            </a:pPr>
            <a:r>
              <a:rPr lang="en-US" sz="900" spc="225">
                <a:solidFill>
                  <a:srgbClr val="8FB4E8"/>
                </a:solidFill>
                <a:latin typeface="Microsoft YaHei"/>
                <a:ea typeface="Microsoft YaHei"/>
              </a:rPr>
              <a:t>CONTENTS</a:t>
            </a:r>
            <a:endParaRPr/>
          </a:p>
        </p:txBody>
      </p:sp>
      <p:sp>
        <p:nvSpPr>
          <p:cNvPr id="311" name="矩形 310"/>
          <p:cNvSpPr/>
          <p:nvPr/>
        </p:nvSpPr>
        <p:spPr>
          <a:xfrm>
            <a:off x="647700" y="1895475"/>
            <a:ext cx="438150" cy="38100"/>
          </a:xfrm>
          <a:prstGeom prst="rect">
            <a:avLst/>
          </a:prstGeom>
          <a:solidFill>
            <a:srgbClr val="FFC107"/>
          </a:solidFill>
          <a:ln/>
        </p:spPr>
        <p:txBody>
          <a:bodyPr/>
          <a:lstStyle/>
          <a:p>
            <a:endParaRPr/>
          </a:p>
        </p:txBody>
      </p:sp>
      <p:sp>
        <p:nvSpPr>
          <p:cNvPr id="312" name="文本框 311" descr="{&quot;isTemplate&quot;:true,&quot;type&quot;:&quot;text&quot;}"/>
          <p:cNvSpPr txBox="1"/>
          <p:nvPr/>
        </p:nvSpPr>
        <p:spPr>
          <a:xfrm>
            <a:off x="647700" y="2124075"/>
            <a:ext cx="2971800" cy="657225"/>
          </a:xfrm>
          <a:prstGeom prst="rect">
            <a:avLst/>
          </a:prstGeom>
        </p:spPr>
        <p:txBody>
          <a:bodyPr wrap="none" lIns="0" tIns="0" rIns="0" bIns="0"/>
          <a:lstStyle/>
          <a:p>
            <a:pPr>
              <a:lnSpc>
                <a:spcPct val="150000"/>
              </a:lnSpc>
            </a:pPr>
            <a:r>
              <a:rPr lang="zh-CN" sz="1425" b="1">
                <a:solidFill>
                  <a:srgbClr val="FFFFFF"/>
                </a:solidFill>
                <a:latin typeface="Microsoft YaHei"/>
                <a:ea typeface="Microsoft YaHei"/>
              </a:rPr>
              <a:t>四章递进：
问题</a:t>
            </a:r>
            <a:r>
              <a:rPr lang="en-US" sz="1425" b="1">
                <a:solidFill>
                  <a:srgbClr val="FFFFFF"/>
                </a:solidFill>
                <a:latin typeface="Microsoft YaHei"/>
                <a:ea typeface="Microsoft YaHei"/>
              </a:rPr>
              <a:t> → </a:t>
            </a:r>
            <a:r>
              <a:rPr lang="zh-CN" sz="1425" b="1">
                <a:solidFill>
                  <a:srgbClr val="FFFFFF"/>
                </a:solidFill>
                <a:latin typeface="Microsoft YaHei"/>
                <a:ea typeface="Microsoft YaHei"/>
              </a:rPr>
              <a:t>框架</a:t>
            </a:r>
            <a:r>
              <a:rPr lang="en-US" sz="1425" b="1">
                <a:solidFill>
                  <a:srgbClr val="FFFFFF"/>
                </a:solidFill>
                <a:latin typeface="Microsoft YaHei"/>
                <a:ea typeface="Microsoft YaHei"/>
              </a:rPr>
              <a:t> → </a:t>
            </a:r>
            <a:r>
              <a:rPr lang="zh-CN" sz="1425" b="1">
                <a:solidFill>
                  <a:srgbClr val="FFFFFF"/>
                </a:solidFill>
                <a:latin typeface="Microsoft YaHei"/>
                <a:ea typeface="Microsoft YaHei"/>
              </a:rPr>
              <a:t>工具</a:t>
            </a:r>
            <a:r>
              <a:rPr lang="en-US" sz="1425" b="1">
                <a:solidFill>
                  <a:srgbClr val="FFFFFF"/>
                </a:solidFill>
                <a:latin typeface="Microsoft YaHei"/>
                <a:ea typeface="Microsoft YaHei"/>
              </a:rPr>
              <a:t> → </a:t>
            </a:r>
            <a:r>
              <a:rPr lang="zh-CN" sz="1425" b="1">
                <a:solidFill>
                  <a:srgbClr val="FFFFFF"/>
                </a:solidFill>
                <a:latin typeface="Microsoft YaHei"/>
                <a:ea typeface="Microsoft YaHei"/>
              </a:rPr>
              <a:t>去向</a:t>
            </a:r>
            <a:endParaRPr/>
          </a:p>
        </p:txBody>
      </p:sp>
      <p:sp>
        <p:nvSpPr>
          <p:cNvPr id="313" name="文本框 312" descr="{&quot;isTemplate&quot;:true,&quot;type&quot;:&quot;text&quot;}"/>
          <p:cNvSpPr txBox="1"/>
          <p:nvPr/>
        </p:nvSpPr>
        <p:spPr>
          <a:xfrm>
            <a:off x="647700" y="2952750"/>
            <a:ext cx="2971800" cy="1276350"/>
          </a:xfrm>
          <a:prstGeom prst="rect">
            <a:avLst/>
          </a:prstGeom>
        </p:spPr>
        <p:txBody>
          <a:bodyPr wrap="square" lIns="0" tIns="0" rIns="0" bIns="0">
            <a:normAutofit/>
          </a:bodyPr>
          <a:lstStyle/>
          <a:p>
            <a:pPr>
              <a:lnSpc>
                <a:spcPct val="185000"/>
              </a:lnSpc>
            </a:pPr>
            <a:r>
              <a:rPr lang="zh-CN" sz="1125">
                <a:solidFill>
                  <a:srgbClr val="B8CEEC"/>
                </a:solidFill>
                <a:latin typeface="Microsoft YaHei"/>
                <a:ea typeface="Microsoft YaHei"/>
              </a:rPr>
              <a:t>先说明缺口为何存在，再给出纲领的组织方式，然后交出已经成形的工具与落地判据，最后逐条划清</a:t>
            </a:r>
            <a:r>
              <a:rPr lang="en-US" sz="1125">
                <a:solidFill>
                  <a:srgbClr val="B8CEEC"/>
                </a:solidFill>
                <a:latin typeface="Microsoft YaHei"/>
                <a:ea typeface="Microsoft YaHei"/>
              </a:rPr>
              <a:t>"</a:t>
            </a:r>
            <a:r>
              <a:rPr lang="zh-CN" sz="1125">
                <a:solidFill>
                  <a:srgbClr val="B8CEEC"/>
                </a:solidFill>
                <a:latin typeface="Microsoft YaHei"/>
                <a:ea typeface="Microsoft YaHei"/>
              </a:rPr>
              <a:t>已证</a:t>
            </a:r>
            <a:r>
              <a:rPr lang="en-US" sz="1125">
                <a:solidFill>
                  <a:srgbClr val="B8CEEC"/>
                </a:solidFill>
                <a:latin typeface="Microsoft YaHei"/>
                <a:ea typeface="Microsoft YaHei"/>
              </a:rPr>
              <a:t>"</a:t>
            </a:r>
            <a:r>
              <a:rPr lang="zh-CN" sz="1125">
                <a:solidFill>
                  <a:srgbClr val="B8CEEC"/>
                </a:solidFill>
                <a:latin typeface="Microsoft YaHei"/>
                <a:ea typeface="Microsoft YaHei"/>
              </a:rPr>
              <a:t>与</a:t>
            </a:r>
            <a:r>
              <a:rPr lang="en-US" sz="1125">
                <a:solidFill>
                  <a:srgbClr val="B8CEEC"/>
                </a:solidFill>
                <a:latin typeface="Microsoft YaHei"/>
                <a:ea typeface="Microsoft YaHei"/>
              </a:rPr>
              <a:t>"</a:t>
            </a:r>
            <a:r>
              <a:rPr lang="zh-CN" sz="1125">
                <a:solidFill>
                  <a:srgbClr val="B8CEEC"/>
                </a:solidFill>
                <a:latin typeface="Microsoft YaHei"/>
                <a:ea typeface="Microsoft YaHei"/>
              </a:rPr>
              <a:t>待研究</a:t>
            </a:r>
            <a:r>
              <a:rPr lang="en-US" sz="1125">
                <a:solidFill>
                  <a:srgbClr val="B8CEEC"/>
                </a:solidFill>
                <a:latin typeface="Microsoft YaHei"/>
                <a:ea typeface="Microsoft YaHei"/>
              </a:rPr>
              <a:t>"</a:t>
            </a:r>
            <a:r>
              <a:rPr lang="zh-CN" sz="1125">
                <a:solidFill>
                  <a:srgbClr val="B8CEEC"/>
                </a:solidFill>
                <a:latin typeface="Microsoft YaHei"/>
                <a:ea typeface="Microsoft YaHei"/>
              </a:rPr>
              <a:t>的界线——并说明它需要什么样的合作。</a:t>
            </a:r>
            <a:endParaRPr/>
          </a:p>
        </p:txBody>
      </p:sp>
      <p:sp>
        <p:nvSpPr>
          <p:cNvPr id="314" name="矩形 313"/>
          <p:cNvSpPr/>
          <p:nvPr/>
        </p:nvSpPr>
        <p:spPr>
          <a:xfrm>
            <a:off x="647700" y="5476875"/>
            <a:ext cx="2971800" cy="9525"/>
          </a:xfrm>
          <a:prstGeom prst="rect">
            <a:avLst/>
          </a:prstGeom>
          <a:solidFill>
            <a:srgbClr val="B8CEEC">
              <a:alpha val="30000"/>
            </a:srgbClr>
          </a:solidFill>
          <a:ln/>
        </p:spPr>
        <p:txBody>
          <a:bodyPr/>
          <a:lstStyle/>
          <a:p>
            <a:endParaRPr/>
          </a:p>
        </p:txBody>
      </p:sp>
      <p:sp>
        <p:nvSpPr>
          <p:cNvPr id="315" name="文本框 314" descr="{&quot;isTemplate&quot;:true,&quot;type&quot;:&quot;text&quot;}"/>
          <p:cNvSpPr txBox="1"/>
          <p:nvPr/>
        </p:nvSpPr>
        <p:spPr>
          <a:xfrm>
            <a:off x="647700" y="5619750"/>
            <a:ext cx="2971800" cy="514350"/>
          </a:xfrm>
          <a:prstGeom prst="rect">
            <a:avLst/>
          </a:prstGeom>
        </p:spPr>
        <p:txBody>
          <a:bodyPr wrap="none" lIns="0" tIns="0" rIns="0" bIns="0"/>
          <a:lstStyle/>
          <a:p>
            <a:pPr>
              <a:lnSpc>
                <a:spcPct val="170000"/>
              </a:lnSpc>
            </a:pPr>
            <a:r>
              <a:rPr lang="zh-CN" sz="975">
                <a:solidFill>
                  <a:srgbClr val="8FB4E8"/>
                </a:solidFill>
                <a:latin typeface="Microsoft YaHei"/>
                <a:ea typeface="Microsoft YaHei"/>
              </a:rPr>
              <a:t>全书</a:t>
            </a:r>
            <a:r>
              <a:rPr lang="en-US" sz="975">
                <a:solidFill>
                  <a:srgbClr val="8FB4E8"/>
                </a:solidFill>
                <a:latin typeface="Microsoft YaHei"/>
                <a:ea typeface="Microsoft YaHei"/>
              </a:rPr>
              <a:t> 46 </a:t>
            </a:r>
            <a:r>
              <a:rPr lang="zh-CN" sz="975">
                <a:solidFill>
                  <a:srgbClr val="8FB4E8"/>
                </a:solidFill>
                <a:latin typeface="Microsoft YaHei"/>
                <a:ea typeface="Microsoft YaHei"/>
              </a:rPr>
              <a:t>章</a:t>
            </a:r>
            <a:r>
              <a:rPr lang="en-US" sz="975">
                <a:solidFill>
                  <a:srgbClr val="8FB4E8"/>
                </a:solidFill>
                <a:latin typeface="Microsoft YaHei"/>
                <a:ea typeface="Microsoft YaHei"/>
              </a:rPr>
              <a:t> · 21 </a:t>
            </a:r>
            <a:r>
              <a:rPr lang="zh-CN" sz="975">
                <a:solidFill>
                  <a:srgbClr val="8FB4E8"/>
                </a:solidFill>
                <a:latin typeface="Microsoft YaHei"/>
                <a:ea typeface="Microsoft YaHei"/>
              </a:rPr>
              <a:t>个应用领域
</a:t>
            </a:r>
            <a:r>
              <a:rPr lang="en-US" sz="975">
                <a:solidFill>
                  <a:srgbClr val="8FB4E8"/>
                </a:solidFill>
                <a:latin typeface="Microsoft YaHei"/>
                <a:ea typeface="Microsoft YaHei"/>
              </a:rPr>
              <a:t>503 </a:t>
            </a:r>
            <a:r>
              <a:rPr lang="zh-CN" sz="975">
                <a:solidFill>
                  <a:srgbClr val="8FB4E8"/>
                </a:solidFill>
                <a:latin typeface="Microsoft YaHei"/>
                <a:ea typeface="Microsoft YaHei"/>
              </a:rPr>
              <a:t>条定理</a:t>
            </a:r>
            <a:r>
              <a:rPr lang="en-US" sz="975">
                <a:solidFill>
                  <a:srgbClr val="8FB4E8"/>
                </a:solidFill>
                <a:latin typeface="Microsoft YaHei"/>
                <a:ea typeface="Microsoft YaHei"/>
              </a:rPr>
              <a:t> · 1048 </a:t>
            </a:r>
            <a:r>
              <a:rPr lang="zh-CN" sz="975">
                <a:solidFill>
                  <a:srgbClr val="8FB4E8"/>
                </a:solidFill>
                <a:latin typeface="Microsoft YaHei"/>
                <a:ea typeface="Microsoft YaHei"/>
              </a:rPr>
              <a:t>条定义</a:t>
            </a:r>
            <a:endParaRPr/>
          </a:p>
        </p:txBody>
      </p:sp>
      <p:sp>
        <p:nvSpPr>
          <p:cNvPr id="316" name="矩形: 圆角 315"/>
          <p:cNvSpPr/>
          <p:nvPr/>
        </p:nvSpPr>
        <p:spPr>
          <a:xfrm>
            <a:off x="4114800" y="1352550"/>
            <a:ext cx="7696200" cy="1181100"/>
          </a:xfrm>
          <a:prstGeom prst="roundRect">
            <a:avLst>
              <a:gd name="adj" fmla="val 4839"/>
            </a:avLst>
          </a:prstGeom>
          <a:solidFill>
            <a:srgbClr val="F7F9FC"/>
          </a:solidFill>
          <a:ln w="12700">
            <a:solidFill>
              <a:srgbClr val="E5E7EB"/>
            </a:solidFill>
            <a:prstDash val="solid"/>
          </a:ln>
        </p:spPr>
        <p:txBody>
          <a:bodyPr/>
          <a:lstStyle/>
          <a:p>
            <a:endParaRPr/>
          </a:p>
        </p:txBody>
      </p:sp>
      <p:sp>
        <p:nvSpPr>
          <p:cNvPr id="317" name="文本框 316" descr="{&quot;isTemplate&quot;:true,&quot;type&quot;:&quot;text&quot;}"/>
          <p:cNvSpPr txBox="1"/>
          <p:nvPr/>
        </p:nvSpPr>
        <p:spPr>
          <a:xfrm>
            <a:off x="4324350" y="1771650"/>
            <a:ext cx="533400" cy="342900"/>
          </a:xfrm>
          <a:prstGeom prst="rect">
            <a:avLst/>
          </a:prstGeom>
        </p:spPr>
        <p:txBody>
          <a:bodyPr wrap="none" lIns="0" tIns="0" rIns="0" bIns="0"/>
          <a:lstStyle/>
          <a:p>
            <a:pPr>
              <a:lnSpc>
                <a:spcPct val="100000"/>
              </a:lnSpc>
            </a:pPr>
            <a:r>
              <a:rPr lang="en-US" sz="2250" b="1">
                <a:solidFill>
                  <a:srgbClr val="3D7BD9"/>
                </a:solidFill>
                <a:latin typeface="Microsoft YaHei"/>
                <a:ea typeface="Microsoft YaHei"/>
              </a:rPr>
              <a:t>01</a:t>
            </a:r>
            <a:endParaRPr/>
          </a:p>
        </p:txBody>
      </p:sp>
      <p:sp>
        <p:nvSpPr>
          <p:cNvPr id="318" name="矩形 317"/>
          <p:cNvSpPr/>
          <p:nvPr/>
        </p:nvSpPr>
        <p:spPr>
          <a:xfrm>
            <a:off x="5048250" y="1724025"/>
            <a:ext cx="9525" cy="438150"/>
          </a:xfrm>
          <a:prstGeom prst="rect">
            <a:avLst/>
          </a:prstGeom>
          <a:solidFill>
            <a:srgbClr val="D6DCE5"/>
          </a:solidFill>
          <a:ln/>
        </p:spPr>
        <p:txBody>
          <a:bodyPr/>
          <a:lstStyle/>
          <a:p>
            <a:endParaRPr/>
          </a:p>
        </p:txBody>
      </p:sp>
      <p:sp>
        <p:nvSpPr>
          <p:cNvPr id="319" name="文本框 318" descr="{&quot;isTemplate&quot;:true,&quot;type&quot;:&quot;text&quot;}"/>
          <p:cNvSpPr txBox="1"/>
          <p:nvPr/>
        </p:nvSpPr>
        <p:spPr>
          <a:xfrm>
            <a:off x="5248275" y="1676400"/>
            <a:ext cx="5657850" cy="247650"/>
          </a:xfrm>
          <a:prstGeom prst="rect">
            <a:avLst/>
          </a:prstGeom>
        </p:spPr>
        <p:txBody>
          <a:bodyPr wrap="none" lIns="0" tIns="0" rIns="0" bIns="0"/>
          <a:lstStyle/>
          <a:p>
            <a:pPr>
              <a:lnSpc>
                <a:spcPct val="100000"/>
              </a:lnSpc>
            </a:pPr>
            <a:r>
              <a:rPr lang="zh-CN" sz="1575" b="1">
                <a:solidFill>
                  <a:srgbClr val="1A2230"/>
                </a:solidFill>
                <a:latin typeface="Microsoft YaHei"/>
                <a:ea typeface="Microsoft YaHei"/>
              </a:rPr>
              <a:t>缘起与问题</a:t>
            </a:r>
            <a:endParaRPr/>
          </a:p>
        </p:txBody>
      </p:sp>
      <p:sp>
        <p:nvSpPr>
          <p:cNvPr id="320" name="文本框 319" descr="{&quot;isTemplate&quot;:true,&quot;type&quot;:&quot;text&quot;}"/>
          <p:cNvSpPr txBox="1"/>
          <p:nvPr/>
        </p:nvSpPr>
        <p:spPr>
          <a:xfrm>
            <a:off x="5248275" y="1971675"/>
            <a:ext cx="5657850" cy="247650"/>
          </a:xfrm>
          <a:prstGeom prst="rect">
            <a:avLst/>
          </a:prstGeom>
        </p:spPr>
        <p:txBody>
          <a:bodyPr wrap="none" lIns="0" tIns="0" rIns="0" bIns="0"/>
          <a:lstStyle/>
          <a:p>
            <a:pPr>
              <a:lnSpc>
                <a:spcPct val="150000"/>
              </a:lnSpc>
            </a:pPr>
            <a:r>
              <a:rPr lang="zh-CN" sz="1050">
                <a:solidFill>
                  <a:srgbClr val="4A5568"/>
                </a:solidFill>
                <a:latin typeface="Microsoft YaHei"/>
                <a:ea typeface="Microsoft YaHei"/>
              </a:rPr>
              <a:t>周期现象被研究了数千年，却始终没有一套跨学科通用的描述语言</a:t>
            </a:r>
            <a:endParaRPr/>
          </a:p>
        </p:txBody>
      </p:sp>
      <p:sp>
        <p:nvSpPr>
          <p:cNvPr id="321" name="文本框 320" descr="{&quot;isTemplate&quot;:true,&quot;type&quot;:&quot;text&quot;}"/>
          <p:cNvSpPr txBox="1"/>
          <p:nvPr/>
        </p:nvSpPr>
        <p:spPr>
          <a:xfrm>
            <a:off x="11096625" y="1857375"/>
            <a:ext cx="504825"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P03–05</a:t>
            </a:r>
            <a:endParaRPr/>
          </a:p>
        </p:txBody>
      </p:sp>
      <p:sp>
        <p:nvSpPr>
          <p:cNvPr id="322" name="矩形: 圆角 321"/>
          <p:cNvSpPr/>
          <p:nvPr/>
        </p:nvSpPr>
        <p:spPr>
          <a:xfrm>
            <a:off x="4114800" y="2647950"/>
            <a:ext cx="7696200" cy="1171575"/>
          </a:xfrm>
          <a:prstGeom prst="roundRect">
            <a:avLst>
              <a:gd name="adj" fmla="val 4878"/>
            </a:avLst>
          </a:prstGeom>
          <a:solidFill>
            <a:srgbClr val="F7F9FC"/>
          </a:solidFill>
          <a:ln w="12700">
            <a:solidFill>
              <a:srgbClr val="E5E7EB"/>
            </a:solidFill>
            <a:prstDash val="solid"/>
          </a:ln>
        </p:spPr>
        <p:txBody>
          <a:bodyPr/>
          <a:lstStyle/>
          <a:p>
            <a:endParaRPr/>
          </a:p>
        </p:txBody>
      </p:sp>
      <p:sp>
        <p:nvSpPr>
          <p:cNvPr id="323" name="文本框 322" descr="{&quot;isTemplate&quot;:true,&quot;type&quot;:&quot;text&quot;}"/>
          <p:cNvSpPr txBox="1"/>
          <p:nvPr/>
        </p:nvSpPr>
        <p:spPr>
          <a:xfrm>
            <a:off x="4324350" y="3067050"/>
            <a:ext cx="533400" cy="342900"/>
          </a:xfrm>
          <a:prstGeom prst="rect">
            <a:avLst/>
          </a:prstGeom>
        </p:spPr>
        <p:txBody>
          <a:bodyPr wrap="none" lIns="0" tIns="0" rIns="0" bIns="0"/>
          <a:lstStyle/>
          <a:p>
            <a:pPr>
              <a:lnSpc>
                <a:spcPct val="100000"/>
              </a:lnSpc>
            </a:pPr>
            <a:r>
              <a:rPr lang="en-US" sz="2250" b="1">
                <a:solidFill>
                  <a:srgbClr val="3D7BD9"/>
                </a:solidFill>
                <a:latin typeface="Microsoft YaHei"/>
                <a:ea typeface="Microsoft YaHei"/>
              </a:rPr>
              <a:t>02</a:t>
            </a:r>
            <a:endParaRPr/>
          </a:p>
        </p:txBody>
      </p:sp>
      <p:sp>
        <p:nvSpPr>
          <p:cNvPr id="324" name="矩形 323"/>
          <p:cNvSpPr/>
          <p:nvPr/>
        </p:nvSpPr>
        <p:spPr>
          <a:xfrm>
            <a:off x="5048250" y="3019425"/>
            <a:ext cx="9525" cy="438150"/>
          </a:xfrm>
          <a:prstGeom prst="rect">
            <a:avLst/>
          </a:prstGeom>
          <a:solidFill>
            <a:srgbClr val="D6DCE5"/>
          </a:solidFill>
          <a:ln/>
        </p:spPr>
        <p:txBody>
          <a:bodyPr/>
          <a:lstStyle/>
          <a:p>
            <a:endParaRPr/>
          </a:p>
        </p:txBody>
      </p:sp>
      <p:sp>
        <p:nvSpPr>
          <p:cNvPr id="325" name="文本框 324" descr="{&quot;isTemplate&quot;:true,&quot;type&quot;:&quot;text&quot;}"/>
          <p:cNvSpPr txBox="1"/>
          <p:nvPr/>
        </p:nvSpPr>
        <p:spPr>
          <a:xfrm>
            <a:off x="5248275" y="2962275"/>
            <a:ext cx="5657850" cy="247650"/>
          </a:xfrm>
          <a:prstGeom prst="rect">
            <a:avLst/>
          </a:prstGeom>
        </p:spPr>
        <p:txBody>
          <a:bodyPr wrap="none" lIns="0" tIns="0" rIns="0" bIns="0"/>
          <a:lstStyle/>
          <a:p>
            <a:pPr>
              <a:lnSpc>
                <a:spcPct val="100000"/>
              </a:lnSpc>
            </a:pPr>
            <a:r>
              <a:rPr lang="zh-CN" sz="1575" b="1">
                <a:solidFill>
                  <a:srgbClr val="1A2230"/>
                </a:solidFill>
                <a:latin typeface="Microsoft YaHei"/>
                <a:ea typeface="Microsoft YaHei"/>
              </a:rPr>
              <a:t>核心理念与框架</a:t>
            </a:r>
            <a:endParaRPr/>
          </a:p>
        </p:txBody>
      </p:sp>
      <p:sp>
        <p:nvSpPr>
          <p:cNvPr id="326" name="文本框 325" descr="{&quot;isTemplate&quot;:true,&quot;type&quot;:&quot;text&quot;}"/>
          <p:cNvSpPr txBox="1"/>
          <p:nvPr/>
        </p:nvSpPr>
        <p:spPr>
          <a:xfrm>
            <a:off x="5248275" y="3257550"/>
            <a:ext cx="5657850" cy="247650"/>
          </a:xfrm>
          <a:prstGeom prst="rect">
            <a:avLst/>
          </a:prstGeom>
        </p:spPr>
        <p:txBody>
          <a:bodyPr wrap="none" lIns="0" tIns="0" rIns="0" bIns="0"/>
          <a:lstStyle/>
          <a:p>
            <a:pPr>
              <a:lnSpc>
                <a:spcPct val="150000"/>
              </a:lnSpc>
            </a:pPr>
            <a:r>
              <a:rPr lang="zh-CN" sz="1050">
                <a:solidFill>
                  <a:srgbClr val="4A5568"/>
                </a:solidFill>
                <a:latin typeface="Microsoft YaHei"/>
                <a:ea typeface="Microsoft YaHei"/>
              </a:rPr>
              <a:t>三个对称中心、三种生成变换、一份自我限定的工作定义</a:t>
            </a:r>
            <a:endParaRPr/>
          </a:p>
        </p:txBody>
      </p:sp>
      <p:sp>
        <p:nvSpPr>
          <p:cNvPr id="327" name="文本框 326" descr="{&quot;isTemplate&quot;:true,&quot;type&quot;:&quot;text&quot;}"/>
          <p:cNvSpPr txBox="1"/>
          <p:nvPr/>
        </p:nvSpPr>
        <p:spPr>
          <a:xfrm>
            <a:off x="11096625" y="3152775"/>
            <a:ext cx="504825"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P06–10</a:t>
            </a:r>
            <a:endParaRPr/>
          </a:p>
        </p:txBody>
      </p:sp>
      <p:sp>
        <p:nvSpPr>
          <p:cNvPr id="328" name="矩形: 圆角 327"/>
          <p:cNvSpPr/>
          <p:nvPr/>
        </p:nvSpPr>
        <p:spPr>
          <a:xfrm>
            <a:off x="4114800" y="3933825"/>
            <a:ext cx="7696200" cy="1181100"/>
          </a:xfrm>
          <a:prstGeom prst="roundRect">
            <a:avLst>
              <a:gd name="adj" fmla="val 4839"/>
            </a:avLst>
          </a:prstGeom>
          <a:solidFill>
            <a:srgbClr val="F7F9FC"/>
          </a:solidFill>
          <a:ln w="12700">
            <a:solidFill>
              <a:srgbClr val="E5E7EB"/>
            </a:solidFill>
            <a:prstDash val="solid"/>
          </a:ln>
        </p:spPr>
        <p:txBody>
          <a:bodyPr/>
          <a:lstStyle/>
          <a:p>
            <a:endParaRPr/>
          </a:p>
        </p:txBody>
      </p:sp>
      <p:sp>
        <p:nvSpPr>
          <p:cNvPr id="329" name="文本框 328" descr="{&quot;isTemplate&quot;:true,&quot;type&quot;:&quot;text&quot;}"/>
          <p:cNvSpPr txBox="1"/>
          <p:nvPr/>
        </p:nvSpPr>
        <p:spPr>
          <a:xfrm>
            <a:off x="4324350" y="4352925"/>
            <a:ext cx="533400" cy="342900"/>
          </a:xfrm>
          <a:prstGeom prst="rect">
            <a:avLst/>
          </a:prstGeom>
        </p:spPr>
        <p:txBody>
          <a:bodyPr wrap="none" lIns="0" tIns="0" rIns="0" bIns="0"/>
          <a:lstStyle/>
          <a:p>
            <a:pPr>
              <a:lnSpc>
                <a:spcPct val="100000"/>
              </a:lnSpc>
            </a:pPr>
            <a:r>
              <a:rPr lang="en-US" sz="2250" b="1">
                <a:solidFill>
                  <a:srgbClr val="3D7BD9"/>
                </a:solidFill>
                <a:latin typeface="Microsoft YaHei"/>
                <a:ea typeface="Microsoft YaHei"/>
              </a:rPr>
              <a:t>03</a:t>
            </a:r>
            <a:endParaRPr/>
          </a:p>
        </p:txBody>
      </p:sp>
      <p:sp>
        <p:nvSpPr>
          <p:cNvPr id="330" name="矩形 329"/>
          <p:cNvSpPr/>
          <p:nvPr/>
        </p:nvSpPr>
        <p:spPr>
          <a:xfrm>
            <a:off x="5048250" y="4305300"/>
            <a:ext cx="9525" cy="438150"/>
          </a:xfrm>
          <a:prstGeom prst="rect">
            <a:avLst/>
          </a:prstGeom>
          <a:solidFill>
            <a:srgbClr val="D6DCE5"/>
          </a:solidFill>
          <a:ln/>
        </p:spPr>
        <p:txBody>
          <a:bodyPr/>
          <a:lstStyle/>
          <a:p>
            <a:endParaRPr/>
          </a:p>
        </p:txBody>
      </p:sp>
      <p:sp>
        <p:nvSpPr>
          <p:cNvPr id="331" name="文本框 330" descr="{&quot;isTemplate&quot;:true,&quot;type&quot;:&quot;text&quot;}"/>
          <p:cNvSpPr txBox="1"/>
          <p:nvPr/>
        </p:nvSpPr>
        <p:spPr>
          <a:xfrm>
            <a:off x="5248275" y="4257675"/>
            <a:ext cx="5657850" cy="247650"/>
          </a:xfrm>
          <a:prstGeom prst="rect">
            <a:avLst/>
          </a:prstGeom>
        </p:spPr>
        <p:txBody>
          <a:bodyPr wrap="none" lIns="0" tIns="0" rIns="0" bIns="0"/>
          <a:lstStyle/>
          <a:p>
            <a:pPr>
              <a:lnSpc>
                <a:spcPct val="100000"/>
              </a:lnSpc>
            </a:pPr>
            <a:r>
              <a:rPr lang="zh-CN" sz="1575" b="1">
                <a:solidFill>
                  <a:srgbClr val="1A2230"/>
                </a:solidFill>
                <a:latin typeface="Microsoft YaHei"/>
                <a:ea typeface="Microsoft YaHei"/>
              </a:rPr>
              <a:t>方法工具与价值</a:t>
            </a:r>
            <a:endParaRPr/>
          </a:p>
        </p:txBody>
      </p:sp>
      <p:sp>
        <p:nvSpPr>
          <p:cNvPr id="332" name="文本框 331" descr="{&quot;isTemplate&quot;:true,&quot;type&quot;:&quot;text&quot;}"/>
          <p:cNvSpPr txBox="1"/>
          <p:nvPr/>
        </p:nvSpPr>
        <p:spPr>
          <a:xfrm>
            <a:off x="5248275" y="4552950"/>
            <a:ext cx="5657850" cy="247650"/>
          </a:xfrm>
          <a:prstGeom prst="rect">
            <a:avLst/>
          </a:prstGeom>
        </p:spPr>
        <p:txBody>
          <a:bodyPr wrap="none" lIns="0" tIns="0" rIns="0" bIns="0"/>
          <a:lstStyle/>
          <a:p>
            <a:pPr>
              <a:lnSpc>
                <a:spcPct val="150000"/>
              </a:lnSpc>
            </a:pPr>
            <a:r>
              <a:rPr lang="zh-CN" sz="1050">
                <a:solidFill>
                  <a:srgbClr val="4A5568"/>
                </a:solidFill>
                <a:latin typeface="Microsoft YaHei"/>
                <a:ea typeface="Microsoft YaHei"/>
              </a:rPr>
              <a:t>四大支柱、周期卷积、置闰方法，以及</a:t>
            </a:r>
            <a:r>
              <a:rPr lang="en-US" sz="1050">
                <a:solidFill>
                  <a:srgbClr val="4A5568"/>
                </a:solidFill>
                <a:latin typeface="Microsoft YaHei"/>
                <a:ea typeface="Microsoft YaHei"/>
              </a:rPr>
              <a:t> 21 </a:t>
            </a:r>
            <a:r>
              <a:rPr lang="zh-CN" sz="1050">
                <a:solidFill>
                  <a:srgbClr val="4A5568"/>
                </a:solidFill>
                <a:latin typeface="Microsoft YaHei"/>
                <a:ea typeface="Microsoft YaHei"/>
              </a:rPr>
              <a:t>个应用领域的诊断版图</a:t>
            </a:r>
            <a:endParaRPr/>
          </a:p>
        </p:txBody>
      </p:sp>
      <p:sp>
        <p:nvSpPr>
          <p:cNvPr id="333" name="文本框 332" descr="{&quot;isTemplate&quot;:true,&quot;type&quot;:&quot;text&quot;}"/>
          <p:cNvSpPr txBox="1"/>
          <p:nvPr/>
        </p:nvSpPr>
        <p:spPr>
          <a:xfrm>
            <a:off x="11096625" y="4438650"/>
            <a:ext cx="504825"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P11–17</a:t>
            </a:r>
            <a:endParaRPr/>
          </a:p>
        </p:txBody>
      </p:sp>
      <p:sp>
        <p:nvSpPr>
          <p:cNvPr id="334" name="矩形: 圆角 333"/>
          <p:cNvSpPr/>
          <p:nvPr/>
        </p:nvSpPr>
        <p:spPr>
          <a:xfrm>
            <a:off x="4114800" y="5229225"/>
            <a:ext cx="7696200" cy="1171575"/>
          </a:xfrm>
          <a:prstGeom prst="roundRect">
            <a:avLst>
              <a:gd name="adj" fmla="val 4878"/>
            </a:avLst>
          </a:prstGeom>
          <a:solidFill>
            <a:srgbClr val="F7F9FC"/>
          </a:solidFill>
          <a:ln w="12700">
            <a:solidFill>
              <a:srgbClr val="E5E7EB"/>
            </a:solidFill>
            <a:prstDash val="solid"/>
          </a:ln>
        </p:spPr>
        <p:txBody>
          <a:bodyPr/>
          <a:lstStyle/>
          <a:p>
            <a:endParaRPr/>
          </a:p>
        </p:txBody>
      </p:sp>
      <p:sp>
        <p:nvSpPr>
          <p:cNvPr id="335" name="文本框 334" descr="{&quot;isTemplate&quot;:true,&quot;type&quot;:&quot;text&quot;}"/>
          <p:cNvSpPr txBox="1"/>
          <p:nvPr/>
        </p:nvSpPr>
        <p:spPr>
          <a:xfrm>
            <a:off x="4324350" y="5648325"/>
            <a:ext cx="533400" cy="342900"/>
          </a:xfrm>
          <a:prstGeom prst="rect">
            <a:avLst/>
          </a:prstGeom>
        </p:spPr>
        <p:txBody>
          <a:bodyPr wrap="none" lIns="0" tIns="0" rIns="0" bIns="0"/>
          <a:lstStyle/>
          <a:p>
            <a:pPr>
              <a:lnSpc>
                <a:spcPct val="100000"/>
              </a:lnSpc>
            </a:pPr>
            <a:r>
              <a:rPr lang="en-US" sz="2250" b="1">
                <a:solidFill>
                  <a:srgbClr val="3D7BD9"/>
                </a:solidFill>
                <a:latin typeface="Microsoft YaHei"/>
                <a:ea typeface="Microsoft YaHei"/>
              </a:rPr>
              <a:t>04</a:t>
            </a:r>
            <a:endParaRPr/>
          </a:p>
        </p:txBody>
      </p:sp>
      <p:sp>
        <p:nvSpPr>
          <p:cNvPr id="336" name="矩形 335"/>
          <p:cNvSpPr/>
          <p:nvPr/>
        </p:nvSpPr>
        <p:spPr>
          <a:xfrm>
            <a:off x="5048250" y="5600700"/>
            <a:ext cx="9525" cy="438150"/>
          </a:xfrm>
          <a:prstGeom prst="rect">
            <a:avLst/>
          </a:prstGeom>
          <a:solidFill>
            <a:srgbClr val="D6DCE5"/>
          </a:solidFill>
          <a:ln/>
        </p:spPr>
        <p:txBody>
          <a:bodyPr/>
          <a:lstStyle/>
          <a:p>
            <a:endParaRPr/>
          </a:p>
        </p:txBody>
      </p:sp>
      <p:sp>
        <p:nvSpPr>
          <p:cNvPr id="337" name="文本框 336" descr="{&quot;isTemplate&quot;:true,&quot;type&quot;:&quot;text&quot;}"/>
          <p:cNvSpPr txBox="1"/>
          <p:nvPr/>
        </p:nvSpPr>
        <p:spPr>
          <a:xfrm>
            <a:off x="5248275" y="5543550"/>
            <a:ext cx="5657850" cy="247650"/>
          </a:xfrm>
          <a:prstGeom prst="rect">
            <a:avLst/>
          </a:prstGeom>
        </p:spPr>
        <p:txBody>
          <a:bodyPr wrap="none" lIns="0" tIns="0" rIns="0" bIns="0"/>
          <a:lstStyle/>
          <a:p>
            <a:pPr>
              <a:lnSpc>
                <a:spcPct val="100000"/>
              </a:lnSpc>
            </a:pPr>
            <a:r>
              <a:rPr lang="zh-CN" sz="1575" b="1">
                <a:solidFill>
                  <a:srgbClr val="1A2230"/>
                </a:solidFill>
                <a:latin typeface="Microsoft YaHei"/>
                <a:ea typeface="Microsoft YaHei"/>
              </a:rPr>
              <a:t>边界、路线与展望</a:t>
            </a:r>
            <a:endParaRPr/>
          </a:p>
        </p:txBody>
      </p:sp>
      <p:sp>
        <p:nvSpPr>
          <p:cNvPr id="338" name="文本框 337" descr="{&quot;isTemplate&quot;:true,&quot;type&quot;:&quot;text&quot;}"/>
          <p:cNvSpPr txBox="1"/>
          <p:nvPr/>
        </p:nvSpPr>
        <p:spPr>
          <a:xfrm>
            <a:off x="5248275" y="5838825"/>
            <a:ext cx="5657850" cy="247650"/>
          </a:xfrm>
          <a:prstGeom prst="rect">
            <a:avLst/>
          </a:prstGeom>
        </p:spPr>
        <p:txBody>
          <a:bodyPr wrap="none" lIns="0" tIns="0" rIns="0" bIns="0"/>
          <a:lstStyle/>
          <a:p>
            <a:pPr>
              <a:lnSpc>
                <a:spcPct val="150000"/>
              </a:lnSpc>
            </a:pPr>
            <a:r>
              <a:rPr lang="zh-CN" sz="1050">
                <a:solidFill>
                  <a:srgbClr val="4A5568"/>
                </a:solidFill>
                <a:latin typeface="Microsoft YaHei"/>
                <a:ea typeface="Microsoft YaHei"/>
              </a:rPr>
              <a:t>逐条标注定理与纲领的界线，以及从手稿到影响的三步路线</a:t>
            </a:r>
            <a:endParaRPr/>
          </a:p>
        </p:txBody>
      </p:sp>
      <p:sp>
        <p:nvSpPr>
          <p:cNvPr id="339" name="文本框 338" descr="{&quot;isTemplate&quot;:true,&quot;type&quot;:&quot;text&quot;}"/>
          <p:cNvSpPr txBox="1"/>
          <p:nvPr/>
        </p:nvSpPr>
        <p:spPr>
          <a:xfrm>
            <a:off x="11096625" y="5734050"/>
            <a:ext cx="504825" cy="171450"/>
          </a:xfrm>
          <a:prstGeom prst="rect">
            <a:avLst/>
          </a:prstGeom>
        </p:spPr>
        <p:txBody>
          <a:bodyPr wrap="none" lIns="0" tIns="0" rIns="0" bIns="0"/>
          <a:lstStyle/>
          <a:p>
            <a:pPr>
              <a:lnSpc>
                <a:spcPct val="100000"/>
              </a:lnSpc>
            </a:pPr>
            <a:r>
              <a:rPr lang="en-US" sz="1125">
                <a:solidFill>
                  <a:srgbClr val="8B97A8"/>
                </a:solidFill>
                <a:latin typeface="Microsoft YaHei"/>
                <a:ea typeface="Microsoft YaHei"/>
              </a:rPr>
              <a:t>P18–22</a:t>
            </a:r>
            <a:endParaRPr/>
          </a:p>
        </p:txBody>
      </p:sp>
      <p:sp>
        <p:nvSpPr>
          <p:cNvPr id="340" name="文本框 339"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341" name="文本框 340"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02 / 22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7F9FC', fontFamily: '&quot;Microsoft YaHei&quot;, &quot;Source Han Sans SC&quot;, sans-serif' }}&gt;&#10;&#10;    &lt;Box style={{ width: '100%', height: 8, background: '#1E4FA8' }} /&gt;&#10;&#10;    &lt;Box style={{ width: '100%', flex: 1, flexDirection: 'row', alignItems: 'center', paddingLeft: 40, paddingRight: 40, gap: 30 }}&gt;&#10;&#10;        &lt;Box style={{ width: 360, height: 480, justifyContent: 'center', alignItems: 'center', borderRadius: 6, background: '#E8EFF8' }}&gt;&#10;            &lt;Text style={{ fontSize: 196, fontWeight: 'bold', color: '#FFFFFF', lineHeight: 1 }}&gt;01&lt;/Text&gt;&#10;        &lt;/Box&gt;&#10;&#10;        &lt;Box style={{ flex: 1, flexDirection: 'column' }}&gt;&#10;            &lt;Text style={{ fontSize: 13, color: '#3D7BD9', letterSpacing: 4 }}&gt;第一章 · 缘起与问题&lt;/Text&gt;&#10;            &lt;Text style={{ fontSize: 50, fontWeight: 'bold', color: '#0E3F8C', marginTop: 16 }}&gt;缘起与问题&lt;/Text&gt;&#10;            &lt;Box style={{ width: 92, height: 5, background: '#1E4FA8', marginTop: 22, marginBottom: 30 }} /&gt;&#10;            {[&#10;                '周期是人类理性刻画时间的早期工具——从圭表测影到开普勒定律，但它从未获得一套跨学科通用的语言',&#10;                '术语与方法在学科之间彼此割裂，代价是重复发现、深层类比被遮蔽、以及面对新系统时缺乏诊断工具',&#10;                '本章只做一件事：把这个缺口摆清楚，并说明为什么&quot;再写一本分科教材&quot;不是答案',&#10;            ].map((t, i) =&gt; (&#10;                &lt;Box key={i} style={{ flexDirection: 'row', alignItems: 'flex-start', gap: 14, marginBottom: 18 }}&gt;&#10;                    &lt;Box style={{ width: 7, height: 7, borderRadius: 4, background: '#3D7BD9', marginTop: 9 }} /&gt;&#10;                    &lt;Text style={{ flex: 1, fontSize: 18, color: '#4A5568', lineHeight: 1.7 }}&gt;{t}&lt;/Text&gt;&#10;                &lt;/Box&gt;&#10;            ))}&#10;        &lt;/Box&gt;&#10;    &lt;/Box&gt;&#10;&#10;    &lt;Box style={{ width: '100%', height: 34, paddingLeft: 40, paddingRight: 40, flexDirection: 'row', alignItems: 'center', justifyContent: 'space-between' }}&gt;&#10;        &lt;Text style={{ fontSize: 12, color: '#8B97A8' }}&gt;Periodicity Mathematics&lt;/Text&gt;&#10;        &lt;Text style={{ fontSize: 14, color: '#0E3F8C' }}&gt;03 / 22&lt;/Text&gt;&#10;    &lt;/Box&gt;&#10;&lt;/Slide&gt;&#10;"/>
        <p:cNvGrpSpPr/>
        <p:nvPr/>
      </p:nvGrpSpPr>
      <p:grpSpPr>
        <a:xfrm>
          <a:off x="0" y="0"/>
          <a:ext cx="0" cy="0"/>
          <a:chOff x="0" y="0"/>
          <a:chExt cx="0" cy="0"/>
        </a:xfrm>
      </p:grpSpPr>
      <p:sp>
        <p:nvSpPr>
          <p:cNvPr id="420" name="矩形 419"/>
          <p:cNvSpPr/>
          <p:nvPr/>
        </p:nvSpPr>
        <p:spPr>
          <a:xfrm>
            <a:off x="0" y="0"/>
            <a:ext cx="12192000" cy="6858000"/>
          </a:xfrm>
          <a:prstGeom prst="rect">
            <a:avLst/>
          </a:prstGeom>
          <a:solidFill>
            <a:srgbClr val="F7F9FC"/>
          </a:solidFill>
          <a:ln/>
        </p:spPr>
        <p:txBody>
          <a:bodyPr/>
          <a:lstStyle/>
          <a:p>
            <a:endParaRPr/>
          </a:p>
        </p:txBody>
      </p:sp>
      <p:sp>
        <p:nvSpPr>
          <p:cNvPr id="421" name="矩形 420"/>
          <p:cNvSpPr/>
          <p:nvPr/>
        </p:nvSpPr>
        <p:spPr>
          <a:xfrm>
            <a:off x="0" y="0"/>
            <a:ext cx="12192000" cy="76200"/>
          </a:xfrm>
          <a:prstGeom prst="rect">
            <a:avLst/>
          </a:prstGeom>
          <a:solidFill>
            <a:srgbClr val="1E4FA8"/>
          </a:solidFill>
          <a:ln/>
        </p:spPr>
        <p:txBody>
          <a:bodyPr/>
          <a:lstStyle/>
          <a:p>
            <a:endParaRPr/>
          </a:p>
        </p:txBody>
      </p:sp>
      <p:sp>
        <p:nvSpPr>
          <p:cNvPr id="422" name="矩形: 圆角 421"/>
          <p:cNvSpPr/>
          <p:nvPr/>
        </p:nvSpPr>
        <p:spPr>
          <a:xfrm>
            <a:off x="381000" y="1019175"/>
            <a:ext cx="3429000" cy="4572000"/>
          </a:xfrm>
          <a:prstGeom prst="roundRect">
            <a:avLst>
              <a:gd name="adj" fmla="val 1667"/>
            </a:avLst>
          </a:prstGeom>
          <a:solidFill>
            <a:srgbClr val="E8EFF8"/>
          </a:solidFill>
          <a:ln/>
        </p:spPr>
        <p:txBody>
          <a:bodyPr/>
          <a:lstStyle/>
          <a:p>
            <a:endParaRPr/>
          </a:p>
        </p:txBody>
      </p:sp>
      <p:sp>
        <p:nvSpPr>
          <p:cNvPr id="423" name="文本框 422" descr="{&quot;isTemplate&quot;:true,&quot;type&quot;:&quot;text&quot;}"/>
          <p:cNvSpPr txBox="1"/>
          <p:nvPr/>
        </p:nvSpPr>
        <p:spPr>
          <a:xfrm>
            <a:off x="942975" y="2181225"/>
            <a:ext cx="2305050" cy="2247900"/>
          </a:xfrm>
          <a:prstGeom prst="rect">
            <a:avLst/>
          </a:prstGeom>
        </p:spPr>
        <p:txBody>
          <a:bodyPr wrap="none" lIns="0" tIns="0" rIns="0" bIns="0"/>
          <a:lstStyle/>
          <a:p>
            <a:pPr>
              <a:lnSpc>
                <a:spcPct val="100000"/>
              </a:lnSpc>
            </a:pPr>
            <a:r>
              <a:rPr lang="en-US" sz="14700" b="1">
                <a:solidFill>
                  <a:srgbClr val="FFFFFF"/>
                </a:solidFill>
                <a:latin typeface="Microsoft YaHei"/>
                <a:ea typeface="Microsoft YaHei"/>
              </a:rPr>
              <a:t>01</a:t>
            </a:r>
            <a:endParaRPr/>
          </a:p>
        </p:txBody>
      </p:sp>
      <p:sp>
        <p:nvSpPr>
          <p:cNvPr id="424" name="文本框 423" descr="{&quot;isTemplate&quot;:true,&quot;type&quot;:&quot;text&quot;}"/>
          <p:cNvSpPr txBox="1"/>
          <p:nvPr/>
        </p:nvSpPr>
        <p:spPr>
          <a:xfrm>
            <a:off x="4095750" y="1457325"/>
            <a:ext cx="7715250" cy="152400"/>
          </a:xfrm>
          <a:prstGeom prst="rect">
            <a:avLst/>
          </a:prstGeom>
        </p:spPr>
        <p:txBody>
          <a:bodyPr wrap="none" lIns="0" tIns="0" rIns="0" bIns="0"/>
          <a:lstStyle/>
          <a:p>
            <a:pPr>
              <a:lnSpc>
                <a:spcPct val="100000"/>
              </a:lnSpc>
            </a:pPr>
            <a:r>
              <a:rPr lang="zh-CN" sz="975" spc="300">
                <a:solidFill>
                  <a:srgbClr val="3D7BD9"/>
                </a:solidFill>
                <a:latin typeface="Microsoft YaHei"/>
                <a:ea typeface="Microsoft YaHei"/>
              </a:rPr>
              <a:t>第一章</a:t>
            </a:r>
            <a:r>
              <a:rPr lang="en-US" sz="975" spc="300">
                <a:solidFill>
                  <a:srgbClr val="3D7BD9"/>
                </a:solidFill>
                <a:latin typeface="Microsoft YaHei"/>
                <a:ea typeface="Microsoft YaHei"/>
              </a:rPr>
              <a:t> · </a:t>
            </a:r>
            <a:r>
              <a:rPr lang="zh-CN" sz="975" spc="300">
                <a:solidFill>
                  <a:srgbClr val="3D7BD9"/>
                </a:solidFill>
                <a:latin typeface="Microsoft YaHei"/>
                <a:ea typeface="Microsoft YaHei"/>
              </a:rPr>
              <a:t>缘起与问题</a:t>
            </a:r>
            <a:endParaRPr/>
          </a:p>
        </p:txBody>
      </p:sp>
      <p:sp>
        <p:nvSpPr>
          <p:cNvPr id="425" name="文本框 424" descr="{&quot;isTemplate&quot;:true,&quot;type&quot;:&quot;text&quot;}"/>
          <p:cNvSpPr txBox="1"/>
          <p:nvPr/>
        </p:nvSpPr>
        <p:spPr>
          <a:xfrm>
            <a:off x="4095750" y="1762125"/>
            <a:ext cx="7715250" cy="571500"/>
          </a:xfrm>
          <a:prstGeom prst="rect">
            <a:avLst/>
          </a:prstGeom>
        </p:spPr>
        <p:txBody>
          <a:bodyPr wrap="none" lIns="0" tIns="0" rIns="0" bIns="0"/>
          <a:lstStyle/>
          <a:p>
            <a:pPr>
              <a:lnSpc>
                <a:spcPct val="100000"/>
              </a:lnSpc>
            </a:pPr>
            <a:r>
              <a:rPr lang="zh-CN" sz="3750" b="1">
                <a:solidFill>
                  <a:srgbClr val="0E3F8C"/>
                </a:solidFill>
                <a:latin typeface="Microsoft YaHei"/>
                <a:ea typeface="Microsoft YaHei"/>
              </a:rPr>
              <a:t>缘起与问题</a:t>
            </a:r>
            <a:endParaRPr/>
          </a:p>
        </p:txBody>
      </p:sp>
      <p:sp>
        <p:nvSpPr>
          <p:cNvPr id="426" name="矩形 425"/>
          <p:cNvSpPr/>
          <p:nvPr/>
        </p:nvSpPr>
        <p:spPr>
          <a:xfrm>
            <a:off x="4095750" y="2543175"/>
            <a:ext cx="876300" cy="47625"/>
          </a:xfrm>
          <a:prstGeom prst="rect">
            <a:avLst/>
          </a:prstGeom>
          <a:solidFill>
            <a:srgbClr val="1E4FA8"/>
          </a:solidFill>
          <a:ln/>
        </p:spPr>
        <p:txBody>
          <a:bodyPr/>
          <a:lstStyle/>
          <a:p>
            <a:endParaRPr/>
          </a:p>
        </p:txBody>
      </p:sp>
      <p:sp>
        <p:nvSpPr>
          <p:cNvPr id="427" name="矩形: 圆角 426"/>
          <p:cNvSpPr/>
          <p:nvPr/>
        </p:nvSpPr>
        <p:spPr>
          <a:xfrm>
            <a:off x="4095750" y="2962275"/>
            <a:ext cx="66675" cy="66675"/>
          </a:xfrm>
          <a:prstGeom prst="roundRect">
            <a:avLst>
              <a:gd name="adj" fmla="val 57143"/>
            </a:avLst>
          </a:prstGeom>
          <a:solidFill>
            <a:srgbClr val="3D7BD9"/>
          </a:solidFill>
          <a:ln/>
        </p:spPr>
        <p:txBody>
          <a:bodyPr/>
          <a:lstStyle/>
          <a:p>
            <a:endParaRPr/>
          </a:p>
        </p:txBody>
      </p:sp>
      <p:sp>
        <p:nvSpPr>
          <p:cNvPr id="428" name="文本框 427" descr="{&quot;isTemplate&quot;:true,&quot;type&quot;:&quot;text&quot;}"/>
          <p:cNvSpPr txBox="1"/>
          <p:nvPr/>
        </p:nvSpPr>
        <p:spPr>
          <a:xfrm>
            <a:off x="4295775" y="2876550"/>
            <a:ext cx="7515225" cy="704850"/>
          </a:xfrm>
          <a:prstGeom prst="rect">
            <a:avLst/>
          </a:prstGeom>
        </p:spPr>
        <p:txBody>
          <a:bodyPr wrap="square" lIns="0" tIns="0" rIns="0" bIns="0">
            <a:normAutofit/>
          </a:bodyPr>
          <a:lstStyle/>
          <a:p>
            <a:pPr>
              <a:lnSpc>
                <a:spcPct val="170000"/>
              </a:lnSpc>
            </a:pPr>
            <a:r>
              <a:rPr lang="zh-CN" sz="1350">
                <a:solidFill>
                  <a:srgbClr val="4A5568"/>
                </a:solidFill>
                <a:latin typeface="Microsoft YaHei"/>
                <a:ea typeface="Microsoft YaHei"/>
              </a:rPr>
              <a:t>周期是人类理性刻画时间的早期工具——从圭表测影到开普勒定律，但它从未获得一套跨学科通用的语言</a:t>
            </a:r>
            <a:endParaRPr/>
          </a:p>
        </p:txBody>
      </p:sp>
      <p:sp>
        <p:nvSpPr>
          <p:cNvPr id="429" name="矩形: 圆角 428"/>
          <p:cNvSpPr/>
          <p:nvPr/>
        </p:nvSpPr>
        <p:spPr>
          <a:xfrm>
            <a:off x="4095750" y="3838575"/>
            <a:ext cx="66675" cy="66675"/>
          </a:xfrm>
          <a:prstGeom prst="roundRect">
            <a:avLst>
              <a:gd name="adj" fmla="val 57143"/>
            </a:avLst>
          </a:prstGeom>
          <a:solidFill>
            <a:srgbClr val="3D7BD9"/>
          </a:solidFill>
          <a:ln/>
        </p:spPr>
        <p:txBody>
          <a:bodyPr/>
          <a:lstStyle/>
          <a:p>
            <a:endParaRPr/>
          </a:p>
        </p:txBody>
      </p:sp>
      <p:sp>
        <p:nvSpPr>
          <p:cNvPr id="430" name="文本框 429" descr="{&quot;isTemplate&quot;:true,&quot;type&quot;:&quot;text&quot;}"/>
          <p:cNvSpPr txBox="1"/>
          <p:nvPr/>
        </p:nvSpPr>
        <p:spPr>
          <a:xfrm>
            <a:off x="4295775" y="3752850"/>
            <a:ext cx="7515225" cy="704850"/>
          </a:xfrm>
          <a:prstGeom prst="rect">
            <a:avLst/>
          </a:prstGeom>
        </p:spPr>
        <p:txBody>
          <a:bodyPr wrap="square" lIns="0" tIns="0" rIns="0" bIns="0">
            <a:normAutofit/>
          </a:bodyPr>
          <a:lstStyle/>
          <a:p>
            <a:pPr>
              <a:lnSpc>
                <a:spcPct val="170000"/>
              </a:lnSpc>
            </a:pPr>
            <a:r>
              <a:rPr lang="zh-CN" sz="1350">
                <a:solidFill>
                  <a:srgbClr val="4A5568"/>
                </a:solidFill>
                <a:latin typeface="Microsoft YaHei"/>
                <a:ea typeface="Microsoft YaHei"/>
              </a:rPr>
              <a:t>术语与方法在学科之间彼此割裂，代价是重复发现、深层类比被遮蔽、以及面对新系统时缺乏诊断工具</a:t>
            </a:r>
            <a:endParaRPr/>
          </a:p>
        </p:txBody>
      </p:sp>
      <p:sp>
        <p:nvSpPr>
          <p:cNvPr id="431" name="矩形: 圆角 430"/>
          <p:cNvSpPr/>
          <p:nvPr/>
        </p:nvSpPr>
        <p:spPr>
          <a:xfrm>
            <a:off x="4095750" y="4714875"/>
            <a:ext cx="66675" cy="66675"/>
          </a:xfrm>
          <a:prstGeom prst="roundRect">
            <a:avLst>
              <a:gd name="adj" fmla="val 57143"/>
            </a:avLst>
          </a:prstGeom>
          <a:solidFill>
            <a:srgbClr val="3D7BD9"/>
          </a:solidFill>
          <a:ln/>
        </p:spPr>
        <p:txBody>
          <a:bodyPr/>
          <a:lstStyle/>
          <a:p>
            <a:endParaRPr/>
          </a:p>
        </p:txBody>
      </p:sp>
      <p:sp>
        <p:nvSpPr>
          <p:cNvPr id="432" name="文本框 431" descr="{&quot;isTemplate&quot;:true,&quot;type&quot;:&quot;text&quot;}"/>
          <p:cNvSpPr txBox="1"/>
          <p:nvPr/>
        </p:nvSpPr>
        <p:spPr>
          <a:xfrm>
            <a:off x="4295775" y="4629150"/>
            <a:ext cx="7515225" cy="352425"/>
          </a:xfrm>
          <a:prstGeom prst="rect">
            <a:avLst/>
          </a:prstGeom>
        </p:spPr>
        <p:txBody>
          <a:bodyPr wrap="none" lIns="0" tIns="0" rIns="0" bIns="0"/>
          <a:lstStyle/>
          <a:p>
            <a:pPr>
              <a:lnSpc>
                <a:spcPct val="170000"/>
              </a:lnSpc>
            </a:pPr>
            <a:r>
              <a:rPr lang="zh-CN" sz="1350">
                <a:solidFill>
                  <a:srgbClr val="4A5568"/>
                </a:solidFill>
                <a:latin typeface="Microsoft YaHei"/>
                <a:ea typeface="Microsoft YaHei"/>
              </a:rPr>
              <a:t>本章只做一件事：把这个缺口摆清楚，并说明为什么</a:t>
            </a:r>
            <a:r>
              <a:rPr lang="en-US" sz="1350">
                <a:solidFill>
                  <a:srgbClr val="4A5568"/>
                </a:solidFill>
                <a:latin typeface="Microsoft YaHei"/>
                <a:ea typeface="Microsoft YaHei"/>
              </a:rPr>
              <a:t>"</a:t>
            </a:r>
            <a:r>
              <a:rPr lang="zh-CN" sz="1350">
                <a:solidFill>
                  <a:srgbClr val="4A5568"/>
                </a:solidFill>
                <a:latin typeface="Microsoft YaHei"/>
                <a:ea typeface="Microsoft YaHei"/>
              </a:rPr>
              <a:t>再写一本分科教材</a:t>
            </a:r>
            <a:r>
              <a:rPr lang="en-US" sz="1350">
                <a:solidFill>
                  <a:srgbClr val="4A5568"/>
                </a:solidFill>
                <a:latin typeface="Microsoft YaHei"/>
                <a:ea typeface="Microsoft YaHei"/>
              </a:rPr>
              <a:t>"</a:t>
            </a:r>
            <a:r>
              <a:rPr lang="zh-CN" sz="1350">
                <a:solidFill>
                  <a:srgbClr val="4A5568"/>
                </a:solidFill>
                <a:latin typeface="Microsoft YaHei"/>
                <a:ea typeface="Microsoft YaHei"/>
              </a:rPr>
              <a:t>不是答案</a:t>
            </a:r>
            <a:endParaRPr/>
          </a:p>
        </p:txBody>
      </p:sp>
      <p:sp>
        <p:nvSpPr>
          <p:cNvPr id="433" name="文本框 432"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434" name="文本框 433"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03 / 22</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1 缘起与问题&lt;/Text&gt;&#10;    &lt;/Box&gt;&#10;&#10;    &lt;Box style={{ width: '100%', height: 78, paddingLeft: 40, paddingRight: 40, justifyContent: 'center' }}&gt;&#10;        &lt;Text style={{ fontSize: 32, fontWeight: 'bold', color: '#0E3F8C' }}&gt;同一个数学结构，被几套彼此不通的语言切割&lt;/Text&gt;&#10;    &lt;/Box&gt;&#10;&#10;    &lt;Box style={{ width: '100%', flex: 1, flexDirection: 'row', gap: 26, paddingLeft: 40, paddingRight: 40, paddingBottom: 16 }}&gt;&#10;&#10;        &lt;Box style={{ width: 660, borderRadius: 6, background: '#F7F9FC', border: '1px solid #E5E7EB', justifyContent: 'center', alignItems: 'center' }}&gt;&#10;            &lt;svg width={628} height={386} viewBox='0 0 700 430'&gt;&#10;                &lt;rect x='14' y='12' width='210' height='70' rx='6' fill='#FFFFFF' stroke='#D6DCE5' /&gt;&#10;                &lt;text x='119' y='44' textAnchor='middle' fontSize='17' fontWeight='bold' fill='#1A2230'&gt;倒格矢&lt;/text&gt;&#10;                &lt;text x='119' y='66' textAnchor='middle' fontSize='12' fill='#8B97A8'&gt;凝聚态物理&lt;/text&gt;&#10;&#10;                &lt;rect x='245' y='12' width='210' height='70' rx='6' fill='#FFFFFF' stroke='#D6DCE5' /&gt;&#10;                &lt;text x='350' y='44' textAnchor='middle' fontSize='17' fontWeight='bold' fill='#1A2230'&gt;奈奎斯特频率&lt;/text&gt;&#10;                &lt;text x='350' y='66' textAnchor='middle' fontSize='12' fill='#8B97A8'&gt;信号处理&lt;/text&gt;&#10;&#10;                &lt;rect x='476' y='12' width='210' height='70' rx='6' fill='#FFFFFF' stroke='#D6DCE5' /&gt;&#10;                &lt;text x='581' y='44' textAnchor='middle' fontSize='17' fontWeight='bold' fill='#1A2230'&gt;庞特里亚金对偶&lt;/text&gt;&#10;                &lt;text x='581' y='66' textAnchor='middle' fontSize='12' fill='#8B97A8'&gt;调和分析&lt;/text&gt;&#10;&#10;                &lt;line x1='119' y1='82' x2='119' y2='120' stroke='#3D7BD9' strokeWidth='2' /&gt;&#10;                &lt;line x1='350' y1='82' x2='350' y2='120' stroke='#3D7BD9' strokeWidth='2' /&gt;&#10;                &lt;line x1='581' y1='82' x2='581' y2='120' stroke='#3D7BD9' strokeWidth='2' /&gt;&#10;                &lt;line x1='119' y1='120' x2='581' y2='120' stroke='#3D7BD9' strokeWidth='2' /&gt;&#10;                &lt;path d='M350 120 L350 156' stroke='#3D7BD9' strokeWidth='2.5' fill='none' /&gt;&#10;                &lt;path d='M344 148 L350 158 L356 148 Z' fill='#3D7BD9' /&gt;&#10;&#10;                &lt;rect x='150' y='158' width='400' height='88' rx='6' fill='#E8EFF8' stroke='#3D7BD9' /&gt;&#10;                &lt;text x='350' y='192' textAnchor='middle' fontSize='21' fontWeight='bold' fill='#0E3F8C'&gt;周期函数的频域表示&lt;/text&gt;&#10;                &lt;text x='350' y='220' textAnchor='middle' fontSize='13' fill='#4A5568'&gt;有限循环群 / 离散平移群上的同一数学事实&lt;/text&gt;&#10;&#10;                &lt;path d='M350 246 L350 282' stroke='#1E4FA8' strokeWidth='2.5' fill='none' /&gt;&#10;                &lt;path d='M344 274 L350 284 L356 274 Z' fill='#1E4FA8' /&gt;&#10;&#10;                &lt;rect x='190' y='284' width='320' height='66' rx='6' fill='#0E3F8C' /&gt;&#10;                &lt;text x='350' y='311' textAnchor='middle' fontSize='17' fontWeight='bold' fill='#FFFFFF'&gt;同一个数学结构&lt;/text&gt;&#10;                &lt;text x='350' y='334' textAnchor='middle' fontSize='12' fill='#B8CEEC'&gt;判据：能否给出可检验的命题&lt;/text&gt;&#10;&#10;                &lt;line x1='14' y1='382' x2='686' y2='382' stroke='#E5E7EB' strokeWidth='2' /&gt;&#10;                &lt;circle cx='119' cy='382' r='4' fill='#3D7BD9' /&gt;&#10;                &lt;circle cx='350' cy='382' r='4' fill='#FFC107' /&gt;&#10;                &lt;circle cx='581' cy='382' r='4' fill='#D9534F' /&gt;&#10;                &lt;text x='350' y='410' textAnchor='middle' fontSize='12' fill='#8B97A8'&gt;三套术语 · 各自教学 · 互不引用&lt;/text&gt;&#10;            &lt;/svg&gt;&#10;        &lt;/Box&gt;&#10;&#10;        &lt;Box style={{ flex: 1, flexDirection: 'column' }}&gt;&#10;            &lt;Text style={{ fontSize: 21, fontWeight: 'bold', color: '#0E3F8C', marginBottom: 16 }}&gt;术语割裂的三重代价&lt;/Text&gt;&#10;&#10;            {[&#10;                { t: '重复发现', d: '某一学科已知的定理，在另一学科被独立重新发现，学术资源重复投入' },&#10;                { t: '深层类比被遮蔽', d: '开普勒椭圆与科赫雪花、晶体点阵与基因振荡、傅里叶变换与梅林变换——同一结构难以被识别' },&#10;                { t: '缺乏诊断工具', d: '面对新的复杂系统，研究者只能停留在现象层面的描述，无法做结构层面的判定' },&#10;            ].map((it, i) =&gt; (&#10;                &lt;Box key={i} style={{ flexDirection: 'column', marginBottom: 18 }}&gt;&#10;                    &lt;Box style={{ flexDirection: 'row', alignItems: 'center', gap: 10, marginBottom: 6 }}&gt;&#10;                        &lt;Box style={{ width: 5, height: 18, background: '#1E4FA8' }} /&gt;&#10;                        &lt;Text style={{ fontSize: 18, fontWeight: 'bold', color: '#1A2230' }}&gt;{it.t}&lt;/Text&gt;&#10;                    &lt;/Box&gt;&#10;                    &lt;Text style={{ fontSize: 15, color: '#4A5568', lineHeight: 1.7, paddingLeft: 15 }}&gt;{it.d}&lt;/Text&gt;&#10;                &lt;/Box&gt;&#10;            ))}&#10;&#10;            &lt;Box style={{ flex: 1 }} /&gt;&#10;&#10;            &lt;Box style={{ padding: 18, borderRadius: 6, borderLeft: '4px solid #FFC107', background: '#F0F5FC' }}&gt;&#10;                &lt;Text style={{ fontSize: 16, color: '#1A2230', lineHeight: 1.7 }}&gt;&#10;                    {`统一的价值不在于把名字改成一样，而在于——`}&#10;                    &lt;span style={{ fontWeight: 'bold', color: '#0E3F8C' }}&gt;能否在新系统上给出可检验的命题&lt;/span&gt;&#10;                    {`。这是本书全部应用章节的准入标准。`}&#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04 / 22&lt;/Text&gt;&#10;    &lt;/Box&gt;&#10;&lt;/Slide&gt;&#10;"/>
        <p:cNvGrpSpPr/>
        <p:nvPr/>
      </p:nvGrpSpPr>
      <p:grpSpPr>
        <a:xfrm>
          <a:off x="0" y="0"/>
          <a:ext cx="0" cy="0"/>
          <a:chOff x="0" y="0"/>
          <a:chExt cx="0" cy="0"/>
        </a:xfrm>
      </p:grpSpPr>
      <p:sp>
        <p:nvSpPr>
          <p:cNvPr id="436" name="矩形 435"/>
          <p:cNvSpPr/>
          <p:nvPr/>
        </p:nvSpPr>
        <p:spPr>
          <a:xfrm>
            <a:off x="0" y="0"/>
            <a:ext cx="12192000" cy="6858000"/>
          </a:xfrm>
          <a:prstGeom prst="rect">
            <a:avLst/>
          </a:prstGeom>
          <a:solidFill>
            <a:srgbClr val="FFFFFF"/>
          </a:solidFill>
          <a:ln/>
        </p:spPr>
        <p:txBody>
          <a:bodyPr/>
          <a:lstStyle/>
          <a:p>
            <a:endParaRPr/>
          </a:p>
        </p:txBody>
      </p:sp>
      <p:sp>
        <p:nvSpPr>
          <p:cNvPr id="437" name="矩形 436"/>
          <p:cNvSpPr/>
          <p:nvPr/>
        </p:nvSpPr>
        <p:spPr>
          <a:xfrm>
            <a:off x="0" y="0"/>
            <a:ext cx="12192000" cy="76200"/>
          </a:xfrm>
          <a:prstGeom prst="rect">
            <a:avLst/>
          </a:prstGeom>
          <a:solidFill>
            <a:srgbClr val="1E4FA8"/>
          </a:solidFill>
          <a:ln/>
        </p:spPr>
        <p:txBody>
          <a:bodyPr/>
          <a:lstStyle/>
          <a:p>
            <a:endParaRPr/>
          </a:p>
        </p:txBody>
      </p:sp>
      <p:sp>
        <p:nvSpPr>
          <p:cNvPr id="438" name="任意多边形: 形状 437"/>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439" name="文本框 438"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440" name="文本框 439" descr="{&quot;isTemplate&quot;:true,&quot;type&quot;:&quot;text&quot;}"/>
          <p:cNvSpPr txBox="1"/>
          <p:nvPr/>
        </p:nvSpPr>
        <p:spPr>
          <a:xfrm>
            <a:off x="10868025" y="257175"/>
            <a:ext cx="94297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01 </a:t>
            </a:r>
            <a:r>
              <a:rPr lang="zh-CN" sz="1050" spc="75">
                <a:solidFill>
                  <a:srgbClr val="1E4FA8"/>
                </a:solidFill>
                <a:latin typeface="Microsoft YaHei"/>
                <a:ea typeface="Microsoft YaHei"/>
              </a:rPr>
              <a:t>缘起与问题</a:t>
            </a:r>
            <a:endParaRPr/>
          </a:p>
        </p:txBody>
      </p:sp>
      <p:sp>
        <p:nvSpPr>
          <p:cNvPr id="441" name="文本框 440"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同一个数学结构，被几套彼此不通的语言切割</a:t>
            </a:r>
            <a:endParaRPr/>
          </a:p>
        </p:txBody>
      </p:sp>
      <p:sp>
        <p:nvSpPr>
          <p:cNvPr id="442" name="矩形: 圆角 441"/>
          <p:cNvSpPr/>
          <p:nvPr/>
        </p:nvSpPr>
        <p:spPr>
          <a:xfrm>
            <a:off x="381000" y="1352550"/>
            <a:ext cx="6286500" cy="5029200"/>
          </a:xfrm>
          <a:prstGeom prst="roundRect">
            <a:avLst>
              <a:gd name="adj" fmla="val 1136"/>
            </a:avLst>
          </a:prstGeom>
          <a:solidFill>
            <a:srgbClr val="F7F9FC"/>
          </a:solidFill>
          <a:ln w="12700">
            <a:solidFill>
              <a:srgbClr val="E5E7EB"/>
            </a:solidFill>
            <a:prstDash val="solid"/>
          </a:ln>
        </p:spPr>
        <p:txBody>
          <a:bodyPr/>
          <a:lstStyle/>
          <a:p>
            <a:endParaRPr/>
          </a:p>
        </p:txBody>
      </p:sp>
      <p:pic>
        <p:nvPicPr>
          <p:cNvPr id="443" name="图形 44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3400" y="2028825"/>
            <a:ext cx="5981700" cy="3676650"/>
          </a:xfrm>
          <a:prstGeom prst="rect">
            <a:avLst/>
          </a:prstGeom>
          <a:ln/>
        </p:spPr>
      </p:pic>
      <p:sp>
        <p:nvSpPr>
          <p:cNvPr id="444" name="文本框 443" descr="{&quot;isTemplate&quot;:true,&quot;type&quot;:&quot;text&quot;}"/>
          <p:cNvSpPr txBox="1"/>
          <p:nvPr/>
        </p:nvSpPr>
        <p:spPr>
          <a:xfrm>
            <a:off x="6915150" y="1352550"/>
            <a:ext cx="4895850"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术语割裂的三重代价</a:t>
            </a:r>
            <a:endParaRPr/>
          </a:p>
        </p:txBody>
      </p:sp>
      <p:sp>
        <p:nvSpPr>
          <p:cNvPr id="445" name="矩形 444"/>
          <p:cNvSpPr/>
          <p:nvPr/>
        </p:nvSpPr>
        <p:spPr>
          <a:xfrm>
            <a:off x="6915150" y="1771650"/>
            <a:ext cx="47625" cy="171450"/>
          </a:xfrm>
          <a:prstGeom prst="rect">
            <a:avLst/>
          </a:prstGeom>
          <a:solidFill>
            <a:srgbClr val="1E4FA8"/>
          </a:solidFill>
          <a:ln/>
        </p:spPr>
        <p:txBody>
          <a:bodyPr/>
          <a:lstStyle/>
          <a:p>
            <a:endParaRPr/>
          </a:p>
        </p:txBody>
      </p:sp>
      <p:sp>
        <p:nvSpPr>
          <p:cNvPr id="446" name="文本框 445" descr="{&quot;isTemplate&quot;:true,&quot;type&quot;:&quot;text&quot;}"/>
          <p:cNvSpPr txBox="1"/>
          <p:nvPr/>
        </p:nvSpPr>
        <p:spPr>
          <a:xfrm>
            <a:off x="7058025" y="1752600"/>
            <a:ext cx="6858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重复发现</a:t>
            </a:r>
            <a:endParaRPr/>
          </a:p>
        </p:txBody>
      </p:sp>
      <p:sp>
        <p:nvSpPr>
          <p:cNvPr id="447" name="文本框 446" descr="{&quot;isTemplate&quot;:true,&quot;type&quot;:&quot;text&quot;}"/>
          <p:cNvSpPr txBox="1"/>
          <p:nvPr/>
        </p:nvSpPr>
        <p:spPr>
          <a:xfrm>
            <a:off x="6915150" y="2019300"/>
            <a:ext cx="4895850" cy="295275"/>
          </a:xfrm>
          <a:prstGeom prst="rect">
            <a:avLst/>
          </a:prstGeom>
        </p:spPr>
        <p:txBody>
          <a:bodyPr wrap="none" lIns="107156" tIns="0" rIns="0" bIns="0"/>
          <a:lstStyle/>
          <a:p>
            <a:pPr>
              <a:lnSpc>
                <a:spcPct val="170000"/>
              </a:lnSpc>
            </a:pPr>
            <a:r>
              <a:rPr lang="zh-CN" sz="1125">
                <a:solidFill>
                  <a:srgbClr val="4A5568"/>
                </a:solidFill>
                <a:latin typeface="Microsoft YaHei"/>
                <a:ea typeface="Microsoft YaHei"/>
              </a:rPr>
              <a:t>某一学科已知的定理，在另一学科被独立重新发现，学术资源重复投入</a:t>
            </a:r>
            <a:endParaRPr/>
          </a:p>
        </p:txBody>
      </p:sp>
      <p:sp>
        <p:nvSpPr>
          <p:cNvPr id="448" name="矩形 447"/>
          <p:cNvSpPr/>
          <p:nvPr/>
        </p:nvSpPr>
        <p:spPr>
          <a:xfrm>
            <a:off x="6915150" y="2505075"/>
            <a:ext cx="47625" cy="171450"/>
          </a:xfrm>
          <a:prstGeom prst="rect">
            <a:avLst/>
          </a:prstGeom>
          <a:solidFill>
            <a:srgbClr val="1E4FA8"/>
          </a:solidFill>
          <a:ln/>
        </p:spPr>
        <p:txBody>
          <a:bodyPr/>
          <a:lstStyle/>
          <a:p>
            <a:endParaRPr/>
          </a:p>
        </p:txBody>
      </p:sp>
      <p:sp>
        <p:nvSpPr>
          <p:cNvPr id="449" name="文本框 448" descr="{&quot;isTemplate&quot;:true,&quot;type&quot;:&quot;text&quot;}"/>
          <p:cNvSpPr txBox="1"/>
          <p:nvPr/>
        </p:nvSpPr>
        <p:spPr>
          <a:xfrm>
            <a:off x="7058025" y="2486025"/>
            <a:ext cx="120015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深层类比被遮蔽</a:t>
            </a:r>
            <a:endParaRPr/>
          </a:p>
        </p:txBody>
      </p:sp>
      <p:sp>
        <p:nvSpPr>
          <p:cNvPr id="450" name="文本框 449" descr="{&quot;isTemplate&quot;:true,&quot;type&quot;:&quot;text&quot;}"/>
          <p:cNvSpPr txBox="1"/>
          <p:nvPr/>
        </p:nvSpPr>
        <p:spPr>
          <a:xfrm>
            <a:off x="6915150" y="2752725"/>
            <a:ext cx="4895850" cy="590550"/>
          </a:xfrm>
          <a:prstGeom prst="rect">
            <a:avLst/>
          </a:prstGeom>
        </p:spPr>
        <p:txBody>
          <a:bodyPr wrap="square" lIns="107156" tIns="0" rIns="0" bIns="0">
            <a:normAutofit/>
          </a:bodyPr>
          <a:lstStyle/>
          <a:p>
            <a:pPr>
              <a:lnSpc>
                <a:spcPct val="170000"/>
              </a:lnSpc>
            </a:pPr>
            <a:r>
              <a:rPr lang="zh-CN" sz="1125">
                <a:solidFill>
                  <a:srgbClr val="4A5568"/>
                </a:solidFill>
                <a:latin typeface="Microsoft YaHei"/>
                <a:ea typeface="Microsoft YaHei"/>
              </a:rPr>
              <a:t>开普勒椭圆与科赫雪花、晶体点阵与基因振荡、傅里叶变换与梅林变换——同一结构难以被识别</a:t>
            </a:r>
            <a:endParaRPr/>
          </a:p>
        </p:txBody>
      </p:sp>
      <p:sp>
        <p:nvSpPr>
          <p:cNvPr id="451" name="矩形 450"/>
          <p:cNvSpPr/>
          <p:nvPr/>
        </p:nvSpPr>
        <p:spPr>
          <a:xfrm>
            <a:off x="6915150" y="3533775"/>
            <a:ext cx="47625" cy="171450"/>
          </a:xfrm>
          <a:prstGeom prst="rect">
            <a:avLst/>
          </a:prstGeom>
          <a:solidFill>
            <a:srgbClr val="1E4FA8"/>
          </a:solidFill>
          <a:ln/>
        </p:spPr>
        <p:txBody>
          <a:bodyPr/>
          <a:lstStyle/>
          <a:p>
            <a:endParaRPr/>
          </a:p>
        </p:txBody>
      </p:sp>
      <p:sp>
        <p:nvSpPr>
          <p:cNvPr id="452" name="文本框 451" descr="{&quot;isTemplate&quot;:true,&quot;type&quot;:&quot;text&quot;}"/>
          <p:cNvSpPr txBox="1"/>
          <p:nvPr/>
        </p:nvSpPr>
        <p:spPr>
          <a:xfrm>
            <a:off x="7058025" y="3514725"/>
            <a:ext cx="102870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缺乏诊断工具</a:t>
            </a:r>
            <a:endParaRPr/>
          </a:p>
        </p:txBody>
      </p:sp>
      <p:sp>
        <p:nvSpPr>
          <p:cNvPr id="453" name="文本框 452" descr="{&quot;isTemplate&quot;:true,&quot;type&quot;:&quot;text&quot;}"/>
          <p:cNvSpPr txBox="1"/>
          <p:nvPr/>
        </p:nvSpPr>
        <p:spPr>
          <a:xfrm>
            <a:off x="6915150" y="3781425"/>
            <a:ext cx="4895850" cy="590550"/>
          </a:xfrm>
          <a:prstGeom prst="rect">
            <a:avLst/>
          </a:prstGeom>
        </p:spPr>
        <p:txBody>
          <a:bodyPr wrap="square" lIns="107156" tIns="0" rIns="0" bIns="0">
            <a:normAutofit/>
          </a:bodyPr>
          <a:lstStyle/>
          <a:p>
            <a:pPr>
              <a:lnSpc>
                <a:spcPct val="170000"/>
              </a:lnSpc>
            </a:pPr>
            <a:r>
              <a:rPr lang="zh-CN" sz="1125">
                <a:solidFill>
                  <a:srgbClr val="4A5568"/>
                </a:solidFill>
                <a:latin typeface="Microsoft YaHei"/>
                <a:ea typeface="Microsoft YaHei"/>
              </a:rPr>
              <a:t>面对新的复杂系统，研究者只能停留在现象层面的描述，无法做结构层面的判定</a:t>
            </a:r>
            <a:endParaRPr/>
          </a:p>
        </p:txBody>
      </p:sp>
      <p:sp>
        <p:nvSpPr>
          <p:cNvPr id="454" name="矩形: 圆角 453"/>
          <p:cNvSpPr/>
          <p:nvPr/>
        </p:nvSpPr>
        <p:spPr>
          <a:xfrm>
            <a:off x="6953250" y="5410200"/>
            <a:ext cx="4895850" cy="971550"/>
          </a:xfrm>
          <a:prstGeom prst="roundRect">
            <a:avLst>
              <a:gd name="adj" fmla="val 5882"/>
            </a:avLst>
          </a:prstGeom>
          <a:solidFill>
            <a:srgbClr val="F0F5FC"/>
          </a:solidFill>
          <a:ln/>
        </p:spPr>
        <p:txBody>
          <a:bodyPr/>
          <a:lstStyle/>
          <a:p>
            <a:endParaRPr/>
          </a:p>
        </p:txBody>
      </p:sp>
      <p:sp>
        <p:nvSpPr>
          <p:cNvPr id="455" name="任意多边形: 形状 454"/>
          <p:cNvSpPr/>
          <p:nvPr/>
        </p:nvSpPr>
        <p:spPr>
          <a:xfrm>
            <a:off x="6953250" y="5410200"/>
            <a:ext cx="4895850" cy="971550"/>
          </a:xfrm>
          <a:custGeom>
            <a:avLst/>
            <a:gdLst/>
            <a:ahLst/>
            <a:cxnLst/>
            <a:rect l="0" t="0" r="0" b="0"/>
            <a:pathLst>
              <a:path w="514" h="102">
                <a:moveTo>
                  <a:pt x="6" y="0"/>
                </a:moveTo>
                <a:cubicBezTo>
                  <a:pt x="5" y="0"/>
                  <a:pt x="4" y="1"/>
                  <a:pt x="4" y="2"/>
                </a:cubicBezTo>
                <a:lnTo>
                  <a:pt x="4" y="100"/>
                </a:lnTo>
                <a:cubicBezTo>
                  <a:pt x="4" y="101"/>
                  <a:pt x="5" y="102"/>
                  <a:pt x="6" y="102"/>
                </a:cubicBezTo>
                <a:cubicBezTo>
                  <a:pt x="3" y="102"/>
                  <a:pt x="0" y="99"/>
                  <a:pt x="0" y="96"/>
                </a:cubicBezTo>
                <a:lnTo>
                  <a:pt x="0" y="6"/>
                </a:lnTo>
                <a:cubicBezTo>
                  <a:pt x="0" y="3"/>
                  <a:pt x="3" y="0"/>
                  <a:pt x="6" y="0"/>
                </a:cubicBezTo>
                <a:close/>
              </a:path>
            </a:pathLst>
          </a:custGeom>
          <a:solidFill>
            <a:srgbClr val="FFC107"/>
          </a:solidFill>
          <a:ln/>
        </p:spPr>
        <p:txBody>
          <a:bodyPr/>
          <a:lstStyle/>
          <a:p>
            <a:endParaRPr/>
          </a:p>
        </p:txBody>
      </p:sp>
      <p:sp>
        <p:nvSpPr>
          <p:cNvPr id="456" name="文本框 455" descr="{&quot;isTemplate&quot;:true,&quot;type&quot;:&quot;text&quot;}"/>
          <p:cNvSpPr txBox="1"/>
          <p:nvPr/>
        </p:nvSpPr>
        <p:spPr>
          <a:xfrm>
            <a:off x="7124700" y="5581650"/>
            <a:ext cx="4514850" cy="628650"/>
          </a:xfrm>
          <a:prstGeom prst="rect">
            <a:avLst/>
          </a:prstGeom>
        </p:spPr>
        <p:txBody>
          <a:bodyPr wrap="square" lIns="0" tIns="0" rIns="0" bIns="0">
            <a:normAutofit/>
          </a:bodyPr>
          <a:lstStyle/>
          <a:p>
            <a:pPr>
              <a:lnSpc>
                <a:spcPct val="170000"/>
              </a:lnSpc>
            </a:pPr>
            <a:r>
              <a:rPr lang="zh-CN" sz="1200">
                <a:solidFill>
                  <a:srgbClr val="1A2230"/>
                </a:solidFill>
                <a:latin typeface="Microsoft YaHei"/>
                <a:ea typeface="Microsoft YaHei"/>
              </a:rPr>
              <a:t>统一的价值不在于把名字改成一样，而在于——</a:t>
            </a:r>
            <a:r>
              <a:rPr lang="zh-CN" sz="1200" b="1">
                <a:solidFill>
                  <a:srgbClr val="0E3F8C"/>
                </a:solidFill>
                <a:latin typeface="Microsoft YaHei"/>
                <a:ea typeface="Microsoft YaHei"/>
              </a:rPr>
              <a:t>能否在新系统上给出可检验的命题</a:t>
            </a:r>
            <a:r>
              <a:rPr lang="zh-CN" sz="1200">
                <a:solidFill>
                  <a:srgbClr val="1A2230"/>
                </a:solidFill>
                <a:latin typeface="Microsoft YaHei"/>
                <a:ea typeface="Microsoft YaHei"/>
              </a:rPr>
              <a:t>。这是本书全部应用章节的准入标准。</a:t>
            </a:r>
            <a:endParaRPr/>
          </a:p>
        </p:txBody>
      </p:sp>
      <p:sp>
        <p:nvSpPr>
          <p:cNvPr id="457" name="文本框 456"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458" name="文本框 457"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04 / 22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1 缘起与问题&lt;/Text&gt;&#10;    &lt;/Box&gt;&#10;&#10;    &lt;Box style={{ width: '100%', height: 78, paddingLeft: 40, paddingRight: 40, justifyContent: 'center' }}&gt;&#10;        &lt;Text style={{ fontSize: 32, fontWeight: 'bold', color: '#0E3F8C' }}&gt;从迭代到周期：一条被标注了条件的逻辑链&lt;/Text&gt;&#10;    &lt;/Box&gt;&#10;&#10;    &lt;Box style={{ width: '100%', flex: 1, flexDirection: 'column', gap: 16, paddingLeft: 40, paddingRight: 40, paddingBottom: 16 }}&gt;&#10;&#10;        &lt;svg width={1200} height={340} viewBox='0 0 1200 340'&gt;&#10;            &lt;rect x='70' y='30' width='300' height='76' rx='6' fill='#E8EFF8' stroke='#3D7BD9' /&gt;&#10;            &lt;text x='220' y='64' textAnchor='middle' fontSize='19' fontWeight='bold' fill='#0E3F8C'&gt;迭代&lt;/text&gt;&#10;            &lt;text x='220' y='88' textAnchor='middle' fontSize='11' fill='#8B97A8'&gt;一切概念的起点&lt;/text&gt;&#10;&#10;            &lt;rect x='450' y='30' width='300' height='76' rx='6' fill='#E8EFF8' stroke='#3D7BD9' /&gt;&#10;            &lt;text x='600' y='64' textAnchor='middle' fontSize='19' fontWeight='bold' fill='#0E3F8C'&gt;不变量 / 守恒&lt;/text&gt;&#10;            &lt;text x='600' y='88' textAnchor='middle' fontSize='11' fill='#8B97A8'&gt;变化中恒定的量&lt;/text&gt;&#10;&#10;            &lt;rect x='830' y='30' width='300' height='76' rx='6' fill='#E8EFF8' stroke='#3D7BD9' /&gt;&#10;            &lt;text x='980' y='64' textAnchor='middle' fontSize='19' fontWeight='bold' fill='#0E3F8C'&gt;对称&lt;/text&gt;&#10;            &lt;text x='980' y='88' textAnchor='middle' fontSize='11' fill='#8B97A8'&gt;保持结构的变换&lt;/text&gt;&#10;&#10;            &lt;path d='M376 68 L438 68' stroke='#3D7BD9' strokeWidth='2.5' fill='none' /&gt;&#10;            &lt;path d='M430 62 L442 68 L430 74 Z' fill='#3D7BD9' /&gt;&#10;            &lt;rect x='374' y='56' width='72' height='24' fill='#FFFFFF' /&gt;&#10;            &lt;text x='410' y='73' textAnchor='middle' fontSize='12' fill='#4A5568'&gt;观察不变性&lt;/text&gt;&#10;&#10;            &lt;path d='M756 68 L818 68' stroke='#3D7BD9' strokeWidth='2.5' fill='none' /&gt;&#10;            &lt;path d='M810 62 L822 68 L810 74 Z' fill='#3D7BD9' /&gt;&#10;            &lt;rect x='754' y='56' width='72' height='24' fill='#FFFFFF' /&gt;&#10;            &lt;text x='790' y='73' textAnchor='middle' fontSize='12' fill='#4A5568'&gt;抽象为变换&lt;/text&gt;&#10;&#10;            &lt;path d='M980 110 L980 202' stroke='#D9534F' strokeWidth='2.5' fill='none' /&gt;&#10;            &lt;path d='M974 194 L980 206 L986 194 Z' fill='#D9534F' /&gt;&#10;            &lt;rect x='890' y='145' width='76' height='24' fill='#FFFFFF' /&gt;&#10;            &lt;text x='928' y='162' textAnchor='middle' fontSize='12' fill='#D9534F'&gt;需附加条件&lt;/text&gt;&#10;&#10;            &lt;rect x='830' y='210' width='300' height='76' rx='6' fill='#0E3F8C' /&gt;&#10;            &lt;text x='980' y='244' textAnchor='middle' fontSize='19' fontWeight='bold' fill='#FFFFFF'&gt;有限阶作用&lt;/text&gt;&#10;            &lt;text x='980' y='268' textAnchor='middle' fontSize='11' fill='#B8CEEC'&gt;gⁿ = e&lt;/text&gt;&#10;&#10;            &lt;path d='M824 248 L762 248' stroke='#1E4FA8' strokeWidth='2.5' fill='none' /&gt;&#10;            &lt;path d='M770 242 L758 248 L770 254 Z' fill='#1E4FA8' /&gt;&#10;            &lt;rect x='754' y='236' width='72' height='24' fill='#FFFFFF' /&gt;&#10;            &lt;text x='790' y='253' textAnchor='middle' fontSize='12' fill='#4A5568'&gt;充分条件&lt;/text&gt;&#10;&#10;            &lt;rect x='450' y='210' width='300' height='76' rx='6' fill='#E8EFF8' stroke='#3D7BD9' /&gt;&#10;            &lt;text x='600' y='244' textAnchor='middle' fontSize='19' fontWeight='bold' fill='#0E3F8C'&gt;闭合轨道&lt;/text&gt;&#10;            &lt;text x='600' y='268' textAnchor='middle' fontSize='11' fill='#8B97A8'&gt;相空间中的圈&lt;/text&gt;&#10;&#10;            &lt;path d='M444 248 L382 248' stroke='#1E4FA8' strokeWidth='2.5' fill='none' /&gt;&#10;            &lt;path d='M390 242 L378 248 L390 254 Z' fill='#1E4FA8' /&gt;&#10;            &lt;rect x='374' y='236' width='72' height='24' fill='#FFFFFF' /&gt;&#10;            &lt;text x='410' y='253' textAnchor='middle' fontSize='12' fill='#4A5568'&gt;定义等价&lt;/text&gt;&#10;&#10;            &lt;rect x='70' y='210' width='300' height='76' rx='6' fill='#E8EFF8' stroke='#3D7BD9' /&gt;&#10;            &lt;text x='220' y='244' textAnchor='middle' fontSize='19' fontWeight='bold' fill='#0E3F8C'&gt;周期&lt;/text&gt;&#10;            &lt;text x='220' y='268' textAnchor='middle' fontSize='11' fill='#8B97A8'&gt;轨道一致闭合&lt;/text&gt;&#10;&#10;            &lt;text x='70' y='322' fontSize='12' fill='#8B97A8'&gt;起点&lt;/text&gt;&#10;            &lt;text x='1130' y='322' textAnchor='end' fontSize='12' fill='#8B97A8'&gt;终点&lt;/text&gt;&#10;        &lt;/svg&gt;&#10;&#10;        &lt;Box style={{ width: '100%', flexDirection: 'row', background: '#F7F9FC', border: '1px solid #E5E7EB', borderRadius: 6, paddingTop: 18, paddingBottom: 18, paddingLeft: 24, paddingRight: 24 }}&gt;&#10;            &lt;Box style={{ flex: 1.1, flexDirection: 'column', paddingRight: 20 }}&gt;&#10;                &lt;Text style={{ fontSize: 13, color: '#8B97A8', letterSpacing: 1, marginBottom: 8 }}&gt;逻辑方向&lt;/Text&gt;&#10;                &lt;Text style={{ fontSize: 16, color: '#1A2230', lineHeight: 1.65 }}&gt;&#10;                    {`对称 ⇒ 守恒（有条件），而非守恒 ⇒ 对称；周期 ⇒ 对称（演化群自身即有限对称群），但`}&#10;                    &lt;span style={{ fontWeight: 'bold', color: '#D9534F' }}&gt;周期 ⇏ 非平凡守恒&lt;/span&gt;&#10;                &lt;/Text&gt;&#10;            &lt;/Box&gt;&#10;            &lt;Box style={{ width: 1, background: '#D6DCE5', marginRight: 20 }} /&gt;&#10;            &lt;Box style={{ flex: 1.2, flexDirection: 'column', paddingRight: 20 }}&gt;&#10;                &lt;Text style={{ fontSize: 13, color: '#8B97A8', letterSpacing: 1, marginBottom: 8 }}&gt;充分枢纽&lt;/Text&gt;&#10;                &lt;Text style={{ fontSize: 16, color: '#1A2230', lineHeight: 1.65 }}&gt;&#10;                    {`在纯代数框架下，真正直接产生周期的条件是`}&#10;                    &lt;span style={{ fontWeight: 'bold', color: '#0E3F8C' }}&gt;有限阶作用&lt;/span&gt;&#10;                    {`：有限阶 ⇒ 一致闭合轨道 ⇒ 周期`}&#10;                &lt;/Text&gt;&#10;            &lt;/Box&gt;&#10;            &lt;Box style={{ width: 1, background: '#D6DCE5', marginRight: 20 }} /&gt;&#10;            &lt;Box style={{ flex: 1.1, flexDirection: 'column' }}&gt;&#10;                &lt;Text style={{ fontSize: 13, color: '#8B97A8', letterSpacing: 1, marginBottom: 8 }}&gt;辅助工具&lt;/Text&gt;&#10;                &lt;Text style={{ fontSize: 16, color: '#1A2230', lineHeight: 1.65 }}&gt;&#10;                    {`守恒与对称的角色是`}&#10;                    &lt;span style={{ fontWeight: 'bold', color: '#0E3F8C' }}&gt;发现、约束、解释&lt;/span&gt;&#10;                    {`周期结构，而非逻辑链上不可绕过的环节`}&#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05 / 22&lt;/Text&gt;&#10;    &lt;/Box&gt;&#10;&lt;/Slide&gt;&#10;"/>
        <p:cNvGrpSpPr/>
        <p:nvPr/>
      </p:nvGrpSpPr>
      <p:grpSpPr>
        <a:xfrm>
          <a:off x="0" y="0"/>
          <a:ext cx="0" cy="0"/>
          <a:chOff x="0" y="0"/>
          <a:chExt cx="0" cy="0"/>
        </a:xfrm>
      </p:grpSpPr>
      <p:sp>
        <p:nvSpPr>
          <p:cNvPr id="460" name="矩形 459"/>
          <p:cNvSpPr/>
          <p:nvPr/>
        </p:nvSpPr>
        <p:spPr>
          <a:xfrm>
            <a:off x="0" y="0"/>
            <a:ext cx="12192000" cy="6858000"/>
          </a:xfrm>
          <a:prstGeom prst="rect">
            <a:avLst/>
          </a:prstGeom>
          <a:solidFill>
            <a:srgbClr val="FFFFFF"/>
          </a:solidFill>
          <a:ln/>
        </p:spPr>
        <p:txBody>
          <a:bodyPr/>
          <a:lstStyle/>
          <a:p>
            <a:endParaRPr/>
          </a:p>
        </p:txBody>
      </p:sp>
      <p:sp>
        <p:nvSpPr>
          <p:cNvPr id="461" name="矩形 460"/>
          <p:cNvSpPr/>
          <p:nvPr/>
        </p:nvSpPr>
        <p:spPr>
          <a:xfrm>
            <a:off x="0" y="0"/>
            <a:ext cx="12192000" cy="76200"/>
          </a:xfrm>
          <a:prstGeom prst="rect">
            <a:avLst/>
          </a:prstGeom>
          <a:solidFill>
            <a:srgbClr val="1E4FA8"/>
          </a:solidFill>
          <a:ln/>
        </p:spPr>
        <p:txBody>
          <a:bodyPr/>
          <a:lstStyle/>
          <a:p>
            <a:endParaRPr/>
          </a:p>
        </p:txBody>
      </p:sp>
      <p:sp>
        <p:nvSpPr>
          <p:cNvPr id="462" name="任意多边形: 形状 461"/>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463" name="文本框 462"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464" name="文本框 463" descr="{&quot;isTemplate&quot;:true,&quot;type&quot;:&quot;text&quot;}"/>
          <p:cNvSpPr txBox="1"/>
          <p:nvPr/>
        </p:nvSpPr>
        <p:spPr>
          <a:xfrm>
            <a:off x="10868025" y="257175"/>
            <a:ext cx="94297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01 </a:t>
            </a:r>
            <a:r>
              <a:rPr lang="zh-CN" sz="1050" spc="75">
                <a:solidFill>
                  <a:srgbClr val="1E4FA8"/>
                </a:solidFill>
                <a:latin typeface="Microsoft YaHei"/>
                <a:ea typeface="Microsoft YaHei"/>
              </a:rPr>
              <a:t>缘起与问题</a:t>
            </a:r>
            <a:endParaRPr/>
          </a:p>
        </p:txBody>
      </p:sp>
      <p:sp>
        <p:nvSpPr>
          <p:cNvPr id="465" name="文本框 464"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从迭代到周期：一条被标注了条件的逻辑链</a:t>
            </a:r>
            <a:endParaRPr/>
          </a:p>
        </p:txBody>
      </p:sp>
      <p:pic>
        <p:nvPicPr>
          <p:cNvPr id="466" name="图形 46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1352550"/>
            <a:ext cx="11430000" cy="3238500"/>
          </a:xfrm>
          <a:prstGeom prst="rect">
            <a:avLst/>
          </a:prstGeom>
          <a:ln/>
        </p:spPr>
      </p:pic>
      <p:sp>
        <p:nvSpPr>
          <p:cNvPr id="467" name="矩形: 圆角 466"/>
          <p:cNvSpPr/>
          <p:nvPr/>
        </p:nvSpPr>
        <p:spPr>
          <a:xfrm>
            <a:off x="381000" y="4743450"/>
            <a:ext cx="11430000" cy="1485900"/>
          </a:xfrm>
          <a:prstGeom prst="roundRect">
            <a:avLst>
              <a:gd name="adj" fmla="val 3846"/>
            </a:avLst>
          </a:prstGeom>
          <a:solidFill>
            <a:srgbClr val="F7F9FC"/>
          </a:solidFill>
          <a:ln w="12700">
            <a:solidFill>
              <a:srgbClr val="E5E7EB"/>
            </a:solidFill>
            <a:prstDash val="solid"/>
          </a:ln>
        </p:spPr>
        <p:txBody>
          <a:bodyPr/>
          <a:lstStyle/>
          <a:p>
            <a:endParaRPr/>
          </a:p>
        </p:txBody>
      </p:sp>
      <p:sp>
        <p:nvSpPr>
          <p:cNvPr id="468" name="文本框 467" descr="{&quot;isTemplate&quot;:true,&quot;type&quot;:&quot;text&quot;}"/>
          <p:cNvSpPr txBox="1"/>
          <p:nvPr/>
        </p:nvSpPr>
        <p:spPr>
          <a:xfrm>
            <a:off x="609600" y="4914900"/>
            <a:ext cx="3228975" cy="152400"/>
          </a:xfrm>
          <a:prstGeom prst="rect">
            <a:avLst/>
          </a:prstGeom>
        </p:spPr>
        <p:txBody>
          <a:bodyPr wrap="none" lIns="0" tIns="0" rIns="0" bIns="0"/>
          <a:lstStyle/>
          <a:p>
            <a:pPr>
              <a:lnSpc>
                <a:spcPct val="100000"/>
              </a:lnSpc>
            </a:pPr>
            <a:r>
              <a:rPr lang="zh-CN" sz="975" spc="75">
                <a:solidFill>
                  <a:srgbClr val="8B97A8"/>
                </a:solidFill>
                <a:latin typeface="Microsoft YaHei"/>
                <a:ea typeface="Microsoft YaHei"/>
              </a:rPr>
              <a:t>逻辑方向</a:t>
            </a:r>
            <a:endParaRPr/>
          </a:p>
        </p:txBody>
      </p:sp>
      <p:sp>
        <p:nvSpPr>
          <p:cNvPr id="469" name="文本框 468" descr="{&quot;isTemplate&quot;:true,&quot;type&quot;:&quot;text&quot;}"/>
          <p:cNvSpPr txBox="1"/>
          <p:nvPr/>
        </p:nvSpPr>
        <p:spPr>
          <a:xfrm>
            <a:off x="609600" y="5143500"/>
            <a:ext cx="3228975" cy="914400"/>
          </a:xfrm>
          <a:prstGeom prst="rect">
            <a:avLst/>
          </a:prstGeom>
        </p:spPr>
        <p:txBody>
          <a:bodyPr wrap="square" lIns="0" tIns="0" rIns="0" bIns="0">
            <a:normAutofit/>
          </a:bodyPr>
          <a:lstStyle/>
          <a:p>
            <a:pPr>
              <a:lnSpc>
                <a:spcPct val="165000"/>
              </a:lnSpc>
            </a:pPr>
            <a:r>
              <a:rPr lang="zh-CN" sz="1200">
                <a:solidFill>
                  <a:srgbClr val="1A2230"/>
                </a:solidFill>
                <a:latin typeface="Microsoft YaHei"/>
                <a:ea typeface="Microsoft YaHei"/>
              </a:rPr>
              <a:t>对称</a:t>
            </a:r>
            <a:r>
              <a:rPr lang="en-US" sz="1200">
                <a:solidFill>
                  <a:srgbClr val="1A2230"/>
                </a:solidFill>
                <a:latin typeface="Microsoft YaHei"/>
                <a:ea typeface="Microsoft YaHei"/>
              </a:rPr>
              <a:t> ⇒ </a:t>
            </a:r>
            <a:r>
              <a:rPr lang="zh-CN" sz="1200">
                <a:solidFill>
                  <a:srgbClr val="1A2230"/>
                </a:solidFill>
                <a:latin typeface="Microsoft YaHei"/>
                <a:ea typeface="Microsoft YaHei"/>
              </a:rPr>
              <a:t>守恒（有条件），而非守恒</a:t>
            </a:r>
            <a:r>
              <a:rPr lang="en-US" sz="1200">
                <a:solidFill>
                  <a:srgbClr val="1A2230"/>
                </a:solidFill>
                <a:latin typeface="Microsoft YaHei"/>
                <a:ea typeface="Microsoft YaHei"/>
              </a:rPr>
              <a:t> ⇒ </a:t>
            </a:r>
            <a:r>
              <a:rPr lang="zh-CN" sz="1200">
                <a:solidFill>
                  <a:srgbClr val="1A2230"/>
                </a:solidFill>
                <a:latin typeface="Microsoft YaHei"/>
                <a:ea typeface="Microsoft YaHei"/>
              </a:rPr>
              <a:t>对称；周期</a:t>
            </a:r>
            <a:r>
              <a:rPr lang="en-US" sz="1200">
                <a:solidFill>
                  <a:srgbClr val="1A2230"/>
                </a:solidFill>
                <a:latin typeface="Microsoft YaHei"/>
                <a:ea typeface="Microsoft YaHei"/>
              </a:rPr>
              <a:t> ⇒ </a:t>
            </a:r>
            <a:r>
              <a:rPr lang="zh-CN" sz="1200">
                <a:solidFill>
                  <a:srgbClr val="1A2230"/>
                </a:solidFill>
                <a:latin typeface="Microsoft YaHei"/>
                <a:ea typeface="Microsoft YaHei"/>
              </a:rPr>
              <a:t>对称（演化群自身即有限循环群），但</a:t>
            </a:r>
            <a:r>
              <a:rPr lang="zh-CN" sz="1200" b="1">
                <a:solidFill>
                  <a:srgbClr val="D9534F"/>
                </a:solidFill>
                <a:latin typeface="Microsoft YaHei"/>
                <a:ea typeface="Microsoft YaHei"/>
              </a:rPr>
              <a:t>周期</a:t>
            </a:r>
            <a:r>
              <a:rPr lang="en-US" sz="1200" b="1">
                <a:solidFill>
                  <a:srgbClr val="D9534F"/>
                </a:solidFill>
                <a:latin typeface="Microsoft YaHei"/>
                <a:ea typeface="Microsoft YaHei"/>
              </a:rPr>
              <a:t> ⇏ </a:t>
            </a:r>
            <a:r>
              <a:rPr lang="zh-CN" sz="1200" b="1">
                <a:solidFill>
                  <a:srgbClr val="D9534F"/>
                </a:solidFill>
                <a:latin typeface="Microsoft YaHei"/>
                <a:ea typeface="Microsoft YaHei"/>
              </a:rPr>
              <a:t>非平凡守恒</a:t>
            </a:r>
            <a:endParaRPr/>
          </a:p>
        </p:txBody>
      </p:sp>
      <p:sp>
        <p:nvSpPr>
          <p:cNvPr id="470" name="矩形 469"/>
          <p:cNvSpPr/>
          <p:nvPr/>
        </p:nvSpPr>
        <p:spPr>
          <a:xfrm>
            <a:off x="4029075" y="4914900"/>
            <a:ext cx="9525" cy="1143000"/>
          </a:xfrm>
          <a:prstGeom prst="rect">
            <a:avLst/>
          </a:prstGeom>
          <a:solidFill>
            <a:srgbClr val="D6DCE5"/>
          </a:solidFill>
          <a:ln/>
        </p:spPr>
        <p:txBody>
          <a:bodyPr/>
          <a:lstStyle/>
          <a:p>
            <a:endParaRPr/>
          </a:p>
        </p:txBody>
      </p:sp>
      <p:sp>
        <p:nvSpPr>
          <p:cNvPr id="471" name="文本框 470" descr="{&quot;isTemplate&quot;:true,&quot;type&quot;:&quot;text&quot;}"/>
          <p:cNvSpPr txBox="1"/>
          <p:nvPr/>
        </p:nvSpPr>
        <p:spPr>
          <a:xfrm>
            <a:off x="4229100" y="4914900"/>
            <a:ext cx="3543300" cy="152400"/>
          </a:xfrm>
          <a:prstGeom prst="rect">
            <a:avLst/>
          </a:prstGeom>
        </p:spPr>
        <p:txBody>
          <a:bodyPr wrap="none" lIns="0" tIns="0" rIns="0" bIns="0"/>
          <a:lstStyle/>
          <a:p>
            <a:pPr>
              <a:lnSpc>
                <a:spcPct val="100000"/>
              </a:lnSpc>
            </a:pPr>
            <a:r>
              <a:rPr lang="zh-CN" sz="975" spc="75">
                <a:solidFill>
                  <a:srgbClr val="8B97A8"/>
                </a:solidFill>
                <a:latin typeface="Microsoft YaHei"/>
                <a:ea typeface="Microsoft YaHei"/>
              </a:rPr>
              <a:t>充分枢纽</a:t>
            </a:r>
            <a:endParaRPr/>
          </a:p>
        </p:txBody>
      </p:sp>
      <p:sp>
        <p:nvSpPr>
          <p:cNvPr id="472" name="文本框 471" descr="{&quot;isTemplate&quot;:true,&quot;type&quot;:&quot;text&quot;}"/>
          <p:cNvSpPr txBox="1"/>
          <p:nvPr/>
        </p:nvSpPr>
        <p:spPr>
          <a:xfrm>
            <a:off x="4229100" y="5143500"/>
            <a:ext cx="3543300" cy="609600"/>
          </a:xfrm>
          <a:prstGeom prst="rect">
            <a:avLst/>
          </a:prstGeom>
        </p:spPr>
        <p:txBody>
          <a:bodyPr wrap="square" lIns="0" tIns="0" rIns="0" bIns="0">
            <a:normAutofit/>
          </a:bodyPr>
          <a:lstStyle/>
          <a:p>
            <a:pPr>
              <a:lnSpc>
                <a:spcPct val="165000"/>
              </a:lnSpc>
            </a:pPr>
            <a:r>
              <a:rPr lang="zh-CN" sz="1200">
                <a:solidFill>
                  <a:srgbClr val="1A2230"/>
                </a:solidFill>
                <a:latin typeface="Microsoft YaHei"/>
                <a:ea typeface="Microsoft YaHei"/>
              </a:rPr>
              <a:t>在纯代数框架下，真正直接产生周期的条件是</a:t>
            </a:r>
            <a:r>
              <a:rPr lang="zh-CN" sz="1200" b="1">
                <a:solidFill>
                  <a:srgbClr val="0E3F8C"/>
                </a:solidFill>
                <a:latin typeface="Microsoft YaHei"/>
                <a:ea typeface="Microsoft YaHei"/>
              </a:rPr>
              <a:t>有限阶作用</a:t>
            </a:r>
            <a:r>
              <a:rPr lang="zh-CN" sz="1200">
                <a:solidFill>
                  <a:srgbClr val="1A2230"/>
                </a:solidFill>
                <a:latin typeface="Microsoft YaHei"/>
                <a:ea typeface="Microsoft YaHei"/>
              </a:rPr>
              <a:t>：有限阶</a:t>
            </a:r>
            <a:r>
              <a:rPr lang="en-US" sz="1200">
                <a:solidFill>
                  <a:srgbClr val="1A2230"/>
                </a:solidFill>
                <a:latin typeface="Microsoft YaHei"/>
                <a:ea typeface="Microsoft YaHei"/>
              </a:rPr>
              <a:t> ⇒ </a:t>
            </a:r>
            <a:r>
              <a:rPr lang="zh-CN" sz="1200">
                <a:solidFill>
                  <a:srgbClr val="1A2230"/>
                </a:solidFill>
                <a:latin typeface="Microsoft YaHei"/>
                <a:ea typeface="Microsoft YaHei"/>
              </a:rPr>
              <a:t>一致闭合轨道</a:t>
            </a:r>
            <a:r>
              <a:rPr lang="en-US" sz="1200">
                <a:solidFill>
                  <a:srgbClr val="1A2230"/>
                </a:solidFill>
                <a:latin typeface="Microsoft YaHei"/>
                <a:ea typeface="Microsoft YaHei"/>
              </a:rPr>
              <a:t> ⇒ </a:t>
            </a:r>
            <a:r>
              <a:rPr lang="zh-CN" sz="1200">
                <a:solidFill>
                  <a:srgbClr val="1A2230"/>
                </a:solidFill>
                <a:latin typeface="Microsoft YaHei"/>
                <a:ea typeface="Microsoft YaHei"/>
              </a:rPr>
              <a:t>周期</a:t>
            </a:r>
            <a:endParaRPr/>
          </a:p>
        </p:txBody>
      </p:sp>
      <p:sp>
        <p:nvSpPr>
          <p:cNvPr id="473" name="矩形 472"/>
          <p:cNvSpPr/>
          <p:nvPr/>
        </p:nvSpPr>
        <p:spPr>
          <a:xfrm>
            <a:off x="7962900" y="4914900"/>
            <a:ext cx="9525" cy="1143000"/>
          </a:xfrm>
          <a:prstGeom prst="rect">
            <a:avLst/>
          </a:prstGeom>
          <a:solidFill>
            <a:srgbClr val="D6DCE5"/>
          </a:solidFill>
          <a:ln/>
        </p:spPr>
        <p:txBody>
          <a:bodyPr/>
          <a:lstStyle/>
          <a:p>
            <a:endParaRPr/>
          </a:p>
        </p:txBody>
      </p:sp>
      <p:sp>
        <p:nvSpPr>
          <p:cNvPr id="474" name="文本框 473" descr="{&quot;isTemplate&quot;:true,&quot;type&quot;:&quot;text&quot;}"/>
          <p:cNvSpPr txBox="1"/>
          <p:nvPr/>
        </p:nvSpPr>
        <p:spPr>
          <a:xfrm>
            <a:off x="8162925" y="4914900"/>
            <a:ext cx="3419475" cy="152400"/>
          </a:xfrm>
          <a:prstGeom prst="rect">
            <a:avLst/>
          </a:prstGeom>
        </p:spPr>
        <p:txBody>
          <a:bodyPr wrap="none" lIns="0" tIns="0" rIns="0" bIns="0"/>
          <a:lstStyle/>
          <a:p>
            <a:pPr>
              <a:lnSpc>
                <a:spcPct val="100000"/>
              </a:lnSpc>
            </a:pPr>
            <a:r>
              <a:rPr lang="zh-CN" sz="975" spc="75">
                <a:solidFill>
                  <a:srgbClr val="8B97A8"/>
                </a:solidFill>
                <a:latin typeface="Microsoft YaHei"/>
                <a:ea typeface="Microsoft YaHei"/>
              </a:rPr>
              <a:t>辅助工具</a:t>
            </a:r>
            <a:endParaRPr/>
          </a:p>
        </p:txBody>
      </p:sp>
      <p:sp>
        <p:nvSpPr>
          <p:cNvPr id="475" name="文本框 474" descr="{&quot;isTemplate&quot;:true,&quot;type&quot;:&quot;text&quot;}"/>
          <p:cNvSpPr txBox="1"/>
          <p:nvPr/>
        </p:nvSpPr>
        <p:spPr>
          <a:xfrm>
            <a:off x="8162925" y="5143500"/>
            <a:ext cx="3419475" cy="609600"/>
          </a:xfrm>
          <a:prstGeom prst="rect">
            <a:avLst/>
          </a:prstGeom>
        </p:spPr>
        <p:txBody>
          <a:bodyPr wrap="square" lIns="0" tIns="0" rIns="0" bIns="0">
            <a:normAutofit/>
          </a:bodyPr>
          <a:lstStyle/>
          <a:p>
            <a:pPr>
              <a:lnSpc>
                <a:spcPct val="165000"/>
              </a:lnSpc>
            </a:pPr>
            <a:r>
              <a:rPr lang="zh-CN" sz="1200">
                <a:solidFill>
                  <a:srgbClr val="1A2230"/>
                </a:solidFill>
                <a:latin typeface="Microsoft YaHei"/>
                <a:ea typeface="Microsoft YaHei"/>
              </a:rPr>
              <a:t>守恒与对称的角色是</a:t>
            </a:r>
            <a:r>
              <a:rPr lang="zh-CN" sz="1200" b="1">
                <a:solidFill>
                  <a:srgbClr val="0E3F8C"/>
                </a:solidFill>
                <a:latin typeface="Microsoft YaHei"/>
                <a:ea typeface="Microsoft YaHei"/>
              </a:rPr>
              <a:t>发现、约束、解释</a:t>
            </a:r>
            <a:r>
              <a:rPr lang="zh-CN" sz="1200">
                <a:solidFill>
                  <a:srgbClr val="1A2230"/>
                </a:solidFill>
                <a:latin typeface="Microsoft YaHei"/>
                <a:ea typeface="Microsoft YaHei"/>
              </a:rPr>
              <a:t>周期结构，而非逻辑链上不可绕过的环节</a:t>
            </a:r>
            <a:endParaRPr/>
          </a:p>
        </p:txBody>
      </p:sp>
      <p:sp>
        <p:nvSpPr>
          <p:cNvPr id="476" name="文本框 475"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477" name="文本框 476"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05 / 22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7F9FC', fontFamily: '&quot;Microsoft YaHei&quot;, &quot;Source Han Sans SC&quot;, sans-serif' }}&gt;&#10;&#10;    &lt;Box style={{ width: '100%', height: 8, background: '#1E4FA8' }} /&gt;&#10;&#10;    &lt;Box style={{ width: '100%', flex: 1, flexDirection: 'row', alignItems: 'center', paddingLeft: 40, paddingRight: 40, gap: 30 }}&gt;&#10;&#10;        &lt;Box style={{ flex: 1, flexDirection: 'column' }}&gt;&#10;            &lt;Text style={{ fontSize: 13, color: '#3D7BD9', letterSpacing: 4 }}&gt;第二章 · 核心理念与框架&lt;/Text&gt;&#10;            &lt;Text style={{ fontSize: 50, fontWeight: 'bold', color: '#0E3F8C', marginTop: 16 }}&gt;核心理念与框架&lt;/Text&gt;&#10;            &lt;Box style={{ width: 92, height: 5, background: '#1E4FA8', marginTop: 22, marginBottom: 30 }} /&gt;&#10;            {[&#10;                '三个对称中心 0 / 1 / i：加法、乘法、旋转三种结构各自的不动点',&#10;                '三种生成变换：平移、缩放、旋转——以及贯穿全书的三条阅读主线',&#10;                '一份工作定义：不宣称&quot;一切皆周期&quot;，只提供一套可判定的诊断语言',&#10;            ].map((t, i) =&gt; (&#10;                &lt;Box key={i} style={{ flexDirection: 'row', alignItems: 'flex-start', gap: 14, marginBottom: 18 }}&gt;&#10;                    &lt;Box style={{ width: 7, height: 7, borderRadius: 4, background: '#3D7BD9', marginTop: 9 }} /&gt;&#10;                    &lt;Text style={{ flex: 1, fontSize: 18, color: '#4A5568', lineHeight: 1.7 }}&gt;{t}&lt;/Text&gt;&#10;                &lt;/Box&gt;&#10;            ))}&#10;        &lt;/Box&gt;&#10;&#10;        &lt;Box style={{ width: 360, height: 480, justifyContent: 'center', alignItems: 'center', borderRadius: 6, background: '#E8EFF8' }}&gt;&#10;            &lt;Text style={{ fontSize: 196, fontWeight: 'bold', color: '#FFFFFF', lineHeight: 1 }}&gt;02&lt;/Text&gt;&#10;        &lt;/Box&gt;&#10;    &lt;/Box&gt;&#10;&#10;    &lt;Box style={{ width: '100%', height: 34, paddingLeft: 40, paddingRight: 40, flexDirection: 'row', alignItems: 'center', justifyContent: 'space-between' }}&gt;&#10;        &lt;Text style={{ fontSize: 12, color: '#8B97A8' }}&gt;Periodicity Mathematics&lt;/Text&gt;&#10;        &lt;Text style={{ fontSize: 14, color: '#0E3F8C' }}&gt;06 / 22&lt;/Text&gt;&#10;    &lt;/Box&gt;&#10;&lt;/Slide&gt;&#10;"/>
        <p:cNvGrpSpPr/>
        <p:nvPr/>
      </p:nvGrpSpPr>
      <p:grpSpPr>
        <a:xfrm>
          <a:off x="0" y="0"/>
          <a:ext cx="0" cy="0"/>
          <a:chOff x="0" y="0"/>
          <a:chExt cx="0" cy="0"/>
        </a:xfrm>
      </p:grpSpPr>
      <p:sp>
        <p:nvSpPr>
          <p:cNvPr id="479" name="矩形 478"/>
          <p:cNvSpPr/>
          <p:nvPr/>
        </p:nvSpPr>
        <p:spPr>
          <a:xfrm>
            <a:off x="0" y="0"/>
            <a:ext cx="12192000" cy="6858000"/>
          </a:xfrm>
          <a:prstGeom prst="rect">
            <a:avLst/>
          </a:prstGeom>
          <a:solidFill>
            <a:srgbClr val="F7F9FC"/>
          </a:solidFill>
          <a:ln/>
        </p:spPr>
        <p:txBody>
          <a:bodyPr/>
          <a:lstStyle/>
          <a:p>
            <a:endParaRPr/>
          </a:p>
        </p:txBody>
      </p:sp>
      <p:sp>
        <p:nvSpPr>
          <p:cNvPr id="480" name="矩形 479"/>
          <p:cNvSpPr/>
          <p:nvPr/>
        </p:nvSpPr>
        <p:spPr>
          <a:xfrm>
            <a:off x="0" y="0"/>
            <a:ext cx="12192000" cy="76200"/>
          </a:xfrm>
          <a:prstGeom prst="rect">
            <a:avLst/>
          </a:prstGeom>
          <a:solidFill>
            <a:srgbClr val="1E4FA8"/>
          </a:solidFill>
          <a:ln/>
        </p:spPr>
        <p:txBody>
          <a:bodyPr/>
          <a:lstStyle/>
          <a:p>
            <a:endParaRPr/>
          </a:p>
        </p:txBody>
      </p:sp>
      <p:sp>
        <p:nvSpPr>
          <p:cNvPr id="481" name="文本框 480" descr="{&quot;isTemplate&quot;:true,&quot;type&quot;:&quot;text&quot;}"/>
          <p:cNvSpPr txBox="1"/>
          <p:nvPr/>
        </p:nvSpPr>
        <p:spPr>
          <a:xfrm>
            <a:off x="381000" y="1809750"/>
            <a:ext cx="7715250" cy="152400"/>
          </a:xfrm>
          <a:prstGeom prst="rect">
            <a:avLst/>
          </a:prstGeom>
        </p:spPr>
        <p:txBody>
          <a:bodyPr wrap="none" lIns="0" tIns="0" rIns="0" bIns="0"/>
          <a:lstStyle/>
          <a:p>
            <a:pPr>
              <a:lnSpc>
                <a:spcPct val="100000"/>
              </a:lnSpc>
            </a:pPr>
            <a:r>
              <a:rPr lang="zh-CN" sz="975" spc="300">
                <a:solidFill>
                  <a:srgbClr val="3D7BD9"/>
                </a:solidFill>
                <a:latin typeface="Microsoft YaHei"/>
                <a:ea typeface="Microsoft YaHei"/>
              </a:rPr>
              <a:t>第二章</a:t>
            </a:r>
            <a:r>
              <a:rPr lang="en-US" sz="975" spc="300">
                <a:solidFill>
                  <a:srgbClr val="3D7BD9"/>
                </a:solidFill>
                <a:latin typeface="Microsoft YaHei"/>
                <a:ea typeface="Microsoft YaHei"/>
              </a:rPr>
              <a:t> · </a:t>
            </a:r>
            <a:r>
              <a:rPr lang="zh-CN" sz="975" spc="300">
                <a:solidFill>
                  <a:srgbClr val="3D7BD9"/>
                </a:solidFill>
                <a:latin typeface="Microsoft YaHei"/>
                <a:ea typeface="Microsoft YaHei"/>
              </a:rPr>
              <a:t>核心理念与框架</a:t>
            </a:r>
            <a:endParaRPr/>
          </a:p>
        </p:txBody>
      </p:sp>
      <p:sp>
        <p:nvSpPr>
          <p:cNvPr id="482" name="文本框 481" descr="{&quot;isTemplate&quot;:true,&quot;type&quot;:&quot;text&quot;}"/>
          <p:cNvSpPr txBox="1"/>
          <p:nvPr/>
        </p:nvSpPr>
        <p:spPr>
          <a:xfrm>
            <a:off x="381000" y="2114550"/>
            <a:ext cx="7715250" cy="571500"/>
          </a:xfrm>
          <a:prstGeom prst="rect">
            <a:avLst/>
          </a:prstGeom>
        </p:spPr>
        <p:txBody>
          <a:bodyPr wrap="none" lIns="0" tIns="0" rIns="0" bIns="0"/>
          <a:lstStyle/>
          <a:p>
            <a:pPr>
              <a:lnSpc>
                <a:spcPct val="100000"/>
              </a:lnSpc>
            </a:pPr>
            <a:r>
              <a:rPr lang="zh-CN" sz="3750" b="1">
                <a:solidFill>
                  <a:srgbClr val="0E3F8C"/>
                </a:solidFill>
                <a:latin typeface="Microsoft YaHei"/>
                <a:ea typeface="Microsoft YaHei"/>
              </a:rPr>
              <a:t>核心理念与框架</a:t>
            </a:r>
            <a:endParaRPr/>
          </a:p>
        </p:txBody>
      </p:sp>
      <p:sp>
        <p:nvSpPr>
          <p:cNvPr id="483" name="矩形 482"/>
          <p:cNvSpPr/>
          <p:nvPr/>
        </p:nvSpPr>
        <p:spPr>
          <a:xfrm>
            <a:off x="381000" y="2895600"/>
            <a:ext cx="876300" cy="47625"/>
          </a:xfrm>
          <a:prstGeom prst="rect">
            <a:avLst/>
          </a:prstGeom>
          <a:solidFill>
            <a:srgbClr val="1E4FA8"/>
          </a:solidFill>
          <a:ln/>
        </p:spPr>
        <p:txBody>
          <a:bodyPr/>
          <a:lstStyle/>
          <a:p>
            <a:endParaRPr/>
          </a:p>
        </p:txBody>
      </p:sp>
      <p:sp>
        <p:nvSpPr>
          <p:cNvPr id="484" name="矩形: 圆角 483"/>
          <p:cNvSpPr/>
          <p:nvPr/>
        </p:nvSpPr>
        <p:spPr>
          <a:xfrm>
            <a:off x="381000" y="3314700"/>
            <a:ext cx="66675" cy="66675"/>
          </a:xfrm>
          <a:prstGeom prst="roundRect">
            <a:avLst>
              <a:gd name="adj" fmla="val 57143"/>
            </a:avLst>
          </a:prstGeom>
          <a:solidFill>
            <a:srgbClr val="3D7BD9"/>
          </a:solidFill>
          <a:ln/>
        </p:spPr>
        <p:txBody>
          <a:bodyPr/>
          <a:lstStyle/>
          <a:p>
            <a:endParaRPr/>
          </a:p>
        </p:txBody>
      </p:sp>
      <p:sp>
        <p:nvSpPr>
          <p:cNvPr id="485" name="文本框 484" descr="{&quot;isTemplate&quot;:true,&quot;type&quot;:&quot;text&quot;}"/>
          <p:cNvSpPr txBox="1"/>
          <p:nvPr/>
        </p:nvSpPr>
        <p:spPr>
          <a:xfrm>
            <a:off x="581025" y="3028950"/>
            <a:ext cx="7515225" cy="723900"/>
          </a:xfrm>
          <a:prstGeom prst="rect">
            <a:avLst/>
          </a:prstGeom>
        </p:spPr>
        <p:txBody>
          <a:bodyPr wrap="none" lIns="0" tIns="0" rIns="0" bIns="0"/>
          <a:lstStyle/>
          <a:p>
            <a:pPr>
              <a:lnSpc>
                <a:spcPct val="170000"/>
              </a:lnSpc>
            </a:pPr>
            <a:r>
              <a:rPr lang="zh-CN" sz="1350" dirty="0">
                <a:solidFill>
                  <a:srgbClr val="4A5568"/>
                </a:solidFill>
                <a:latin typeface="Microsoft YaHei"/>
                <a:ea typeface="Microsoft YaHei"/>
              </a:rPr>
              <a:t>三个对称中心</a:t>
            </a:r>
            <a:r>
              <a:rPr lang="en-US" sz="1350" dirty="0">
                <a:solidFill>
                  <a:srgbClr val="4A5568"/>
                </a:solidFill>
                <a:latin typeface="Microsoft YaHei"/>
                <a:ea typeface="Microsoft YaHei"/>
              </a:rPr>
              <a:t> 0 / 1 / </a:t>
            </a:r>
            <a:r>
              <a:rPr lang="en-US" sz="1350" dirty="0" err="1">
                <a:solidFill>
                  <a:srgbClr val="4A5568"/>
                </a:solidFill>
                <a:latin typeface="Microsoft YaHei"/>
                <a:ea typeface="Microsoft YaHei"/>
              </a:rPr>
              <a:t>i</a:t>
            </a:r>
            <a:r>
              <a:rPr lang="zh-CN" sz="1350" dirty="0">
                <a:solidFill>
                  <a:srgbClr val="4A5568"/>
                </a:solidFill>
                <a:latin typeface="Microsoft YaHei"/>
                <a:ea typeface="Microsoft YaHei"/>
              </a:rPr>
              <a:t>：0 是加法反演 x → −x 的不动点，1 是乘法取逆 x → 1/x 的不动点；</a:t>
            </a:r>
            <a:endParaRPr lang="en-US" altLang="zh-CN" sz="1350" dirty="0">
              <a:solidFill>
                <a:srgbClr val="4A5568"/>
              </a:solidFill>
              <a:latin typeface="Microsoft YaHei"/>
              <a:ea typeface="Microsoft YaHei"/>
            </a:endParaRPr>
          </a:p>
          <a:p>
            <a:pPr>
              <a:lnSpc>
                <a:spcPct val="170000"/>
              </a:lnSpc>
            </a:pPr>
            <a:r>
              <a:rPr lang="zh-CN" sz="1350" dirty="0">
                <a:solidFill>
                  <a:srgbClr val="4A5568"/>
                </a:solidFill>
                <a:latin typeface="Microsoft YaHei"/>
                <a:ea typeface="Microsoft YaHei"/>
              </a:rPr>
              <a:t>i 是 U(1) 的生成元（i 的四次方为 1），在 i-对合 σ(z) = i/z 下才是其不动点</a:t>
            </a:r>
            <a:endParaRPr dirty="0"/>
          </a:p>
        </p:txBody>
      </p:sp>
      <p:sp>
        <p:nvSpPr>
          <p:cNvPr id="486" name="矩形: 圆角 485"/>
          <p:cNvSpPr/>
          <p:nvPr/>
        </p:nvSpPr>
        <p:spPr>
          <a:xfrm>
            <a:off x="381000" y="3905250"/>
            <a:ext cx="66675" cy="66675"/>
          </a:xfrm>
          <a:prstGeom prst="roundRect">
            <a:avLst>
              <a:gd name="adj" fmla="val 57143"/>
            </a:avLst>
          </a:prstGeom>
          <a:solidFill>
            <a:srgbClr val="3D7BD9"/>
          </a:solidFill>
          <a:ln/>
        </p:spPr>
        <p:txBody>
          <a:bodyPr/>
          <a:lstStyle/>
          <a:p>
            <a:endParaRPr/>
          </a:p>
        </p:txBody>
      </p:sp>
      <p:sp>
        <p:nvSpPr>
          <p:cNvPr id="487" name="文本框 486" descr="{&quot;isTemplate&quot;:true,&quot;type&quot;:&quot;text&quot;}"/>
          <p:cNvSpPr txBox="1"/>
          <p:nvPr/>
        </p:nvSpPr>
        <p:spPr>
          <a:xfrm>
            <a:off x="581025" y="3752850"/>
            <a:ext cx="7515225" cy="352425"/>
          </a:xfrm>
          <a:prstGeom prst="rect">
            <a:avLst/>
          </a:prstGeom>
        </p:spPr>
        <p:txBody>
          <a:bodyPr wrap="none" lIns="0" tIns="0" rIns="0" bIns="0"/>
          <a:lstStyle/>
          <a:p>
            <a:pPr>
              <a:lnSpc>
                <a:spcPct val="170000"/>
              </a:lnSpc>
            </a:pPr>
            <a:r>
              <a:rPr lang="zh-CN" sz="1350" dirty="0">
                <a:solidFill>
                  <a:srgbClr val="4A5568"/>
                </a:solidFill>
                <a:latin typeface="Microsoft YaHei"/>
                <a:ea typeface="Microsoft YaHei"/>
              </a:rPr>
              <a:t>三种生成变换：平移、缩放、旋转——以及贯穿全书的三条阅读主线</a:t>
            </a:r>
            <a:endParaRPr dirty="0"/>
          </a:p>
        </p:txBody>
      </p:sp>
      <p:sp>
        <p:nvSpPr>
          <p:cNvPr id="488" name="矩形: 圆角 487"/>
          <p:cNvSpPr/>
          <p:nvPr/>
        </p:nvSpPr>
        <p:spPr>
          <a:xfrm>
            <a:off x="381000" y="4429125"/>
            <a:ext cx="66675" cy="66675"/>
          </a:xfrm>
          <a:prstGeom prst="roundRect">
            <a:avLst>
              <a:gd name="adj" fmla="val 57143"/>
            </a:avLst>
          </a:prstGeom>
          <a:solidFill>
            <a:srgbClr val="3D7BD9"/>
          </a:solidFill>
          <a:ln/>
        </p:spPr>
        <p:txBody>
          <a:bodyPr/>
          <a:lstStyle/>
          <a:p>
            <a:endParaRPr/>
          </a:p>
        </p:txBody>
      </p:sp>
      <p:sp>
        <p:nvSpPr>
          <p:cNvPr id="489" name="文本框 488" descr="{&quot;isTemplate&quot;:true,&quot;type&quot;:&quot;text&quot;}"/>
          <p:cNvSpPr txBox="1"/>
          <p:nvPr/>
        </p:nvSpPr>
        <p:spPr>
          <a:xfrm>
            <a:off x="581025" y="4276725"/>
            <a:ext cx="7515225" cy="352425"/>
          </a:xfrm>
          <a:prstGeom prst="rect">
            <a:avLst/>
          </a:prstGeom>
        </p:spPr>
        <p:txBody>
          <a:bodyPr wrap="none" lIns="0" tIns="0" rIns="0" bIns="0"/>
          <a:lstStyle/>
          <a:p>
            <a:pPr>
              <a:lnSpc>
                <a:spcPct val="170000"/>
              </a:lnSpc>
            </a:pPr>
            <a:r>
              <a:rPr lang="zh-CN" sz="1350">
                <a:solidFill>
                  <a:srgbClr val="4A5568"/>
                </a:solidFill>
                <a:latin typeface="Microsoft YaHei"/>
                <a:ea typeface="Microsoft YaHei"/>
              </a:rPr>
              <a:t>一份工作定义：不宣称</a:t>
            </a:r>
            <a:r>
              <a:rPr lang="en-US" sz="1350">
                <a:solidFill>
                  <a:srgbClr val="4A5568"/>
                </a:solidFill>
                <a:latin typeface="Microsoft YaHei"/>
                <a:ea typeface="Microsoft YaHei"/>
              </a:rPr>
              <a:t>"</a:t>
            </a:r>
            <a:r>
              <a:rPr lang="zh-CN" sz="1350">
                <a:solidFill>
                  <a:srgbClr val="4A5568"/>
                </a:solidFill>
                <a:latin typeface="Microsoft YaHei"/>
                <a:ea typeface="Microsoft YaHei"/>
              </a:rPr>
              <a:t>一切皆周期</a:t>
            </a:r>
            <a:r>
              <a:rPr lang="en-US" sz="1350">
                <a:solidFill>
                  <a:srgbClr val="4A5568"/>
                </a:solidFill>
                <a:latin typeface="Microsoft YaHei"/>
                <a:ea typeface="Microsoft YaHei"/>
              </a:rPr>
              <a:t>"</a:t>
            </a:r>
            <a:r>
              <a:rPr lang="zh-CN" sz="1350">
                <a:solidFill>
                  <a:srgbClr val="4A5568"/>
                </a:solidFill>
                <a:latin typeface="Microsoft YaHei"/>
                <a:ea typeface="Microsoft YaHei"/>
              </a:rPr>
              <a:t>，只提供一套可判定的诊断语言</a:t>
            </a:r>
            <a:endParaRPr/>
          </a:p>
        </p:txBody>
      </p:sp>
      <p:sp>
        <p:nvSpPr>
          <p:cNvPr id="490" name="矩形: 圆角 489"/>
          <p:cNvSpPr/>
          <p:nvPr/>
        </p:nvSpPr>
        <p:spPr>
          <a:xfrm>
            <a:off x="8382000" y="1019175"/>
            <a:ext cx="3429000" cy="4572000"/>
          </a:xfrm>
          <a:prstGeom prst="roundRect">
            <a:avLst>
              <a:gd name="adj" fmla="val 1667"/>
            </a:avLst>
          </a:prstGeom>
          <a:solidFill>
            <a:srgbClr val="E8EFF8"/>
          </a:solidFill>
          <a:ln/>
        </p:spPr>
        <p:txBody>
          <a:bodyPr/>
          <a:lstStyle/>
          <a:p>
            <a:endParaRPr/>
          </a:p>
        </p:txBody>
      </p:sp>
      <p:sp>
        <p:nvSpPr>
          <p:cNvPr id="491" name="文本框 490" descr="{&quot;isTemplate&quot;:true,&quot;type&quot;:&quot;text&quot;}"/>
          <p:cNvSpPr txBox="1"/>
          <p:nvPr/>
        </p:nvSpPr>
        <p:spPr>
          <a:xfrm>
            <a:off x="8943975" y="2181225"/>
            <a:ext cx="2305050" cy="2247900"/>
          </a:xfrm>
          <a:prstGeom prst="rect">
            <a:avLst/>
          </a:prstGeom>
        </p:spPr>
        <p:txBody>
          <a:bodyPr wrap="none" lIns="0" tIns="0" rIns="0" bIns="0"/>
          <a:lstStyle/>
          <a:p>
            <a:pPr>
              <a:lnSpc>
                <a:spcPct val="100000"/>
              </a:lnSpc>
            </a:pPr>
            <a:r>
              <a:rPr lang="en-US" sz="14700" b="1">
                <a:solidFill>
                  <a:srgbClr val="FFFFFF"/>
                </a:solidFill>
                <a:latin typeface="Microsoft YaHei"/>
                <a:ea typeface="Microsoft YaHei"/>
              </a:rPr>
              <a:t>02</a:t>
            </a:r>
            <a:endParaRPr/>
          </a:p>
        </p:txBody>
      </p:sp>
      <p:sp>
        <p:nvSpPr>
          <p:cNvPr id="492" name="文本框 491"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493" name="文本框 492"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06 / 22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2 核心理念与框架&lt;/Text&gt;&#10;    &lt;/Box&gt;&#10;&#10;    &lt;Box style={{ width: '100%', height: 78, paddingLeft: 40, paddingRight: 40, justifyContent: 'center' }}&gt;&#10;        &lt;Text style={{ fontSize: 32, fontWeight: 'bold', color: '#0E3F8C' }}&gt;全部周期结构，都悬在三个不动点上&lt;/Text&gt;&#10;    &lt;/Box&gt;&#10;&#10;    &lt;Box style={{ width: '100%', flex: 1, flexDirection: 'column', gap: 18, paddingLeft: 40, paddingRight: 40, paddingBottom: 16 }}&gt;&#10;&#10;        &lt;Box style={{ flexDirection: 'row', alignItems: 'center', gap: 12, paddingLeft: 18, paddingTop: 10, paddingBottom: 10, background: '#F0F5FC', borderRadius: 4, borderLeft: '4px solid #1E4FA8' }}&gt;&#10;            &lt;Text style={{ fontSize: 16, color: '#4A5568' }}&gt;引导问题：&lt;/Text&gt;&#10;            &lt;Text style={{ fontSize: 16, fontWeight: 'bold', color: '#0E3F8C' }}&gt;三种最基本的对称性，能不能各自找到一个&quot;原点&quot;，让全部周期结构有共同的支点？&lt;/Text&gt;&#10;        &lt;/Box&gt;&#10;&#10;        &lt;svg width={1200} height={344} viewBox='0 0 1200 344'&gt;&#10;            &lt;rect x='20' y='10' width='1160' height='300' rx='6' fill='#F7F9FC' stroke='#E5E7EB' /&gt;&#10;&#10;            &lt;circle cx='200' cy='96' r='62' fill='#FFFFFF' stroke='#1E4FA8' strokeWidth='3' /&gt;&#10;            &lt;text x='200' y='116' textAnchor='middle' fontSize='52' fontWeight='bold' fill='#0E3F8C'&gt;0&lt;/text&gt;&#10;            &lt;text x='200' y='198' textAnchor='middle' fontSize='21' fontWeight='bold' fill='#1A2230'&gt;平移&lt;/text&gt;&#10;            &lt;text x='200' y='224' textAnchor='middle' fontSize='13' fill='#8B97A8'&gt;不动点：x ↦ −x&lt;/text&gt;&#10;            &lt;text x='200' y='260' textAnchor='middle' fontSize='20' fontWeight='bold' fill='#1E4FA8'&gt;∇ 梯度&lt;/text&gt;&#10;            &lt;text x='200' y='286' textAnchor='middle' fontSize='13' fill='#4A5568'&gt;守恒量：动量&lt;/text&gt;&#10;&#10;            &lt;path d='M278 96 L322 96' stroke='#3D7BD9' strokeWidth='2.5' fill='none' /&gt;&#10;            &lt;path d='M314 90 L326 96 L314 102 Z' fill='#3D7BD9' /&gt;&#10;&#10;            &lt;circle cx='600' cy='96' r='62' fill='#FFFFFF' stroke='#1E4FA8' strokeWidth='3' /&gt;&#10;            &lt;text x='600' y='116' textAnchor='middle' fontSize='52' fontWeight='bold' fill='#0E3F8C'&gt;1&lt;/text&gt;&#10;            &lt;text x='600' y='198' textAnchor='middle' fontSize='21' fontWeight='bold' fill='#1A2230'&gt;缩放&lt;/text&gt;&#10;            &lt;text x='600' y='224' textAnchor='middle' fontSize='13' fill='#8B97A8'&gt;不动点：x ↦ x⁻¹&lt;/text&gt;&#10;            &lt;text x='600' y='260' textAnchor='middle' fontSize='20' fontWeight='bold' fill='#1E4FA8'&gt;∇ · 散度&lt;/text&gt;&#10;            &lt;text x='600' y='286' textAnchor='middle' fontSize='13' fill='#4A5568'&gt;守恒量：相空间体积&lt;/text&gt;&#10;&#10;            &lt;path d='M678 96 L722 96' stroke='#3D7BD9' strokeWidth='2.5' fill='none' /&gt;&#10;            &lt;path d='M714 90 L726 96 L714 102 Z' fill='#3D7BD9' /&gt;&#10;&#10;            &lt;circle cx='1000' cy='96' r='62' fill='#FFFFFF' stroke='#1E4FA8' strokeWidth='3' /&gt;&#10;            &lt;text x='1000' y='116' textAnchor='middle' fontSize='52' fontWeight='bold' fill='#0E3F8C'&gt;i&lt;/text&gt;&#10;            &lt;text x='1000' y='198' textAnchor='middle' fontSize='21' fontWeight='bold' fill='#1A2230'&gt;旋转&lt;/text&gt;&#10;            &lt;text x='1000' y='224' textAnchor='middle' fontSize='13' fill='#8B97A8'&gt;生成元：U(1)&lt;/text&gt;&#10;            &lt;text x='1000' y='260' textAnchor='middle' fontSize='20' fontWeight='bold' fill='#1E4FA8'&gt;∇ × 旋度&lt;/text&gt;&#10;            &lt;text x='1000' y='286' textAnchor='middle' fontSize='13' fill='#4A5568'&gt;守恒量：角动量&lt;/text&gt;&#10;&#10;            &lt;rect x='20' y='322' width='10' height='10' fill='#D9534F' /&gt;&#10;            &lt;text x='40' y='332' fontSize='13' fill='#D9534F'&gt;上述&quot;对称中心—算子—守恒量&quot;是拉格朗日框架下的启发式对应，其严格形式需逐例检验&lt;/text&gt;&#10;        &lt;/svg&gt;&#10;&#10;        &lt;Box style={{ flexDirection: 'row', alignItems: 'center', gap: 22, paddingLeft: 22, paddingRight: 22, paddingTop: 14, paddingBottom: 14, background: '#0E3F8C', borderRadius: 6 }}&gt;&#10;            &lt;Text style={{ fontSize: 40, fontWeight: 'bold', color: '#FFC107' }}&gt;1 条&lt;/Text&gt;&#10;            &lt;Box style={{ width: 1, height: 44, background: 'rgba(184,206,236,0.4)' }} /&gt;&#10;            &lt;Text style={{ flex: 1, fontSize: 16, color: '#DCE7F7', lineHeight: 1.65 }}&gt;&#10;                {`需要特别指出：散度与缩放的桥梁要经梅林变换的生成元 x·d/dx，比梯度—平移、旋度—旋转两条微妙得多——本书把它列为`}&#10;                &lt;span style={{ fontWeight: 'bold', color: '#FFFFFF' }}&gt;研究问题，而非已证定理&lt;/span&gt;&#10;                {`。`}&#10;            &lt;/Text&gt;&#10;        &lt;/Box&gt;&#10;    &lt;/Box&gt;&#10;&#10;    &lt;Box style={{ width: '100%', height: 34, paddingLeft: 40, paddingRight: 40, flexDirection: 'row', alignItems: 'center', justifyContent: 'space-between' }}&gt;&#10;        &lt;Text style={{ fontSize: 12, color: '#8B97A8' }}&gt;Periodicity Mathematics&lt;/Text&gt;&#10;        &lt;Text style={{ fontSize: 14, color: '#0E3F8C' }}&gt;07 / 22&lt;/Text&gt;&#10;    &lt;/Box&gt;&#10;&lt;/Slide&gt;&#10;"/>
        <p:cNvGrpSpPr/>
        <p:nvPr/>
      </p:nvGrpSpPr>
      <p:grpSpPr>
        <a:xfrm>
          <a:off x="0" y="0"/>
          <a:ext cx="0" cy="0"/>
          <a:chOff x="0" y="0"/>
          <a:chExt cx="0" cy="0"/>
        </a:xfrm>
      </p:grpSpPr>
      <p:sp>
        <p:nvSpPr>
          <p:cNvPr id="495" name="矩形 494"/>
          <p:cNvSpPr/>
          <p:nvPr/>
        </p:nvSpPr>
        <p:spPr>
          <a:xfrm>
            <a:off x="0" y="0"/>
            <a:ext cx="12192000" cy="6858000"/>
          </a:xfrm>
          <a:prstGeom prst="rect">
            <a:avLst/>
          </a:prstGeom>
          <a:solidFill>
            <a:srgbClr val="FFFFFF"/>
          </a:solidFill>
          <a:ln/>
        </p:spPr>
        <p:txBody>
          <a:bodyPr/>
          <a:lstStyle/>
          <a:p>
            <a:endParaRPr/>
          </a:p>
        </p:txBody>
      </p:sp>
      <p:sp>
        <p:nvSpPr>
          <p:cNvPr id="496" name="矩形 495"/>
          <p:cNvSpPr/>
          <p:nvPr/>
        </p:nvSpPr>
        <p:spPr>
          <a:xfrm>
            <a:off x="0" y="0"/>
            <a:ext cx="12192000" cy="76200"/>
          </a:xfrm>
          <a:prstGeom prst="rect">
            <a:avLst/>
          </a:prstGeom>
          <a:solidFill>
            <a:srgbClr val="1E4FA8"/>
          </a:solidFill>
          <a:ln/>
        </p:spPr>
        <p:txBody>
          <a:bodyPr/>
          <a:lstStyle/>
          <a:p>
            <a:endParaRPr/>
          </a:p>
        </p:txBody>
      </p:sp>
      <p:sp>
        <p:nvSpPr>
          <p:cNvPr id="497" name="任意多边形: 形状 496"/>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498" name="文本框 497"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499" name="文本框 498"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02 </a:t>
            </a:r>
            <a:r>
              <a:rPr lang="zh-CN" sz="1050" spc="75">
                <a:solidFill>
                  <a:srgbClr val="1E4FA8"/>
                </a:solidFill>
                <a:latin typeface="Microsoft YaHei"/>
                <a:ea typeface="Microsoft YaHei"/>
              </a:rPr>
              <a:t>核心理念与框架</a:t>
            </a:r>
            <a:endParaRPr/>
          </a:p>
        </p:txBody>
      </p:sp>
      <p:sp>
        <p:nvSpPr>
          <p:cNvPr id="500" name="文本框 499"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全部周期结构，都悬在三个不动点上</a:t>
            </a:r>
            <a:endParaRPr/>
          </a:p>
        </p:txBody>
      </p:sp>
      <p:sp>
        <p:nvSpPr>
          <p:cNvPr id="501" name="矩形: 圆角 500"/>
          <p:cNvSpPr/>
          <p:nvPr/>
        </p:nvSpPr>
        <p:spPr>
          <a:xfrm>
            <a:off x="419100" y="1352550"/>
            <a:ext cx="11430000" cy="381000"/>
          </a:xfrm>
          <a:prstGeom prst="roundRect">
            <a:avLst>
              <a:gd name="adj" fmla="val 10000"/>
            </a:avLst>
          </a:prstGeom>
          <a:solidFill>
            <a:srgbClr val="F0F5FC"/>
          </a:solidFill>
          <a:ln/>
        </p:spPr>
        <p:txBody>
          <a:bodyPr/>
          <a:lstStyle/>
          <a:p>
            <a:endParaRPr/>
          </a:p>
        </p:txBody>
      </p:sp>
      <p:sp>
        <p:nvSpPr>
          <p:cNvPr id="502" name="任意多边形: 形状 501"/>
          <p:cNvSpPr/>
          <p:nvPr/>
        </p:nvSpPr>
        <p:spPr>
          <a:xfrm>
            <a:off x="419100" y="1352550"/>
            <a:ext cx="11430000" cy="381000"/>
          </a:xfrm>
          <a:custGeom>
            <a:avLst/>
            <a:gdLst/>
            <a:ahLst/>
            <a:cxnLst/>
            <a:rect l="0" t="0" r="0" b="0"/>
            <a:pathLst>
              <a:path w="1200" h="40">
                <a:moveTo>
                  <a:pt x="4" y="40"/>
                </a:moveTo>
                <a:cubicBezTo>
                  <a:pt x="2" y="40"/>
                  <a:pt x="0" y="38"/>
                  <a:pt x="0" y="36"/>
                </a:cubicBezTo>
                <a:lnTo>
                  <a:pt x="0" y="4"/>
                </a:lnTo>
                <a:cubicBezTo>
                  <a:pt x="0" y="2"/>
                  <a:pt x="2" y="0"/>
                  <a:pt x="4" y="0"/>
                </a:cubicBezTo>
                <a:lnTo>
                  <a:pt x="4" y="40"/>
                </a:lnTo>
                <a:close/>
              </a:path>
            </a:pathLst>
          </a:custGeom>
          <a:solidFill>
            <a:srgbClr val="1E4FA8"/>
          </a:solidFill>
          <a:ln/>
        </p:spPr>
        <p:txBody>
          <a:bodyPr/>
          <a:lstStyle/>
          <a:p>
            <a:endParaRPr/>
          </a:p>
        </p:txBody>
      </p:sp>
      <p:sp>
        <p:nvSpPr>
          <p:cNvPr id="503" name="文本框 502" descr="{&quot;isTemplate&quot;:true,&quot;type&quot;:&quot;text&quot;}"/>
          <p:cNvSpPr txBox="1"/>
          <p:nvPr/>
        </p:nvSpPr>
        <p:spPr>
          <a:xfrm>
            <a:off x="590550" y="1447800"/>
            <a:ext cx="762000" cy="190500"/>
          </a:xfrm>
          <a:prstGeom prst="rect">
            <a:avLst/>
          </a:prstGeom>
        </p:spPr>
        <p:txBody>
          <a:bodyPr wrap="none" lIns="0" tIns="0" rIns="0" bIns="0"/>
          <a:lstStyle/>
          <a:p>
            <a:pPr>
              <a:lnSpc>
                <a:spcPct val="100000"/>
              </a:lnSpc>
            </a:pPr>
            <a:r>
              <a:rPr lang="zh-CN" sz="1200">
                <a:solidFill>
                  <a:srgbClr val="4A5568"/>
                </a:solidFill>
                <a:latin typeface="Microsoft YaHei"/>
                <a:ea typeface="Microsoft YaHei"/>
              </a:rPr>
              <a:t>引导问题：</a:t>
            </a:r>
            <a:endParaRPr/>
          </a:p>
        </p:txBody>
      </p:sp>
      <p:sp>
        <p:nvSpPr>
          <p:cNvPr id="504" name="文本框 503" descr="{&quot;isTemplate&quot;:true,&quot;type&quot;:&quot;text&quot;}"/>
          <p:cNvSpPr txBox="1"/>
          <p:nvPr/>
        </p:nvSpPr>
        <p:spPr>
          <a:xfrm>
            <a:off x="1466850" y="1447800"/>
            <a:ext cx="5648325" cy="190500"/>
          </a:xfrm>
          <a:prstGeom prst="rect">
            <a:avLst/>
          </a:prstGeom>
        </p:spPr>
        <p:txBody>
          <a:bodyPr wrap="none" lIns="0" tIns="0" rIns="0" bIns="0"/>
          <a:lstStyle/>
          <a:p>
            <a:pPr>
              <a:lnSpc>
                <a:spcPct val="100000"/>
              </a:lnSpc>
            </a:pPr>
            <a:r>
              <a:rPr lang="zh-CN" sz="1200" b="1">
                <a:solidFill>
                  <a:srgbClr val="0E3F8C"/>
                </a:solidFill>
                <a:latin typeface="Microsoft YaHei"/>
                <a:ea typeface="Microsoft YaHei"/>
              </a:rPr>
              <a:t>三种最基本的对称性，能不能各自找到一个</a:t>
            </a:r>
            <a:r>
              <a:rPr lang="en-US" sz="1200" b="1">
                <a:solidFill>
                  <a:srgbClr val="0E3F8C"/>
                </a:solidFill>
                <a:latin typeface="Microsoft YaHei"/>
                <a:ea typeface="Microsoft YaHei"/>
              </a:rPr>
              <a:t>"</a:t>
            </a:r>
            <a:r>
              <a:rPr lang="zh-CN" sz="1200" b="1">
                <a:solidFill>
                  <a:srgbClr val="0E3F8C"/>
                </a:solidFill>
                <a:latin typeface="Microsoft YaHei"/>
                <a:ea typeface="Microsoft YaHei"/>
              </a:rPr>
              <a:t>原点</a:t>
            </a:r>
            <a:r>
              <a:rPr lang="en-US" sz="1200" b="1">
                <a:solidFill>
                  <a:srgbClr val="0E3F8C"/>
                </a:solidFill>
                <a:latin typeface="Microsoft YaHei"/>
                <a:ea typeface="Microsoft YaHei"/>
              </a:rPr>
              <a:t>"</a:t>
            </a:r>
            <a:r>
              <a:rPr lang="zh-CN" sz="1200" b="1">
                <a:solidFill>
                  <a:srgbClr val="0E3F8C"/>
                </a:solidFill>
                <a:latin typeface="Microsoft YaHei"/>
                <a:ea typeface="Microsoft YaHei"/>
              </a:rPr>
              <a:t>，让全部周期结构有共同的支点？</a:t>
            </a:r>
            <a:endParaRPr/>
          </a:p>
        </p:txBody>
      </p:sp>
      <p:pic>
        <p:nvPicPr>
          <p:cNvPr id="505" name="图形 50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1905000"/>
            <a:ext cx="11430000" cy="3276600"/>
          </a:xfrm>
          <a:prstGeom prst="rect">
            <a:avLst/>
          </a:prstGeom>
          <a:ln/>
        </p:spPr>
      </p:pic>
      <p:sp>
        <p:nvSpPr>
          <p:cNvPr id="506" name="矩形: 圆角 505"/>
          <p:cNvSpPr/>
          <p:nvPr/>
        </p:nvSpPr>
        <p:spPr>
          <a:xfrm>
            <a:off x="322007" y="5353050"/>
            <a:ext cx="11430000" cy="723900"/>
          </a:xfrm>
          <a:prstGeom prst="roundRect">
            <a:avLst>
              <a:gd name="adj" fmla="val 7895"/>
            </a:avLst>
          </a:prstGeom>
          <a:solidFill>
            <a:srgbClr val="0E3F8C"/>
          </a:solidFill>
          <a:ln/>
        </p:spPr>
        <p:txBody>
          <a:bodyPr/>
          <a:lstStyle/>
          <a:p>
            <a:endParaRPr/>
          </a:p>
        </p:txBody>
      </p:sp>
      <p:sp>
        <p:nvSpPr>
          <p:cNvPr id="507" name="文本框 506" descr="{&quot;isTemplate&quot;:true,&quot;type&quot;:&quot;text&quot;}"/>
          <p:cNvSpPr txBox="1"/>
          <p:nvPr/>
        </p:nvSpPr>
        <p:spPr>
          <a:xfrm>
            <a:off x="590550" y="5486400"/>
            <a:ext cx="733425" cy="457200"/>
          </a:xfrm>
          <a:prstGeom prst="rect">
            <a:avLst/>
          </a:prstGeom>
        </p:spPr>
        <p:txBody>
          <a:bodyPr wrap="none" lIns="0" tIns="0" rIns="0" bIns="0"/>
          <a:lstStyle/>
          <a:p>
            <a:pPr>
              <a:lnSpc>
                <a:spcPct val="100000"/>
              </a:lnSpc>
            </a:pPr>
            <a:r>
              <a:rPr lang="en-US" sz="3000" b="1">
                <a:solidFill>
                  <a:srgbClr val="FFC107"/>
                </a:solidFill>
                <a:latin typeface="Microsoft YaHei"/>
                <a:ea typeface="Microsoft YaHei"/>
              </a:rPr>
              <a:t>1 </a:t>
            </a:r>
            <a:r>
              <a:rPr lang="zh-CN" sz="3000" b="1">
                <a:solidFill>
                  <a:srgbClr val="FFC107"/>
                </a:solidFill>
                <a:latin typeface="Microsoft YaHei"/>
                <a:ea typeface="Microsoft YaHei"/>
              </a:rPr>
              <a:t>条</a:t>
            </a:r>
            <a:endParaRPr/>
          </a:p>
        </p:txBody>
      </p:sp>
      <p:sp>
        <p:nvSpPr>
          <p:cNvPr id="508" name="矩形 507"/>
          <p:cNvSpPr/>
          <p:nvPr/>
        </p:nvSpPr>
        <p:spPr>
          <a:xfrm>
            <a:off x="1533525" y="5505450"/>
            <a:ext cx="9525" cy="419100"/>
          </a:xfrm>
          <a:prstGeom prst="rect">
            <a:avLst/>
          </a:prstGeom>
          <a:solidFill>
            <a:srgbClr val="B8CEEC">
              <a:alpha val="40000"/>
            </a:srgbClr>
          </a:solidFill>
          <a:ln/>
        </p:spPr>
        <p:txBody>
          <a:bodyPr/>
          <a:lstStyle/>
          <a:p>
            <a:endParaRPr/>
          </a:p>
        </p:txBody>
      </p:sp>
      <p:sp>
        <p:nvSpPr>
          <p:cNvPr id="509" name="文本框 508" descr="{&quot;isTemplate&quot;:true,&quot;type&quot;:&quot;text&quot;}"/>
          <p:cNvSpPr txBox="1"/>
          <p:nvPr/>
        </p:nvSpPr>
        <p:spPr>
          <a:xfrm>
            <a:off x="1723103" y="5443537"/>
            <a:ext cx="9848850" cy="304800"/>
          </a:xfrm>
          <a:prstGeom prst="rect">
            <a:avLst/>
          </a:prstGeom>
        </p:spPr>
        <p:txBody>
          <a:bodyPr wrap="none" lIns="0" tIns="0" rIns="0" bIns="0"/>
          <a:lstStyle/>
          <a:p>
            <a:pPr>
              <a:lnSpc>
                <a:spcPct val="165000"/>
              </a:lnSpc>
            </a:pPr>
            <a:r>
              <a:rPr lang="zh-CN" sz="1200" dirty="0">
                <a:solidFill>
                  <a:srgbClr val="DCE7F7"/>
                </a:solidFill>
                <a:latin typeface="Microsoft YaHei"/>
                <a:ea typeface="Microsoft YaHei"/>
              </a:rPr>
              <a:t>需要特别指出：散度与缩放的桥梁要经梅林变换的生成元</a:t>
            </a:r>
            <a:r>
              <a:rPr lang="en-US" sz="1200" dirty="0">
                <a:solidFill>
                  <a:srgbClr val="DCE7F7"/>
                </a:solidFill>
                <a:latin typeface="Microsoft YaHei"/>
                <a:ea typeface="Microsoft YaHei"/>
              </a:rPr>
              <a:t> </a:t>
            </a:r>
            <a:r>
              <a:rPr lang="en-US" sz="1200" dirty="0" err="1">
                <a:solidFill>
                  <a:srgbClr val="DCE7F7"/>
                </a:solidFill>
                <a:latin typeface="Microsoft YaHei"/>
                <a:ea typeface="Microsoft YaHei"/>
              </a:rPr>
              <a:t>x·d</a:t>
            </a:r>
            <a:r>
              <a:rPr lang="en-US" sz="1200" dirty="0">
                <a:solidFill>
                  <a:srgbClr val="DCE7F7"/>
                </a:solidFill>
                <a:latin typeface="Microsoft YaHei"/>
                <a:ea typeface="Microsoft YaHei"/>
              </a:rPr>
              <a:t>/dx</a:t>
            </a:r>
            <a:r>
              <a:rPr lang="zh-CN" sz="1200" dirty="0">
                <a:solidFill>
                  <a:srgbClr val="DCE7F7"/>
                </a:solidFill>
                <a:latin typeface="Microsoft YaHei"/>
                <a:ea typeface="Microsoft YaHei"/>
              </a:rPr>
              <a:t>，比梯度—平移、旋度—旋转两条微妙得多——本书把它列为</a:t>
            </a:r>
            <a:r>
              <a:rPr lang="zh-CN" sz="1200" b="1" dirty="0">
                <a:solidFill>
                  <a:srgbClr val="FFFFFF"/>
                </a:solidFill>
                <a:latin typeface="Microsoft YaHei"/>
                <a:ea typeface="Microsoft YaHei"/>
              </a:rPr>
              <a:t>研究问题，</a:t>
            </a:r>
            <a:endParaRPr lang="en-US" altLang="zh-CN" sz="1200" b="1" dirty="0">
              <a:solidFill>
                <a:srgbClr val="FFFFFF"/>
              </a:solidFill>
              <a:latin typeface="Microsoft YaHei"/>
              <a:ea typeface="Microsoft YaHei"/>
            </a:endParaRPr>
          </a:p>
          <a:p>
            <a:pPr>
              <a:lnSpc>
                <a:spcPct val="165000"/>
              </a:lnSpc>
            </a:pPr>
            <a:r>
              <a:rPr lang="zh-CN" sz="1200" b="1" dirty="0">
                <a:solidFill>
                  <a:srgbClr val="FFFFFF"/>
                </a:solidFill>
                <a:latin typeface="Microsoft YaHei"/>
                <a:ea typeface="Microsoft YaHei"/>
              </a:rPr>
              <a:t>而非已证定理</a:t>
            </a:r>
            <a:r>
              <a:rPr lang="zh-CN" sz="1200" dirty="0">
                <a:solidFill>
                  <a:srgbClr val="DCE7F7"/>
                </a:solidFill>
                <a:latin typeface="Microsoft YaHei"/>
                <a:ea typeface="Microsoft YaHei"/>
              </a:rPr>
              <a:t>。</a:t>
            </a:r>
            <a:endParaRPr dirty="0"/>
          </a:p>
        </p:txBody>
      </p:sp>
      <p:sp>
        <p:nvSpPr>
          <p:cNvPr id="510" name="文本框 509"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511" name="文本框 510"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07 / 22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2 核心理念与框架&lt;/Text&gt;&#10;    &lt;/Box&gt;&#10;&#10;    &lt;Box style={{ width: '100%', height: 78, paddingLeft: 40, paddingRight: 40, justifyContent: 'center' }}&gt;&#10;        &lt;Text style={{ fontSize: 32, fontWeight: 'bold', color: '#0E3F8C' }}&gt;平移、缩放、旋转：三个候选生成元，三条阅读主线&lt;/Text&gt;&#10;    &lt;/Box&gt;&#10;&#10;    &lt;Box style={{ width: '100%', flex: 1, flexDirection: 'row', gap: 26, paddingLeft: 40, paddingRight: 40, paddingBottom: 16 }}&gt;&#10;&#10;        &lt;Box style={{ width: 442, borderRadius: 6, background: '#F7F9FC', border: '1px solid #E5E7EB', justifyContent: 'center', alignItems: 'center' }}&gt;&#10;            &lt;svg width={414} height={504} viewBox='0 0 460 560'&gt;&#10;                &lt;text x='14' y='24' fontSize='15' fontWeight='bold' fill='#0E3F8C'&gt;平移 · 改变位置而不改变姿态&lt;/text&gt;&#10;                &lt;rect x='40' y='70' width='46' height='46' rx='4' fill='#E8EFF8' stroke='#3D7BD9' strokeWidth='2' /&gt;&#10;                &lt;rect x='160' y='70' width='46' height='46' rx='4' fill='#E8EFF8' stroke='#3D7BD9' strokeWidth='2' /&gt;&#10;                &lt;rect x='280' y='70' width='46' height='46' rx='4' fill='#E8EFF8' stroke='#3D7BD9' strokeWidth='2' /&gt;&#10;                &lt;path d='M92 93 L150 93' stroke='#3D7BD9' strokeWidth='2' fill='none' /&gt;&#10;                &lt;path d='M144 88 L154 93 L144 98 Z' fill='#3D7BD9' /&gt;&#10;                &lt;path d='M212 93 L270 93' stroke='#3D7BD9' strokeWidth='2' fill='none' /&gt;&#10;                &lt;path d='M264 88 L274 93 L264 98 Z' fill='#3D7BD9' /&gt;&#10;                &lt;line x1='40' y1='146' x2='330' y2='146' stroke='#D6DCE5' strokeWidth='1.5' strokeDasharray='5 5' /&gt;&#10;                &lt;text x='346' y='98' fontSize='13' fill='#8B97A8'&gt;x ↦ x + a&lt;/text&gt;&#10;                &lt;text x='346' y='120' fontSize='12' fill='#4A5568'&gt;守恒：动量&lt;/text&gt;&#10;&#10;                &lt;line x1='14' y1='176' x2='446' y2='176' stroke='#E5E7EB' strokeWidth='1.5' /&gt;&#10;&#10;                &lt;text x='14' y='212' fontSize='15' fontWeight='bold' fill='#0E3F8C'&gt;缩放 · 改变尺度而不改变形状&lt;/text&gt;&#10;                &lt;rect x='40' y='238' width='116' height='116' fill='none' stroke='#1E4FA8' strokeWidth='2' /&gt;&#10;                &lt;rect x='40' y='238' width='77' height='77' fill='none' stroke='#3D7BD9' strokeWidth='2' /&gt;&#10;                &lt;rect x='40' y='238' width='51' height='51' fill='none' stroke='#8FB4E8' strokeWidth='2' /&gt;&#10;                &lt;text x='190' y='278' fontSize='13' fill='#8B97A8'&gt;x ↦ λx&lt;/text&gt;&#10;                &lt;text x='190' y='300' fontSize='12' fill='#4A5568'&gt;自相似嵌套&lt;/text&gt;&#10;                &lt;text x='190' y='322' fontSize='12' fill='#4A5568'&gt;守恒：面积&lt;/text&gt;&#10;&#10;                &lt;line x1='14' y1='384' x2='446' y2='384' stroke='#E5E7EB' strokeWidth='1.5' /&gt;&#10;&#10;                &lt;text x='14' y='420' fontSize='15' fontWeight='bold' fill='#0E3F8C'&gt;旋转 · 改变姿态而不改变位置&lt;/text&gt;&#10;                &lt;circle cx='110' cy='496' r='62' fill='#FFFFFF' stroke='#1E4FA8' strokeWidth='2.5' /&gt;&#10;                &lt;circle cx='110' cy='496' r='4' fill='#0E3F8C' /&gt;&#10;                &lt;line x1='110' y1='496' x2='172' y2='496' stroke='#3D7BD9' strokeWidth='2' /&gt;&#10;                &lt;line x1='110' y1='496' x2='157.5' y2='456.1' stroke='#1E4FA8' strokeWidth='2' /&gt;&#10;                &lt;circle cx='172' cy='496' r='3.5' fill='#3D7BD9' /&gt;&#10;                &lt;circle cx='157.5' cy='456.1' r='3.5' fill='#1E4FA8' /&gt;&#10;                &lt;text x='196' y='470' fontSize='13' fill='#8B97A8'&gt;2πk / T&lt;/text&gt;&#10;                &lt;text x='196' y='492' fontSize='12' fill='#4A5568'&gt;相位单值&lt;/text&gt;&#10;                &lt;text x='196' y='514' fontSize='12' fill='#4A5568'&gt;守恒：角动量&lt;/text&gt;&#10;            &lt;/svg&gt;&#10;        &lt;/Box&gt;&#10;&#10;        &lt;Box style={{ flex: 1, flexDirection: 'column' }}&gt;&#10;&#10;            &lt;Text style={{ fontSize: 18, fontWeight: 'bold', color: '#0E3F8C', marginBottom: 10 }}&gt;为什么偏偏是这三个&lt;/Text&gt;&#10;            {[&#10;                ['代数层面', '分别对应三种最基本的连续群——加法群、乘法群与圆群'],&#10;                ['几何层面', '在欧氏与相似几何框架内，恰好穷尽了不改变系统内禀结构的连续变换'],&#10;                ['数系层面', '每一步数系扩张都引入新的逆运算：减法引入平移方向，除法引入比例方向，复根引入旋转方向'],&#10;            ].map((r, i) =&gt; (&#10;                &lt;Box key={i} style={{ flexDirection: 'row', alignItems: 'flex-start', gap: 12, marginBottom: 10 }}&gt;&#10;                    &lt;Box style={{ paddingLeft: 9, paddingRight: 9, paddingTop: 3, paddingBottom: 3, borderRadius: 3, background: '#E8EFF8' }}&gt;&#10;                        &lt;Text style={{ fontSize: 13, color: '#1E4FA8', fontWeight: 'bold' }}&gt;{r[0]}&lt;/Text&gt;&#10;                    &lt;/Box&gt;&#10;                    &lt;Text style={{ flex: 1, fontSize: 15, color: '#4A5568', lineHeight: 1.65 }}&gt;{r[1]}&lt;/Text&gt;&#10;                &lt;/Box&gt;&#10;            ))}&#10;&#10;            &lt;Box style={{ width: '100%', height: 1, background: '#D6DCE5', marginTop: 8, marginBottom: 14 }} /&gt;&#10;&#10;            &lt;Text style={{ fontSize: 18, fontWeight: 'bold', color: '#0E3F8C', marginBottom: 10 }}&gt;贯穿全书的三条主线&lt;/Text&gt;&#10;            {[&#10;                ['算子线', '梯度 ∇ → 旋度 ∇× → 散度 ∇·', '三种对称性的微分表达'],&#10;                ['数系线', 'ℕ → ℤ → ℚ → ℝ → ℂ → ℍ', '周期结构随数系扩张层层丰富'],&#10;                ['观察者线', '尺度 σ → 采样率 R → 不可见性判据', '谁在看，决定了什么可被数学化'],&#10;            ].map((r, i) =&gt; (&#10;                &lt;Box key={i} style={{ flexDirection: 'row', alignItems: 'center', gap: 12, paddingTop: 9, paddingBottom: 9, borderBottom: '1px solid #E5E7EB' }}&gt;&#10;                    &lt;Text style={{ fontSize: 15, fontWeight: 'bold', color: '#1A2230', width: 66 }}&gt;{r[0]}&lt;/Text&gt;&#10;                    &lt;Text style={{ fontSize: 15, color: '#1E4FA8', width: 250 }}&gt;{r[1]}&lt;/Text&gt;&#10;                    &lt;Text style={{ flex: 1, fontSize: 14, color: '#8B97A8' }}&gt;{r[2]}&lt;/Text&gt;&#10;                &lt;/Box&gt;&#10;            ))}&#10;&#10;            &lt;Box style={{ flex: 1 }} /&gt;&#10;            &lt;Box style={{ padding: 14, borderRadius: 6, background: '#F0F5FC', borderLeft: '4px solid #D9534F' }}&gt;&#10;                &lt;Text style={{ fontSize: 15, color: '#1A2230', lineHeight: 1.65 }}&gt;&#10;                    {`注意措辞：`}&#10;                    &lt;span style={{ fontWeight: 'bold', color: '#D9534F' }}&gt;「任何保持内禀结构的连续变换都可分解为三者复合」是研究纲领，不是已证定理&lt;/span&gt;&#10;                    {`——它的成立范围需要逐例限定。本书选此三者，是给出动机，不是宣布结论。`}&#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08 / 22&lt;/Text&gt;&#10;    &lt;/Box&gt;&#10;&lt;/Slide&gt;&#10;"/>
        <p:cNvGrpSpPr/>
        <p:nvPr/>
      </p:nvGrpSpPr>
      <p:grpSpPr>
        <a:xfrm>
          <a:off x="0" y="0"/>
          <a:ext cx="0" cy="0"/>
          <a:chOff x="0" y="0"/>
          <a:chExt cx="0" cy="0"/>
        </a:xfrm>
      </p:grpSpPr>
      <p:sp>
        <p:nvSpPr>
          <p:cNvPr id="513" name="矩形 512"/>
          <p:cNvSpPr/>
          <p:nvPr/>
        </p:nvSpPr>
        <p:spPr>
          <a:xfrm>
            <a:off x="0" y="0"/>
            <a:ext cx="12192000" cy="6858000"/>
          </a:xfrm>
          <a:prstGeom prst="rect">
            <a:avLst/>
          </a:prstGeom>
          <a:solidFill>
            <a:srgbClr val="FFFFFF"/>
          </a:solidFill>
          <a:ln/>
        </p:spPr>
        <p:txBody>
          <a:bodyPr/>
          <a:lstStyle/>
          <a:p>
            <a:endParaRPr/>
          </a:p>
        </p:txBody>
      </p:sp>
      <p:sp>
        <p:nvSpPr>
          <p:cNvPr id="514" name="矩形 513"/>
          <p:cNvSpPr/>
          <p:nvPr/>
        </p:nvSpPr>
        <p:spPr>
          <a:xfrm>
            <a:off x="0" y="0"/>
            <a:ext cx="12192000" cy="76200"/>
          </a:xfrm>
          <a:prstGeom prst="rect">
            <a:avLst/>
          </a:prstGeom>
          <a:solidFill>
            <a:srgbClr val="1E4FA8"/>
          </a:solidFill>
          <a:ln/>
        </p:spPr>
        <p:txBody>
          <a:bodyPr/>
          <a:lstStyle/>
          <a:p>
            <a:endParaRPr/>
          </a:p>
        </p:txBody>
      </p:sp>
      <p:sp>
        <p:nvSpPr>
          <p:cNvPr id="515" name="任意多边形: 形状 514"/>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516" name="文本框 515"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517" name="文本框 516"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02 </a:t>
            </a:r>
            <a:r>
              <a:rPr lang="zh-CN" sz="1050" spc="75">
                <a:solidFill>
                  <a:srgbClr val="1E4FA8"/>
                </a:solidFill>
                <a:latin typeface="Microsoft YaHei"/>
                <a:ea typeface="Microsoft YaHei"/>
              </a:rPr>
              <a:t>核心理念与框架</a:t>
            </a:r>
            <a:endParaRPr/>
          </a:p>
        </p:txBody>
      </p:sp>
      <p:sp>
        <p:nvSpPr>
          <p:cNvPr id="518" name="文本框 517"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平移、缩放、旋转：三个候选生成元，三条阅读主线</a:t>
            </a:r>
            <a:endParaRPr/>
          </a:p>
        </p:txBody>
      </p:sp>
      <p:sp>
        <p:nvSpPr>
          <p:cNvPr id="519" name="矩形: 圆角 518"/>
          <p:cNvSpPr/>
          <p:nvPr/>
        </p:nvSpPr>
        <p:spPr>
          <a:xfrm>
            <a:off x="381000" y="1352550"/>
            <a:ext cx="4210050" cy="5029200"/>
          </a:xfrm>
          <a:prstGeom prst="roundRect">
            <a:avLst>
              <a:gd name="adj" fmla="val 1357"/>
            </a:avLst>
          </a:prstGeom>
          <a:solidFill>
            <a:srgbClr val="F7F9FC"/>
          </a:solidFill>
          <a:ln w="12700">
            <a:solidFill>
              <a:srgbClr val="E5E7EB"/>
            </a:solidFill>
            <a:prstDash val="solid"/>
          </a:ln>
        </p:spPr>
        <p:txBody>
          <a:bodyPr/>
          <a:lstStyle/>
          <a:p>
            <a:endParaRPr/>
          </a:p>
        </p:txBody>
      </p:sp>
      <p:pic>
        <p:nvPicPr>
          <p:cNvPr id="520" name="图形 519"/>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4350" y="1466850"/>
            <a:ext cx="3943350" cy="4800600"/>
          </a:xfrm>
          <a:prstGeom prst="rect">
            <a:avLst/>
          </a:prstGeom>
          <a:ln/>
        </p:spPr>
      </p:pic>
      <p:sp>
        <p:nvSpPr>
          <p:cNvPr id="521" name="文本框 520" descr="{&quot;isTemplate&quot;:true,&quot;type&quot;:&quot;text&quot;}"/>
          <p:cNvSpPr txBox="1"/>
          <p:nvPr/>
        </p:nvSpPr>
        <p:spPr>
          <a:xfrm>
            <a:off x="4838700" y="1352550"/>
            <a:ext cx="6972300"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为什么偏偏是这三个</a:t>
            </a:r>
            <a:endParaRPr/>
          </a:p>
        </p:txBody>
      </p:sp>
      <p:sp>
        <p:nvSpPr>
          <p:cNvPr id="522" name="矩形: 圆角 521"/>
          <p:cNvSpPr/>
          <p:nvPr/>
        </p:nvSpPr>
        <p:spPr>
          <a:xfrm>
            <a:off x="4838700" y="1657350"/>
            <a:ext cx="666750" cy="209550"/>
          </a:xfrm>
          <a:prstGeom prst="roundRect">
            <a:avLst>
              <a:gd name="adj" fmla="val 13636"/>
            </a:avLst>
          </a:prstGeom>
          <a:solidFill>
            <a:srgbClr val="E8EFF8"/>
          </a:solidFill>
          <a:ln/>
        </p:spPr>
        <p:txBody>
          <a:bodyPr/>
          <a:lstStyle/>
          <a:p>
            <a:endParaRPr/>
          </a:p>
        </p:txBody>
      </p:sp>
      <p:sp>
        <p:nvSpPr>
          <p:cNvPr id="523" name="文本框 522" descr="{&quot;isTemplate&quot;:true,&quot;type&quot;:&quot;text&quot;}"/>
          <p:cNvSpPr txBox="1"/>
          <p:nvPr/>
        </p:nvSpPr>
        <p:spPr>
          <a:xfrm>
            <a:off x="4924425" y="1685925"/>
            <a:ext cx="495300" cy="152400"/>
          </a:xfrm>
          <a:prstGeom prst="rect">
            <a:avLst/>
          </a:prstGeom>
        </p:spPr>
        <p:txBody>
          <a:bodyPr wrap="none" lIns="0" tIns="0" rIns="0" bIns="0"/>
          <a:lstStyle/>
          <a:p>
            <a:pPr>
              <a:lnSpc>
                <a:spcPct val="100000"/>
              </a:lnSpc>
            </a:pPr>
            <a:r>
              <a:rPr lang="zh-CN" sz="975" b="1">
                <a:solidFill>
                  <a:srgbClr val="1E4FA8"/>
                </a:solidFill>
                <a:latin typeface="Microsoft YaHei"/>
                <a:ea typeface="Microsoft YaHei"/>
              </a:rPr>
              <a:t>代数层面</a:t>
            </a:r>
            <a:endParaRPr/>
          </a:p>
        </p:txBody>
      </p:sp>
      <p:sp>
        <p:nvSpPr>
          <p:cNvPr id="524" name="文本框 523" descr="{&quot;isTemplate&quot;:true,&quot;type&quot;:&quot;text&quot;}"/>
          <p:cNvSpPr txBox="1"/>
          <p:nvPr/>
        </p:nvSpPr>
        <p:spPr>
          <a:xfrm>
            <a:off x="5619750" y="1657350"/>
            <a:ext cx="6191250" cy="285750"/>
          </a:xfrm>
          <a:prstGeom prst="rect">
            <a:avLst/>
          </a:prstGeom>
        </p:spPr>
        <p:txBody>
          <a:bodyPr wrap="none" lIns="0" tIns="0" rIns="0" bIns="0"/>
          <a:lstStyle/>
          <a:p>
            <a:pPr>
              <a:lnSpc>
                <a:spcPct val="165000"/>
              </a:lnSpc>
            </a:pPr>
            <a:r>
              <a:rPr lang="zh-CN" sz="1125">
                <a:solidFill>
                  <a:srgbClr val="4A5568"/>
                </a:solidFill>
                <a:latin typeface="Microsoft YaHei"/>
                <a:ea typeface="Microsoft YaHei"/>
              </a:rPr>
              <a:t>分别对应三种最基本的连续群——加法群、乘法群与圆群</a:t>
            </a:r>
            <a:endParaRPr/>
          </a:p>
        </p:txBody>
      </p:sp>
      <p:sp>
        <p:nvSpPr>
          <p:cNvPr id="525" name="矩形: 圆角 524"/>
          <p:cNvSpPr/>
          <p:nvPr/>
        </p:nvSpPr>
        <p:spPr>
          <a:xfrm>
            <a:off x="4838700" y="2038350"/>
            <a:ext cx="666750" cy="209550"/>
          </a:xfrm>
          <a:prstGeom prst="roundRect">
            <a:avLst>
              <a:gd name="adj" fmla="val 13636"/>
            </a:avLst>
          </a:prstGeom>
          <a:solidFill>
            <a:srgbClr val="E8EFF8"/>
          </a:solidFill>
          <a:ln/>
        </p:spPr>
        <p:txBody>
          <a:bodyPr/>
          <a:lstStyle/>
          <a:p>
            <a:endParaRPr/>
          </a:p>
        </p:txBody>
      </p:sp>
      <p:sp>
        <p:nvSpPr>
          <p:cNvPr id="526" name="文本框 525" descr="{&quot;isTemplate&quot;:true,&quot;type&quot;:&quot;text&quot;}"/>
          <p:cNvSpPr txBox="1"/>
          <p:nvPr/>
        </p:nvSpPr>
        <p:spPr>
          <a:xfrm>
            <a:off x="4924425" y="2066925"/>
            <a:ext cx="495300" cy="152400"/>
          </a:xfrm>
          <a:prstGeom prst="rect">
            <a:avLst/>
          </a:prstGeom>
        </p:spPr>
        <p:txBody>
          <a:bodyPr wrap="none" lIns="0" tIns="0" rIns="0" bIns="0"/>
          <a:lstStyle/>
          <a:p>
            <a:pPr>
              <a:lnSpc>
                <a:spcPct val="100000"/>
              </a:lnSpc>
            </a:pPr>
            <a:r>
              <a:rPr lang="zh-CN" sz="975" b="1">
                <a:solidFill>
                  <a:srgbClr val="1E4FA8"/>
                </a:solidFill>
                <a:latin typeface="Microsoft YaHei"/>
                <a:ea typeface="Microsoft YaHei"/>
              </a:rPr>
              <a:t>几何层面</a:t>
            </a:r>
            <a:endParaRPr/>
          </a:p>
        </p:txBody>
      </p:sp>
      <p:sp>
        <p:nvSpPr>
          <p:cNvPr id="527" name="文本框 526" descr="{&quot;isTemplate&quot;:true,&quot;type&quot;:&quot;text&quot;}"/>
          <p:cNvSpPr txBox="1"/>
          <p:nvPr/>
        </p:nvSpPr>
        <p:spPr>
          <a:xfrm>
            <a:off x="5619750" y="2038350"/>
            <a:ext cx="6191250" cy="285750"/>
          </a:xfrm>
          <a:prstGeom prst="rect">
            <a:avLst/>
          </a:prstGeom>
        </p:spPr>
        <p:txBody>
          <a:bodyPr wrap="none" lIns="0" tIns="0" rIns="0" bIns="0"/>
          <a:lstStyle/>
          <a:p>
            <a:pPr>
              <a:lnSpc>
                <a:spcPct val="165000"/>
              </a:lnSpc>
            </a:pPr>
            <a:r>
              <a:rPr lang="zh-CN" sz="1125">
                <a:solidFill>
                  <a:srgbClr val="4A5568"/>
                </a:solidFill>
                <a:latin typeface="Microsoft YaHei"/>
                <a:ea typeface="Microsoft YaHei"/>
              </a:rPr>
              <a:t>在欧氏与相似几何框架内，恰好穷尽了不改变系统内禀结构的连续变换</a:t>
            </a:r>
            <a:endParaRPr/>
          </a:p>
        </p:txBody>
      </p:sp>
      <p:sp>
        <p:nvSpPr>
          <p:cNvPr id="528" name="矩形: 圆角 527"/>
          <p:cNvSpPr/>
          <p:nvPr/>
        </p:nvSpPr>
        <p:spPr>
          <a:xfrm>
            <a:off x="4838700" y="2419350"/>
            <a:ext cx="666750" cy="209550"/>
          </a:xfrm>
          <a:prstGeom prst="roundRect">
            <a:avLst>
              <a:gd name="adj" fmla="val 13636"/>
            </a:avLst>
          </a:prstGeom>
          <a:solidFill>
            <a:srgbClr val="E8EFF8"/>
          </a:solidFill>
          <a:ln/>
        </p:spPr>
        <p:txBody>
          <a:bodyPr/>
          <a:lstStyle/>
          <a:p>
            <a:endParaRPr/>
          </a:p>
        </p:txBody>
      </p:sp>
      <p:sp>
        <p:nvSpPr>
          <p:cNvPr id="529" name="文本框 528" descr="{&quot;isTemplate&quot;:true,&quot;type&quot;:&quot;text&quot;}"/>
          <p:cNvSpPr txBox="1"/>
          <p:nvPr/>
        </p:nvSpPr>
        <p:spPr>
          <a:xfrm>
            <a:off x="4924425" y="2447925"/>
            <a:ext cx="495300" cy="152400"/>
          </a:xfrm>
          <a:prstGeom prst="rect">
            <a:avLst/>
          </a:prstGeom>
        </p:spPr>
        <p:txBody>
          <a:bodyPr wrap="none" lIns="0" tIns="0" rIns="0" bIns="0"/>
          <a:lstStyle/>
          <a:p>
            <a:pPr>
              <a:lnSpc>
                <a:spcPct val="100000"/>
              </a:lnSpc>
            </a:pPr>
            <a:r>
              <a:rPr lang="zh-CN" sz="975" b="1">
                <a:solidFill>
                  <a:srgbClr val="1E4FA8"/>
                </a:solidFill>
                <a:latin typeface="Microsoft YaHei"/>
                <a:ea typeface="Microsoft YaHei"/>
              </a:rPr>
              <a:t>数系层面</a:t>
            </a:r>
            <a:endParaRPr/>
          </a:p>
        </p:txBody>
      </p:sp>
      <p:sp>
        <p:nvSpPr>
          <p:cNvPr id="530" name="文本框 529" descr="{&quot;isTemplate&quot;:true,&quot;type&quot;:&quot;text&quot;}"/>
          <p:cNvSpPr txBox="1"/>
          <p:nvPr/>
        </p:nvSpPr>
        <p:spPr>
          <a:xfrm>
            <a:off x="5619750" y="2419350"/>
            <a:ext cx="6191250" cy="285750"/>
          </a:xfrm>
          <a:prstGeom prst="rect">
            <a:avLst/>
          </a:prstGeom>
        </p:spPr>
        <p:txBody>
          <a:bodyPr wrap="none" lIns="0" tIns="0" rIns="0" bIns="0"/>
          <a:lstStyle/>
          <a:p>
            <a:pPr>
              <a:lnSpc>
                <a:spcPct val="165000"/>
              </a:lnSpc>
            </a:pPr>
            <a:r>
              <a:rPr lang="zh-CN" sz="1125">
                <a:solidFill>
                  <a:srgbClr val="4A5568"/>
                </a:solidFill>
                <a:latin typeface="Microsoft YaHei"/>
                <a:ea typeface="Microsoft YaHei"/>
              </a:rPr>
              <a:t>每一步数系扩张都引入新的逆运算：减法引入平移方向，除法引入比例方向，复根引入旋转方向</a:t>
            </a:r>
            <a:endParaRPr/>
          </a:p>
        </p:txBody>
      </p:sp>
      <p:sp>
        <p:nvSpPr>
          <p:cNvPr id="531" name="矩形 530"/>
          <p:cNvSpPr/>
          <p:nvPr/>
        </p:nvSpPr>
        <p:spPr>
          <a:xfrm>
            <a:off x="4838700" y="2876550"/>
            <a:ext cx="6972300" cy="9525"/>
          </a:xfrm>
          <a:prstGeom prst="rect">
            <a:avLst/>
          </a:prstGeom>
          <a:solidFill>
            <a:srgbClr val="D6DCE5"/>
          </a:solidFill>
          <a:ln/>
        </p:spPr>
        <p:txBody>
          <a:bodyPr/>
          <a:lstStyle/>
          <a:p>
            <a:endParaRPr/>
          </a:p>
        </p:txBody>
      </p:sp>
      <p:sp>
        <p:nvSpPr>
          <p:cNvPr id="532" name="文本框 531" descr="{&quot;isTemplate&quot;:true,&quot;type&quot;:&quot;text&quot;}"/>
          <p:cNvSpPr txBox="1"/>
          <p:nvPr/>
        </p:nvSpPr>
        <p:spPr>
          <a:xfrm>
            <a:off x="4838700" y="3019425"/>
            <a:ext cx="6972300"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贯穿全书的三条主线</a:t>
            </a:r>
            <a:endParaRPr/>
          </a:p>
        </p:txBody>
      </p:sp>
      <p:sp>
        <p:nvSpPr>
          <p:cNvPr id="533" name="任意多边形: 形状 532"/>
          <p:cNvSpPr/>
          <p:nvPr/>
        </p:nvSpPr>
        <p:spPr>
          <a:xfrm>
            <a:off x="4838700" y="3324225"/>
            <a:ext cx="6972300" cy="361950"/>
          </a:xfrm>
          <a:custGeom>
            <a:avLst/>
            <a:gdLst/>
            <a:ahLst/>
            <a:cxnLst/>
            <a:rect l="0" t="0" r="0" b="0"/>
            <a:pathLst>
              <a:path w="732" h="38">
                <a:moveTo>
                  <a:pt x="0" y="37"/>
                </a:moveTo>
                <a:lnTo>
                  <a:pt x="732" y="37"/>
                </a:lnTo>
                <a:lnTo>
                  <a:pt x="732" y="38"/>
                </a:lnTo>
                <a:lnTo>
                  <a:pt x="0" y="38"/>
                </a:lnTo>
                <a:close/>
              </a:path>
            </a:pathLst>
          </a:custGeom>
          <a:solidFill>
            <a:srgbClr val="E5E7EB"/>
          </a:solidFill>
          <a:ln/>
        </p:spPr>
        <p:txBody>
          <a:bodyPr/>
          <a:lstStyle/>
          <a:p>
            <a:endParaRPr/>
          </a:p>
        </p:txBody>
      </p:sp>
      <p:sp>
        <p:nvSpPr>
          <p:cNvPr id="534" name="文本框 533" descr="{&quot;isTemplate&quot;:true,&quot;type&quot;:&quot;text&quot;}"/>
          <p:cNvSpPr txBox="1"/>
          <p:nvPr/>
        </p:nvSpPr>
        <p:spPr>
          <a:xfrm>
            <a:off x="4838700" y="3409950"/>
            <a:ext cx="628650" cy="171450"/>
          </a:xfrm>
          <a:prstGeom prst="rect">
            <a:avLst/>
          </a:prstGeom>
        </p:spPr>
        <p:txBody>
          <a:bodyPr wrap="none" lIns="0" tIns="0" rIns="0" bIns="0"/>
          <a:lstStyle/>
          <a:p>
            <a:pPr>
              <a:lnSpc>
                <a:spcPct val="100000"/>
              </a:lnSpc>
            </a:pPr>
            <a:r>
              <a:rPr lang="zh-CN" sz="1125" b="1">
                <a:solidFill>
                  <a:srgbClr val="1A2230"/>
                </a:solidFill>
                <a:latin typeface="Microsoft YaHei"/>
                <a:ea typeface="Microsoft YaHei"/>
              </a:rPr>
              <a:t>算子线</a:t>
            </a:r>
            <a:endParaRPr/>
          </a:p>
        </p:txBody>
      </p:sp>
      <p:sp>
        <p:nvSpPr>
          <p:cNvPr id="535" name="文本框 534" descr="{&quot;isTemplate&quot;:true,&quot;type&quot;:&quot;text&quot;}"/>
          <p:cNvSpPr txBox="1"/>
          <p:nvPr/>
        </p:nvSpPr>
        <p:spPr>
          <a:xfrm>
            <a:off x="5581650" y="3409950"/>
            <a:ext cx="2381250" cy="171450"/>
          </a:xfrm>
          <a:prstGeom prst="rect">
            <a:avLst/>
          </a:prstGeom>
        </p:spPr>
        <p:txBody>
          <a:bodyPr wrap="none" lIns="0" tIns="0" rIns="0" bIns="0"/>
          <a:lstStyle/>
          <a:p>
            <a:pPr>
              <a:lnSpc>
                <a:spcPct val="100000"/>
              </a:lnSpc>
            </a:pPr>
            <a:r>
              <a:rPr lang="zh-CN" sz="1125">
                <a:solidFill>
                  <a:srgbClr val="1E4FA8"/>
                </a:solidFill>
                <a:latin typeface="Microsoft YaHei"/>
                <a:ea typeface="Microsoft YaHei"/>
              </a:rPr>
              <a:t>梯度</a:t>
            </a:r>
            <a:r>
              <a:rPr lang="en-US" sz="1125">
                <a:solidFill>
                  <a:srgbClr val="1E4FA8"/>
                </a:solidFill>
                <a:latin typeface="Microsoft YaHei"/>
                <a:ea typeface="Microsoft YaHei"/>
              </a:rPr>
              <a:t> ∇ → </a:t>
            </a:r>
            <a:r>
              <a:rPr lang="zh-CN" sz="1125">
                <a:solidFill>
                  <a:srgbClr val="1E4FA8"/>
                </a:solidFill>
                <a:latin typeface="Microsoft YaHei"/>
                <a:ea typeface="Microsoft YaHei"/>
              </a:rPr>
              <a:t>旋度</a:t>
            </a:r>
            <a:r>
              <a:rPr lang="en-US" sz="1125">
                <a:solidFill>
                  <a:srgbClr val="1E4FA8"/>
                </a:solidFill>
                <a:latin typeface="Microsoft YaHei"/>
                <a:ea typeface="Microsoft YaHei"/>
              </a:rPr>
              <a:t> ∇× → </a:t>
            </a:r>
            <a:r>
              <a:rPr lang="zh-CN" sz="1125">
                <a:solidFill>
                  <a:srgbClr val="1E4FA8"/>
                </a:solidFill>
                <a:latin typeface="Microsoft YaHei"/>
                <a:ea typeface="Microsoft YaHei"/>
              </a:rPr>
              <a:t>散度</a:t>
            </a:r>
            <a:r>
              <a:rPr lang="en-US" sz="1125">
                <a:solidFill>
                  <a:srgbClr val="1E4FA8"/>
                </a:solidFill>
                <a:latin typeface="Microsoft YaHei"/>
                <a:ea typeface="Microsoft YaHei"/>
              </a:rPr>
              <a:t> ∇·</a:t>
            </a:r>
            <a:endParaRPr/>
          </a:p>
        </p:txBody>
      </p:sp>
      <p:sp>
        <p:nvSpPr>
          <p:cNvPr id="536" name="文本框 535" descr="{&quot;isTemplate&quot;:true,&quot;type&quot;:&quot;text&quot;}"/>
          <p:cNvSpPr txBox="1"/>
          <p:nvPr/>
        </p:nvSpPr>
        <p:spPr>
          <a:xfrm>
            <a:off x="8077200" y="3419475"/>
            <a:ext cx="373380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三种对称性的微分表达</a:t>
            </a:r>
            <a:endParaRPr/>
          </a:p>
        </p:txBody>
      </p:sp>
      <p:sp>
        <p:nvSpPr>
          <p:cNvPr id="537" name="任意多边形: 形状 536"/>
          <p:cNvSpPr/>
          <p:nvPr/>
        </p:nvSpPr>
        <p:spPr>
          <a:xfrm>
            <a:off x="4838700" y="3676650"/>
            <a:ext cx="6972300" cy="361950"/>
          </a:xfrm>
          <a:custGeom>
            <a:avLst/>
            <a:gdLst/>
            <a:ahLst/>
            <a:cxnLst/>
            <a:rect l="0" t="0" r="0" b="0"/>
            <a:pathLst>
              <a:path w="732" h="38">
                <a:moveTo>
                  <a:pt x="0" y="37"/>
                </a:moveTo>
                <a:lnTo>
                  <a:pt x="732" y="37"/>
                </a:lnTo>
                <a:lnTo>
                  <a:pt x="732" y="38"/>
                </a:lnTo>
                <a:lnTo>
                  <a:pt x="0" y="38"/>
                </a:lnTo>
                <a:close/>
              </a:path>
            </a:pathLst>
          </a:custGeom>
          <a:solidFill>
            <a:srgbClr val="E5E7EB"/>
          </a:solidFill>
          <a:ln/>
        </p:spPr>
        <p:txBody>
          <a:bodyPr/>
          <a:lstStyle/>
          <a:p>
            <a:endParaRPr/>
          </a:p>
        </p:txBody>
      </p:sp>
      <p:sp>
        <p:nvSpPr>
          <p:cNvPr id="538" name="文本框 537" descr="{&quot;isTemplate&quot;:true,&quot;type&quot;:&quot;text&quot;}"/>
          <p:cNvSpPr txBox="1"/>
          <p:nvPr/>
        </p:nvSpPr>
        <p:spPr>
          <a:xfrm>
            <a:off x="4838700" y="3762375"/>
            <a:ext cx="628650" cy="171450"/>
          </a:xfrm>
          <a:prstGeom prst="rect">
            <a:avLst/>
          </a:prstGeom>
        </p:spPr>
        <p:txBody>
          <a:bodyPr wrap="none" lIns="0" tIns="0" rIns="0" bIns="0"/>
          <a:lstStyle/>
          <a:p>
            <a:pPr>
              <a:lnSpc>
                <a:spcPct val="100000"/>
              </a:lnSpc>
            </a:pPr>
            <a:r>
              <a:rPr lang="zh-CN" sz="1125" b="1">
                <a:solidFill>
                  <a:srgbClr val="1A2230"/>
                </a:solidFill>
                <a:latin typeface="Microsoft YaHei"/>
                <a:ea typeface="Microsoft YaHei"/>
              </a:rPr>
              <a:t>数系线</a:t>
            </a:r>
            <a:endParaRPr/>
          </a:p>
        </p:txBody>
      </p:sp>
      <p:sp>
        <p:nvSpPr>
          <p:cNvPr id="539" name="文本框 538" descr="{&quot;isTemplate&quot;:true,&quot;type&quot;:&quot;text&quot;}"/>
          <p:cNvSpPr txBox="1"/>
          <p:nvPr/>
        </p:nvSpPr>
        <p:spPr>
          <a:xfrm>
            <a:off x="5581650" y="3762375"/>
            <a:ext cx="2381250" cy="171450"/>
          </a:xfrm>
          <a:prstGeom prst="rect">
            <a:avLst/>
          </a:prstGeom>
        </p:spPr>
        <p:txBody>
          <a:bodyPr wrap="none" lIns="0" tIns="0" rIns="0" bIns="0"/>
          <a:lstStyle/>
          <a:p>
            <a:pPr>
              <a:lnSpc>
                <a:spcPct val="100000"/>
              </a:lnSpc>
            </a:pPr>
            <a:r>
              <a:rPr lang="en-US" sz="1125">
                <a:solidFill>
                  <a:srgbClr val="1E4FA8"/>
                </a:solidFill>
                <a:latin typeface="Microsoft YaHei"/>
                <a:ea typeface="Microsoft YaHei"/>
              </a:rPr>
              <a:t>ℕ → ℤ → ℚ → ℝ → ℂ → ℍ</a:t>
            </a:r>
            <a:endParaRPr/>
          </a:p>
        </p:txBody>
      </p:sp>
      <p:sp>
        <p:nvSpPr>
          <p:cNvPr id="540" name="文本框 539" descr="{&quot;isTemplate&quot;:true,&quot;type&quot;:&quot;text&quot;}"/>
          <p:cNvSpPr txBox="1"/>
          <p:nvPr/>
        </p:nvSpPr>
        <p:spPr>
          <a:xfrm>
            <a:off x="8077200" y="3771900"/>
            <a:ext cx="373380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周期结构随数系扩张层层丰富</a:t>
            </a:r>
            <a:endParaRPr/>
          </a:p>
        </p:txBody>
      </p:sp>
      <p:sp>
        <p:nvSpPr>
          <p:cNvPr id="541" name="任意多边形: 形状 540"/>
          <p:cNvSpPr/>
          <p:nvPr/>
        </p:nvSpPr>
        <p:spPr>
          <a:xfrm>
            <a:off x="4838700" y="4029075"/>
            <a:ext cx="6972300" cy="361950"/>
          </a:xfrm>
          <a:custGeom>
            <a:avLst/>
            <a:gdLst/>
            <a:ahLst/>
            <a:cxnLst/>
            <a:rect l="0" t="0" r="0" b="0"/>
            <a:pathLst>
              <a:path w="732" h="38">
                <a:moveTo>
                  <a:pt x="0" y="37"/>
                </a:moveTo>
                <a:lnTo>
                  <a:pt x="732" y="37"/>
                </a:lnTo>
                <a:lnTo>
                  <a:pt x="732" y="38"/>
                </a:lnTo>
                <a:lnTo>
                  <a:pt x="0" y="38"/>
                </a:lnTo>
                <a:close/>
              </a:path>
            </a:pathLst>
          </a:custGeom>
          <a:solidFill>
            <a:srgbClr val="E5E7EB"/>
          </a:solidFill>
          <a:ln/>
        </p:spPr>
        <p:txBody>
          <a:bodyPr/>
          <a:lstStyle/>
          <a:p>
            <a:endParaRPr/>
          </a:p>
        </p:txBody>
      </p:sp>
      <p:sp>
        <p:nvSpPr>
          <p:cNvPr id="542" name="文本框 541" descr="{&quot;isTemplate&quot;:true,&quot;type&quot;:&quot;text&quot;}"/>
          <p:cNvSpPr txBox="1"/>
          <p:nvPr/>
        </p:nvSpPr>
        <p:spPr>
          <a:xfrm>
            <a:off x="4838700" y="4114800"/>
            <a:ext cx="628650" cy="171450"/>
          </a:xfrm>
          <a:prstGeom prst="rect">
            <a:avLst/>
          </a:prstGeom>
        </p:spPr>
        <p:txBody>
          <a:bodyPr wrap="none" lIns="0" tIns="0" rIns="0" bIns="0"/>
          <a:lstStyle/>
          <a:p>
            <a:pPr>
              <a:lnSpc>
                <a:spcPct val="100000"/>
              </a:lnSpc>
            </a:pPr>
            <a:r>
              <a:rPr lang="zh-CN" sz="1125" b="1">
                <a:solidFill>
                  <a:srgbClr val="1A2230"/>
                </a:solidFill>
                <a:latin typeface="Microsoft YaHei"/>
                <a:ea typeface="Microsoft YaHei"/>
              </a:rPr>
              <a:t>观察者线</a:t>
            </a:r>
            <a:endParaRPr/>
          </a:p>
        </p:txBody>
      </p:sp>
      <p:sp>
        <p:nvSpPr>
          <p:cNvPr id="543" name="文本框 542" descr="{&quot;isTemplate&quot;:true,&quot;type&quot;:&quot;text&quot;}"/>
          <p:cNvSpPr txBox="1"/>
          <p:nvPr/>
        </p:nvSpPr>
        <p:spPr>
          <a:xfrm>
            <a:off x="5581650" y="4114800"/>
            <a:ext cx="2381250" cy="171450"/>
          </a:xfrm>
          <a:prstGeom prst="rect">
            <a:avLst/>
          </a:prstGeom>
        </p:spPr>
        <p:txBody>
          <a:bodyPr wrap="none" lIns="0" tIns="0" rIns="0" bIns="0"/>
          <a:lstStyle/>
          <a:p>
            <a:pPr>
              <a:lnSpc>
                <a:spcPct val="100000"/>
              </a:lnSpc>
            </a:pPr>
            <a:r>
              <a:rPr lang="zh-CN" sz="1125">
                <a:solidFill>
                  <a:srgbClr val="1E4FA8"/>
                </a:solidFill>
                <a:latin typeface="Microsoft YaHei"/>
                <a:ea typeface="Microsoft YaHei"/>
              </a:rPr>
              <a:t>尺度</a:t>
            </a:r>
            <a:r>
              <a:rPr lang="en-US" sz="1125">
                <a:solidFill>
                  <a:srgbClr val="1E4FA8"/>
                </a:solidFill>
                <a:latin typeface="Microsoft YaHei"/>
                <a:ea typeface="Microsoft YaHei"/>
              </a:rPr>
              <a:t> σ → </a:t>
            </a:r>
            <a:r>
              <a:rPr lang="zh-CN" sz="1125">
                <a:solidFill>
                  <a:srgbClr val="1E4FA8"/>
                </a:solidFill>
                <a:latin typeface="Microsoft YaHei"/>
                <a:ea typeface="Microsoft YaHei"/>
              </a:rPr>
              <a:t>采样率</a:t>
            </a:r>
            <a:r>
              <a:rPr lang="en-US" sz="1125">
                <a:solidFill>
                  <a:srgbClr val="1E4FA8"/>
                </a:solidFill>
                <a:latin typeface="Microsoft YaHei"/>
                <a:ea typeface="Microsoft YaHei"/>
              </a:rPr>
              <a:t> R → </a:t>
            </a:r>
            <a:r>
              <a:rPr lang="zh-CN" sz="1125">
                <a:solidFill>
                  <a:srgbClr val="1E4FA8"/>
                </a:solidFill>
                <a:latin typeface="Microsoft YaHei"/>
                <a:ea typeface="Microsoft YaHei"/>
              </a:rPr>
              <a:t>不可见性判据</a:t>
            </a:r>
            <a:endParaRPr/>
          </a:p>
        </p:txBody>
      </p:sp>
      <p:sp>
        <p:nvSpPr>
          <p:cNvPr id="544" name="文本框 543" descr="{&quot;isTemplate&quot;:true,&quot;type&quot;:&quot;text&quot;}"/>
          <p:cNvSpPr txBox="1"/>
          <p:nvPr/>
        </p:nvSpPr>
        <p:spPr>
          <a:xfrm>
            <a:off x="8077200" y="4124325"/>
            <a:ext cx="373380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谁在看，决定了什么可被数学化</a:t>
            </a:r>
            <a:endParaRPr/>
          </a:p>
        </p:txBody>
      </p:sp>
      <p:sp>
        <p:nvSpPr>
          <p:cNvPr id="545" name="矩形: 圆角 544"/>
          <p:cNvSpPr/>
          <p:nvPr/>
        </p:nvSpPr>
        <p:spPr>
          <a:xfrm>
            <a:off x="4876800" y="5543550"/>
            <a:ext cx="6972300" cy="838200"/>
          </a:xfrm>
          <a:prstGeom prst="roundRect">
            <a:avLst>
              <a:gd name="adj" fmla="val 6818"/>
            </a:avLst>
          </a:prstGeom>
          <a:solidFill>
            <a:srgbClr val="F0F5FC"/>
          </a:solidFill>
          <a:ln/>
        </p:spPr>
        <p:txBody>
          <a:bodyPr/>
          <a:lstStyle/>
          <a:p>
            <a:endParaRPr/>
          </a:p>
        </p:txBody>
      </p:sp>
      <p:sp>
        <p:nvSpPr>
          <p:cNvPr id="546" name="任意多边形: 形状 545"/>
          <p:cNvSpPr/>
          <p:nvPr/>
        </p:nvSpPr>
        <p:spPr>
          <a:xfrm>
            <a:off x="4876800" y="5543550"/>
            <a:ext cx="6972300" cy="838200"/>
          </a:xfrm>
          <a:custGeom>
            <a:avLst/>
            <a:gdLst/>
            <a:ahLst/>
            <a:cxnLst/>
            <a:rect l="0" t="0" r="0" b="0"/>
            <a:pathLst>
              <a:path w="732" h="88">
                <a:moveTo>
                  <a:pt x="6" y="0"/>
                </a:moveTo>
                <a:cubicBezTo>
                  <a:pt x="5" y="0"/>
                  <a:pt x="4" y="1"/>
                  <a:pt x="4" y="2"/>
                </a:cubicBezTo>
                <a:lnTo>
                  <a:pt x="4" y="86"/>
                </a:lnTo>
                <a:cubicBezTo>
                  <a:pt x="4" y="87"/>
                  <a:pt x="5" y="88"/>
                  <a:pt x="6" y="88"/>
                </a:cubicBezTo>
                <a:cubicBezTo>
                  <a:pt x="3" y="88"/>
                  <a:pt x="0" y="85"/>
                  <a:pt x="0" y="82"/>
                </a:cubicBezTo>
                <a:lnTo>
                  <a:pt x="0" y="6"/>
                </a:lnTo>
                <a:cubicBezTo>
                  <a:pt x="0" y="3"/>
                  <a:pt x="3" y="0"/>
                  <a:pt x="6" y="0"/>
                </a:cubicBezTo>
                <a:close/>
              </a:path>
            </a:pathLst>
          </a:custGeom>
          <a:solidFill>
            <a:srgbClr val="D9534F"/>
          </a:solidFill>
          <a:ln/>
        </p:spPr>
        <p:txBody>
          <a:bodyPr/>
          <a:lstStyle/>
          <a:p>
            <a:endParaRPr/>
          </a:p>
        </p:txBody>
      </p:sp>
      <p:sp>
        <p:nvSpPr>
          <p:cNvPr id="547" name="文本框 546" descr="{&quot;isTemplate&quot;:true,&quot;type&quot;:&quot;text&quot;}"/>
          <p:cNvSpPr txBox="1"/>
          <p:nvPr/>
        </p:nvSpPr>
        <p:spPr>
          <a:xfrm>
            <a:off x="5010150" y="5676900"/>
            <a:ext cx="6667500" cy="571500"/>
          </a:xfrm>
          <a:prstGeom prst="rect">
            <a:avLst/>
          </a:prstGeom>
        </p:spPr>
        <p:txBody>
          <a:bodyPr wrap="square" lIns="0" tIns="0" rIns="0" bIns="0">
            <a:normAutofit fontScale="77500" lnSpcReduction="20000"/>
          </a:bodyPr>
          <a:lstStyle/>
          <a:p>
            <a:pPr>
              <a:lnSpc>
                <a:spcPct val="165000"/>
              </a:lnSpc>
            </a:pPr>
            <a:r>
              <a:rPr lang="zh-CN" sz="1125">
                <a:solidFill>
                  <a:srgbClr val="1A2230"/>
                </a:solidFill>
                <a:latin typeface="Microsoft YaHei"/>
                <a:ea typeface="Microsoft YaHei"/>
              </a:rPr>
              <a:t>注意措辞：</a:t>
            </a:r>
            <a:r>
              <a:rPr lang="zh-CN" sz="1125" b="1">
                <a:solidFill>
                  <a:srgbClr val="D9534F"/>
                </a:solidFill>
                <a:latin typeface="Microsoft YaHei"/>
                <a:ea typeface="Microsoft YaHei"/>
              </a:rPr>
              <a:t>「任何保持内禀结构的连续变换都可分解为三者复合」在复平面单参数保角变换族框架内已由第一章 §1.8 严格证明（完备性定理）</a:t>
            </a:r>
            <a:r>
              <a:rPr lang="zh-CN" sz="1125">
                <a:solidFill>
                  <a:srgbClr val="1A2230"/>
                </a:solidFill>
                <a:latin typeface="Microsoft YaHei"/>
                <a:ea typeface="Microsoft YaHei"/>
              </a:rPr>
              <a:t>——本书未主张的只是把它推广到“任意内禀结构的任意连续变换群”（见引言「本书不主张什么」）。</a:t>
            </a:r>
            <a:endParaRPr/>
          </a:p>
        </p:txBody>
      </p:sp>
      <p:sp>
        <p:nvSpPr>
          <p:cNvPr id="548" name="文本框 547"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549" name="文本框 548"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08 / 22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2 核心理念与框架&lt;/Text&gt;&#10;    &lt;/Box&gt;&#10;&#10;    &lt;Box style={{ width: '100%', height: 78, paddingLeft: 40, paddingRight: 40, justifyContent: 'center' }}&gt;&#10;        &lt;Text style={{ fontSize: 32, fontWeight: 'bold', color: '#0E3F8C' }}&gt;它不宣称&quot;一切皆周期&quot;，它提供的是诊断&lt;/Text&gt;&#10;    &lt;/Box&gt;&#10;&#10;    &lt;Box style={{ width: '100%', flex: 1, flexDirection: 'row', gap: 26, paddingLeft: 40, paddingRight: 40, paddingBottom: 16 }}&gt;&#10;&#10;        &lt;Box style={{ width: 396, borderRadius: 6, background: '#0E3F8C', padding: 26, flexDirection: 'column' }}&gt;&#10;            &lt;Text style={{ fontSize: 12, color: '#8FB4E8', letterSpacing: 3 }}&gt;DEFINITION · 工作定义&lt;/Text&gt;&#10;            &lt;Box style={{ width: 44, height: 4, background: '#FFC107', marginTop: 12, marginBottom: 18 }} /&gt;&#10;            &lt;Text style={{ fontSize: 15, color: '#DCE7F7', lineHeight: 1.9 }}&gt;&#10;                {`周期数学以`}&#10;                &lt;span style={{ color: '#FFFFFF', fontWeight: 'bold' }}&gt;群作用生成的对称结构&lt;/span&gt;&#10;                {`为统一语言，以`}&#10;                &lt;span style={{ color: '#FFFFFF', fontWeight: 'bold' }}&gt;平移、缩放、旋转&lt;/span&gt;&#10;                {`为基本生成变换的候选分类，以`}&#10;                &lt;span style={{ color: '#FFFFFF', fontWeight: 'bold' }}&gt;闭合轨道&lt;/span&gt;&#10;                {`为核心几何图像，尝试对不同学科中的周期与分形结构进行统一的数学描述。`}&#10;            &lt;/Text&gt;&#10;            &lt;Text style={{ fontSize: 15, color: '#B8CEEC', lineHeight: 1.9, marginTop: 16 }}&gt;&#10;                {`它的研究对象，是具有状态空间、演化规则与对称结构的系统。`}&#10;            &lt;/Text&gt;&#10;            &lt;Box style={{ flex: 1 }} /&gt;&#10;            &lt;Box style={{ width: '100%', height: 1, background: 'rgba(184,206,236,0.3)', marginBottom: 14 }} /&gt;&#10;            &lt;Text style={{ fontSize: 14, color: '#FFC107', lineHeight: 1.7 }}&gt;&#10;                {`必须强调：这是工作定义与研究纲领，不是形式化的数学定义。其严格版本需在后续章节中逐条限定条件后建立。`}&#10;            &lt;/Text&gt;&#10;        &lt;/Box&gt;&#10;&#10;        &lt;Box style={{ flex: 1, flexDirection: 'column' }}&gt;&#10;            &lt;Text style={{ fontSize: 20, fontWeight: 'bold', color: '#0E3F8C', marginBottom: 6 }}&gt;每进入一个应用章节，它先问三句话&lt;/Text&gt;&#10;            &lt;Text style={{ fontSize: 14, color: '#8B97A8', marginBottom: 18 }}&gt;三问的答案，决定本书对该系统给出哪一档结论&lt;/Text&gt;&#10;&#10;            {[&#10;                { q: '这个系统是否具有可识别的对称群？', a: '满足 → 给出严格的周期结构描述' },&#10;                { q: '是否存在与之对应的守恒量？', a: '部分满足 → 精确测量其偏离闭合轨道的程度' },&#10;                { q: '状态空间中的演化轨道是否闭合？', a: '不满足 → 明确指出&quot;周期性&quot;只是现象层面的隐喻' },&#10;            ].map((it, i) =&gt; (&#10;                &lt;Box key={i} style={{ flexDirection: 'row', alignItems: 'flex-start', gap: 16, paddingTop: 14, paddingBottom: 14, borderBottom: '1px solid #E5E7EB' }}&gt;&#10;                    &lt;Box style={{ width: 42, height: 42, borderRadius: 4, background: '#1E4FA8', justifyContent: 'center', alignItems: 'center' }}&gt;&#10;                        &lt;Text style={{ fontSize: 19, fontWeight: 'bold', color: '#FFFFFF' }}&gt;{`Q${i + 1}`}&lt;/Text&gt;&#10;                    &lt;/Box&gt;&#10;                    &lt;Box style={{ flex: 1, flexDirection: 'column' }}&gt;&#10;                        &lt;Text style={{ fontSize: 18, fontWeight: 'bold', color: '#1A2230', lineHeight: 1.5 }}&gt;{it.q}&lt;/Text&gt;&#10;                        &lt;Text style={{ fontSize: 15, color: '#4A5568', lineHeight: 1.6, marginTop: 6 }}&gt;{it.a}&lt;/Text&gt;&#10;                    &lt;/Box&gt;&#10;                &lt;/Box&gt;&#10;            ))}&#10;&#10;            &lt;Box style={{ flex: 1 }} /&gt;&#10;&#10;            &lt;Box style={{ padding: 18, borderRadius: 6, background: '#F0F5FC', borderLeft: '4px solid #1E4FA8' }}&gt;&#10;                &lt;Text style={{ fontSize: 16, color: '#1A2230', lineHeight: 1.7 }}&gt;&#10;                    {`正因为敢于说&quot;这个系统其实没有周期&quot;，`}&#10;                    &lt;span style={{ fontWeight: 'bold', color: '#0E3F8C' }}&gt;诊断功能才成为周期数学区别于一般跨学科类比的关键&lt;/span&gt;&#10;                    {`。一个只会说&quot;是&quot;的框架，不值得投入。`}&#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09 / 22&lt;/Text&gt;&#10;    &lt;/Box&gt;&#10;&lt;/Slide&gt;&#10;"/>
        <p:cNvGrpSpPr/>
        <p:nvPr/>
      </p:nvGrpSpPr>
      <p:grpSpPr>
        <a:xfrm>
          <a:off x="0" y="0"/>
          <a:ext cx="0" cy="0"/>
          <a:chOff x="0" y="0"/>
          <a:chExt cx="0" cy="0"/>
        </a:xfrm>
      </p:grpSpPr>
      <p:sp>
        <p:nvSpPr>
          <p:cNvPr id="551" name="矩形 550"/>
          <p:cNvSpPr/>
          <p:nvPr/>
        </p:nvSpPr>
        <p:spPr>
          <a:xfrm>
            <a:off x="0" y="0"/>
            <a:ext cx="12192000" cy="6858000"/>
          </a:xfrm>
          <a:prstGeom prst="rect">
            <a:avLst/>
          </a:prstGeom>
          <a:solidFill>
            <a:srgbClr val="FFFFFF"/>
          </a:solidFill>
          <a:ln/>
        </p:spPr>
        <p:txBody>
          <a:bodyPr/>
          <a:lstStyle/>
          <a:p>
            <a:endParaRPr/>
          </a:p>
        </p:txBody>
      </p:sp>
      <p:sp>
        <p:nvSpPr>
          <p:cNvPr id="552" name="矩形 551"/>
          <p:cNvSpPr/>
          <p:nvPr/>
        </p:nvSpPr>
        <p:spPr>
          <a:xfrm>
            <a:off x="0" y="0"/>
            <a:ext cx="12192000" cy="76200"/>
          </a:xfrm>
          <a:prstGeom prst="rect">
            <a:avLst/>
          </a:prstGeom>
          <a:solidFill>
            <a:srgbClr val="1E4FA8"/>
          </a:solidFill>
          <a:ln/>
        </p:spPr>
        <p:txBody>
          <a:bodyPr/>
          <a:lstStyle/>
          <a:p>
            <a:endParaRPr/>
          </a:p>
        </p:txBody>
      </p:sp>
      <p:sp>
        <p:nvSpPr>
          <p:cNvPr id="553" name="任意多边形: 形状 552"/>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554" name="文本框 553"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555" name="文本框 554"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02 </a:t>
            </a:r>
            <a:r>
              <a:rPr lang="zh-CN" sz="1050" spc="75">
                <a:solidFill>
                  <a:srgbClr val="1E4FA8"/>
                </a:solidFill>
                <a:latin typeface="Microsoft YaHei"/>
                <a:ea typeface="Microsoft YaHei"/>
              </a:rPr>
              <a:t>核心理念与框架</a:t>
            </a:r>
            <a:endParaRPr/>
          </a:p>
        </p:txBody>
      </p:sp>
      <p:sp>
        <p:nvSpPr>
          <p:cNvPr id="556" name="文本框 555"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它不宣称</a:t>
            </a:r>
            <a:r>
              <a:rPr lang="en-US" sz="2400" b="1">
                <a:solidFill>
                  <a:srgbClr val="0E3F8C"/>
                </a:solidFill>
                <a:latin typeface="Microsoft YaHei"/>
                <a:ea typeface="Microsoft YaHei"/>
              </a:rPr>
              <a:t>"</a:t>
            </a:r>
            <a:r>
              <a:rPr lang="zh-CN" sz="2400" b="1">
                <a:solidFill>
                  <a:srgbClr val="0E3F8C"/>
                </a:solidFill>
                <a:latin typeface="Microsoft YaHei"/>
                <a:ea typeface="Microsoft YaHei"/>
              </a:rPr>
              <a:t>一切皆周期</a:t>
            </a:r>
            <a:r>
              <a:rPr lang="en-US" sz="2400" b="1">
                <a:solidFill>
                  <a:srgbClr val="0E3F8C"/>
                </a:solidFill>
                <a:latin typeface="Microsoft YaHei"/>
                <a:ea typeface="Microsoft YaHei"/>
              </a:rPr>
              <a:t>"</a:t>
            </a:r>
            <a:r>
              <a:rPr lang="zh-CN" sz="2400" b="1">
                <a:solidFill>
                  <a:srgbClr val="0E3F8C"/>
                </a:solidFill>
                <a:latin typeface="Microsoft YaHei"/>
                <a:ea typeface="Microsoft YaHei"/>
              </a:rPr>
              <a:t>，它提供的是诊断</a:t>
            </a:r>
            <a:endParaRPr/>
          </a:p>
        </p:txBody>
      </p:sp>
      <p:sp>
        <p:nvSpPr>
          <p:cNvPr id="557" name="矩形: 圆角 556"/>
          <p:cNvSpPr/>
          <p:nvPr/>
        </p:nvSpPr>
        <p:spPr>
          <a:xfrm>
            <a:off x="381000" y="1352550"/>
            <a:ext cx="3771900" cy="5029200"/>
          </a:xfrm>
          <a:prstGeom prst="roundRect">
            <a:avLst>
              <a:gd name="adj" fmla="val 1515"/>
            </a:avLst>
          </a:prstGeom>
          <a:solidFill>
            <a:srgbClr val="0E3F8C"/>
          </a:solidFill>
          <a:ln/>
        </p:spPr>
        <p:txBody>
          <a:bodyPr/>
          <a:lstStyle/>
          <a:p>
            <a:endParaRPr/>
          </a:p>
        </p:txBody>
      </p:sp>
      <p:sp>
        <p:nvSpPr>
          <p:cNvPr id="558" name="文本框 557" descr="{&quot;isTemplate&quot;:true,&quot;type&quot;:&quot;text&quot;}"/>
          <p:cNvSpPr txBox="1"/>
          <p:nvPr/>
        </p:nvSpPr>
        <p:spPr>
          <a:xfrm>
            <a:off x="628650" y="1600200"/>
            <a:ext cx="3276600" cy="142875"/>
          </a:xfrm>
          <a:prstGeom prst="rect">
            <a:avLst/>
          </a:prstGeom>
        </p:spPr>
        <p:txBody>
          <a:bodyPr wrap="none" lIns="0" tIns="0" rIns="0" bIns="0"/>
          <a:lstStyle/>
          <a:p>
            <a:pPr>
              <a:lnSpc>
                <a:spcPct val="100000"/>
              </a:lnSpc>
            </a:pPr>
            <a:r>
              <a:rPr lang="en-US" sz="900" spc="225">
                <a:solidFill>
                  <a:srgbClr val="8FB4E8"/>
                </a:solidFill>
                <a:latin typeface="Microsoft YaHei"/>
                <a:ea typeface="Microsoft YaHei"/>
              </a:rPr>
              <a:t>DEFINITION · </a:t>
            </a:r>
            <a:r>
              <a:rPr lang="zh-CN" sz="900" spc="225">
                <a:solidFill>
                  <a:srgbClr val="8FB4E8"/>
                </a:solidFill>
                <a:latin typeface="Microsoft YaHei"/>
                <a:ea typeface="Microsoft YaHei"/>
              </a:rPr>
              <a:t>工作定义</a:t>
            </a:r>
            <a:endParaRPr/>
          </a:p>
        </p:txBody>
      </p:sp>
      <p:sp>
        <p:nvSpPr>
          <p:cNvPr id="559" name="矩形 558"/>
          <p:cNvSpPr/>
          <p:nvPr/>
        </p:nvSpPr>
        <p:spPr>
          <a:xfrm>
            <a:off x="628650" y="1857375"/>
            <a:ext cx="419100" cy="38100"/>
          </a:xfrm>
          <a:prstGeom prst="rect">
            <a:avLst/>
          </a:prstGeom>
          <a:solidFill>
            <a:srgbClr val="FFC107"/>
          </a:solidFill>
          <a:ln/>
        </p:spPr>
        <p:txBody>
          <a:bodyPr/>
          <a:lstStyle/>
          <a:p>
            <a:endParaRPr/>
          </a:p>
        </p:txBody>
      </p:sp>
      <p:sp>
        <p:nvSpPr>
          <p:cNvPr id="560" name="文本框 559" descr="{&quot;isTemplate&quot;:true,&quot;type&quot;:&quot;text&quot;}"/>
          <p:cNvSpPr txBox="1"/>
          <p:nvPr/>
        </p:nvSpPr>
        <p:spPr>
          <a:xfrm>
            <a:off x="628650" y="2066925"/>
            <a:ext cx="3276600" cy="1304925"/>
          </a:xfrm>
          <a:prstGeom prst="rect">
            <a:avLst/>
          </a:prstGeom>
        </p:spPr>
        <p:txBody>
          <a:bodyPr wrap="square" lIns="0" tIns="0" rIns="0" bIns="0">
            <a:normAutofit/>
          </a:bodyPr>
          <a:lstStyle/>
          <a:p>
            <a:pPr>
              <a:lnSpc>
                <a:spcPct val="190000"/>
              </a:lnSpc>
            </a:pPr>
            <a:r>
              <a:rPr lang="zh-CN" sz="1125">
                <a:solidFill>
                  <a:srgbClr val="DCE7F7"/>
                </a:solidFill>
                <a:latin typeface="Microsoft YaHei"/>
                <a:ea typeface="Microsoft YaHei"/>
              </a:rPr>
              <a:t>周期数学以</a:t>
            </a:r>
            <a:r>
              <a:rPr lang="zh-CN" sz="1125" b="1">
                <a:solidFill>
                  <a:srgbClr val="FFFFFF"/>
                </a:solidFill>
                <a:latin typeface="Microsoft YaHei"/>
                <a:ea typeface="Microsoft YaHei"/>
              </a:rPr>
              <a:t>群作用生成的对称结构</a:t>
            </a:r>
            <a:r>
              <a:rPr lang="zh-CN" sz="1125">
                <a:solidFill>
                  <a:srgbClr val="DCE7F7"/>
                </a:solidFill>
                <a:latin typeface="Microsoft YaHei"/>
                <a:ea typeface="Microsoft YaHei"/>
              </a:rPr>
              <a:t>为统一语言，以</a:t>
            </a:r>
            <a:r>
              <a:rPr lang="zh-CN" sz="1125" b="1">
                <a:solidFill>
                  <a:srgbClr val="FFFFFF"/>
                </a:solidFill>
                <a:latin typeface="Microsoft YaHei"/>
                <a:ea typeface="Microsoft YaHei"/>
              </a:rPr>
              <a:t>平移、缩放、旋转</a:t>
            </a:r>
            <a:r>
              <a:rPr lang="zh-CN" sz="1125">
                <a:solidFill>
                  <a:srgbClr val="DCE7F7"/>
                </a:solidFill>
                <a:latin typeface="Microsoft YaHei"/>
                <a:ea typeface="Microsoft YaHei"/>
              </a:rPr>
              <a:t>为基本生成变换的候选分类，以</a:t>
            </a:r>
            <a:r>
              <a:rPr lang="zh-CN" sz="1125" b="1">
                <a:solidFill>
                  <a:srgbClr val="FFFFFF"/>
                </a:solidFill>
                <a:latin typeface="Microsoft YaHei"/>
                <a:ea typeface="Microsoft YaHei"/>
              </a:rPr>
              <a:t>闭合轨道</a:t>
            </a:r>
            <a:r>
              <a:rPr lang="zh-CN" sz="1125">
                <a:solidFill>
                  <a:srgbClr val="DCE7F7"/>
                </a:solidFill>
                <a:latin typeface="Microsoft YaHei"/>
                <a:ea typeface="Microsoft YaHei"/>
              </a:rPr>
              <a:t>为核心几何图像，尝试对不同学科中的周期与分形结构进行统一的数学描述。</a:t>
            </a:r>
            <a:endParaRPr/>
          </a:p>
        </p:txBody>
      </p:sp>
      <p:sp>
        <p:nvSpPr>
          <p:cNvPr id="561" name="文本框 560" descr="{&quot;isTemplate&quot;:true,&quot;type&quot;:&quot;text&quot;}"/>
          <p:cNvSpPr txBox="1"/>
          <p:nvPr/>
        </p:nvSpPr>
        <p:spPr>
          <a:xfrm>
            <a:off x="628650" y="3524250"/>
            <a:ext cx="3276600" cy="657225"/>
          </a:xfrm>
          <a:prstGeom prst="rect">
            <a:avLst/>
          </a:prstGeom>
        </p:spPr>
        <p:txBody>
          <a:bodyPr wrap="square" lIns="0" tIns="0" rIns="0" bIns="0">
            <a:normAutofit/>
          </a:bodyPr>
          <a:lstStyle/>
          <a:p>
            <a:pPr>
              <a:lnSpc>
                <a:spcPct val="190000"/>
              </a:lnSpc>
            </a:pPr>
            <a:r>
              <a:rPr lang="zh-CN" sz="1125">
                <a:solidFill>
                  <a:srgbClr val="B8CEEC"/>
                </a:solidFill>
                <a:latin typeface="Microsoft YaHei"/>
                <a:ea typeface="Microsoft YaHei"/>
              </a:rPr>
              <a:t>它的研究对象，是具有状态空间、演化规则与对称结构的系统。</a:t>
            </a:r>
            <a:endParaRPr/>
          </a:p>
        </p:txBody>
      </p:sp>
      <p:sp>
        <p:nvSpPr>
          <p:cNvPr id="562" name="矩形 561"/>
          <p:cNvSpPr/>
          <p:nvPr/>
        </p:nvSpPr>
        <p:spPr>
          <a:xfrm>
            <a:off x="628650" y="5172075"/>
            <a:ext cx="3276600" cy="9525"/>
          </a:xfrm>
          <a:prstGeom prst="rect">
            <a:avLst/>
          </a:prstGeom>
          <a:solidFill>
            <a:srgbClr val="B8CEEC">
              <a:alpha val="30000"/>
            </a:srgbClr>
          </a:solidFill>
          <a:ln/>
        </p:spPr>
        <p:txBody>
          <a:bodyPr/>
          <a:lstStyle/>
          <a:p>
            <a:endParaRPr/>
          </a:p>
        </p:txBody>
      </p:sp>
      <p:sp>
        <p:nvSpPr>
          <p:cNvPr id="563" name="文本框 562" descr="{&quot;isTemplate&quot;:true,&quot;type&quot;:&quot;text&quot;}"/>
          <p:cNvSpPr txBox="1"/>
          <p:nvPr/>
        </p:nvSpPr>
        <p:spPr>
          <a:xfrm>
            <a:off x="628650" y="5314950"/>
            <a:ext cx="3276600" cy="819150"/>
          </a:xfrm>
          <a:prstGeom prst="rect">
            <a:avLst/>
          </a:prstGeom>
        </p:spPr>
        <p:txBody>
          <a:bodyPr wrap="square" lIns="0" tIns="0" rIns="0" bIns="0">
            <a:normAutofit fontScale="85000" lnSpcReduction="20000"/>
          </a:bodyPr>
          <a:lstStyle/>
          <a:p>
            <a:pPr>
              <a:lnSpc>
                <a:spcPct val="170000"/>
              </a:lnSpc>
            </a:pPr>
            <a:r>
              <a:rPr lang="zh-CN" sz="1050">
                <a:solidFill>
                  <a:srgbClr val="FFC107"/>
                </a:solidFill>
                <a:latin typeface="Microsoft YaHei"/>
                <a:ea typeface="Microsoft YaHei"/>
              </a:rPr>
              <a:t>必须强调：这是工作定义与研究纲领，不是形式化的数学定义。书中把周期分为三类：平移周期、比例周期（f(qx) = f(x)）与旋转周期（绕原点旋转 θ 角后函数值不变）（第四章 def:periodicity）。</a:t>
            </a:r>
            <a:endParaRPr dirty="0"/>
          </a:p>
        </p:txBody>
      </p:sp>
      <p:sp>
        <p:nvSpPr>
          <p:cNvPr id="564" name="文本框 563" descr="{&quot;isTemplate&quot;:true,&quot;type&quot;:&quot;text&quot;}"/>
          <p:cNvSpPr txBox="1"/>
          <p:nvPr/>
        </p:nvSpPr>
        <p:spPr>
          <a:xfrm>
            <a:off x="4400550" y="1352550"/>
            <a:ext cx="741045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每进入一个应用章节，它先问三句话</a:t>
            </a:r>
            <a:endParaRPr/>
          </a:p>
        </p:txBody>
      </p:sp>
      <p:sp>
        <p:nvSpPr>
          <p:cNvPr id="565" name="文本框 564" descr="{&quot;isTemplate&quot;:true,&quot;type&quot;:&quot;text&quot;}"/>
          <p:cNvSpPr txBox="1"/>
          <p:nvPr/>
        </p:nvSpPr>
        <p:spPr>
          <a:xfrm>
            <a:off x="4400550" y="1638300"/>
            <a:ext cx="7410450" cy="161925"/>
          </a:xfrm>
          <a:prstGeom prst="rect">
            <a:avLst/>
          </a:prstGeom>
        </p:spPr>
        <p:txBody>
          <a:bodyPr wrap="none" lIns="0" tIns="0" rIns="0" bIns="0"/>
          <a:lstStyle/>
          <a:p>
            <a:pPr>
              <a:lnSpc>
                <a:spcPct val="100000"/>
              </a:lnSpc>
            </a:pPr>
            <a:r>
              <a:rPr lang="zh-CN" sz="1050">
                <a:solidFill>
                  <a:srgbClr val="8B97A8"/>
                </a:solidFill>
                <a:latin typeface="Microsoft YaHei"/>
                <a:ea typeface="Microsoft YaHei"/>
              </a:rPr>
              <a:t>三问的答案，决定本书对该系统给出哪一档结论</a:t>
            </a:r>
            <a:endParaRPr/>
          </a:p>
        </p:txBody>
      </p:sp>
      <p:sp>
        <p:nvSpPr>
          <p:cNvPr id="566" name="任意多边形: 形状 565"/>
          <p:cNvSpPr/>
          <p:nvPr/>
        </p:nvSpPr>
        <p:spPr>
          <a:xfrm>
            <a:off x="4400550" y="1971675"/>
            <a:ext cx="7410450" cy="933450"/>
          </a:xfrm>
          <a:custGeom>
            <a:avLst/>
            <a:gdLst/>
            <a:ahLst/>
            <a:cxnLst/>
            <a:rect l="0" t="0" r="0" b="0"/>
            <a:pathLst>
              <a:path w="778" h="98">
                <a:moveTo>
                  <a:pt x="0" y="97"/>
                </a:moveTo>
                <a:lnTo>
                  <a:pt x="778" y="97"/>
                </a:lnTo>
                <a:lnTo>
                  <a:pt x="778" y="98"/>
                </a:lnTo>
                <a:lnTo>
                  <a:pt x="0" y="98"/>
                </a:lnTo>
                <a:close/>
              </a:path>
            </a:pathLst>
          </a:custGeom>
          <a:solidFill>
            <a:srgbClr val="E5E7EB"/>
          </a:solidFill>
          <a:ln/>
        </p:spPr>
        <p:txBody>
          <a:bodyPr/>
          <a:lstStyle/>
          <a:p>
            <a:endParaRPr/>
          </a:p>
        </p:txBody>
      </p:sp>
      <p:sp>
        <p:nvSpPr>
          <p:cNvPr id="567" name="矩形: 圆角 566"/>
          <p:cNvSpPr/>
          <p:nvPr/>
        </p:nvSpPr>
        <p:spPr>
          <a:xfrm>
            <a:off x="4400550" y="2105025"/>
            <a:ext cx="400050" cy="400050"/>
          </a:xfrm>
          <a:prstGeom prst="roundRect">
            <a:avLst>
              <a:gd name="adj" fmla="val 9524"/>
            </a:avLst>
          </a:prstGeom>
          <a:solidFill>
            <a:srgbClr val="1E4FA8"/>
          </a:solidFill>
          <a:ln/>
        </p:spPr>
        <p:txBody>
          <a:bodyPr/>
          <a:lstStyle/>
          <a:p>
            <a:endParaRPr/>
          </a:p>
        </p:txBody>
      </p:sp>
      <p:sp>
        <p:nvSpPr>
          <p:cNvPr id="568" name="文本框 567" descr="{&quot;isTemplate&quot;:true,&quot;type&quot;:&quot;text&quot;}"/>
          <p:cNvSpPr txBox="1"/>
          <p:nvPr/>
        </p:nvSpPr>
        <p:spPr>
          <a:xfrm>
            <a:off x="4467225" y="2200275"/>
            <a:ext cx="266700" cy="219075"/>
          </a:xfrm>
          <a:prstGeom prst="rect">
            <a:avLst/>
          </a:prstGeom>
        </p:spPr>
        <p:txBody>
          <a:bodyPr wrap="none" lIns="0" tIns="0" rIns="0" bIns="0"/>
          <a:lstStyle/>
          <a:p>
            <a:pPr>
              <a:lnSpc>
                <a:spcPct val="100000"/>
              </a:lnSpc>
            </a:pPr>
            <a:r>
              <a:rPr lang="en-US" sz="1425" b="1">
                <a:solidFill>
                  <a:srgbClr val="FFFFFF"/>
                </a:solidFill>
                <a:latin typeface="Microsoft YaHei"/>
                <a:ea typeface="Microsoft YaHei"/>
              </a:rPr>
              <a:t>Q1</a:t>
            </a:r>
            <a:endParaRPr/>
          </a:p>
        </p:txBody>
      </p:sp>
      <p:sp>
        <p:nvSpPr>
          <p:cNvPr id="569" name="文本框 568" descr="{&quot;isTemplate&quot;:true,&quot;type&quot;:&quot;text&quot;}"/>
          <p:cNvSpPr txBox="1"/>
          <p:nvPr/>
        </p:nvSpPr>
        <p:spPr>
          <a:xfrm>
            <a:off x="4953000" y="2105025"/>
            <a:ext cx="6858000" cy="314325"/>
          </a:xfrm>
          <a:prstGeom prst="rect">
            <a:avLst/>
          </a:prstGeom>
        </p:spPr>
        <p:txBody>
          <a:bodyPr wrap="none" lIns="0" tIns="0" rIns="0" bIns="0"/>
          <a:lstStyle/>
          <a:p>
            <a:pPr>
              <a:lnSpc>
                <a:spcPct val="150000"/>
              </a:lnSpc>
            </a:pPr>
            <a:r>
              <a:rPr lang="zh-CN" sz="1350" b="1">
                <a:solidFill>
                  <a:srgbClr val="1A2230"/>
                </a:solidFill>
                <a:latin typeface="Microsoft YaHei"/>
                <a:ea typeface="Microsoft YaHei"/>
              </a:rPr>
              <a:t>这个系统是否具有可识别的对称群？</a:t>
            </a:r>
            <a:endParaRPr/>
          </a:p>
        </p:txBody>
      </p:sp>
      <p:sp>
        <p:nvSpPr>
          <p:cNvPr id="570" name="文本框 569" descr="{&quot;isTemplate&quot;:true,&quot;type&quot;:&quot;text&quot;}"/>
          <p:cNvSpPr txBox="1"/>
          <p:nvPr/>
        </p:nvSpPr>
        <p:spPr>
          <a:xfrm>
            <a:off x="4953000" y="2476500"/>
            <a:ext cx="6858000" cy="276225"/>
          </a:xfrm>
          <a:prstGeom prst="rect">
            <a:avLst/>
          </a:prstGeom>
        </p:spPr>
        <p:txBody>
          <a:bodyPr wrap="none" lIns="0" tIns="0" rIns="0" bIns="0"/>
          <a:lstStyle/>
          <a:p>
            <a:pPr>
              <a:lnSpc>
                <a:spcPct val="160000"/>
              </a:lnSpc>
            </a:pPr>
            <a:r>
              <a:rPr lang="zh-CN" sz="1125">
                <a:solidFill>
                  <a:srgbClr val="4A5568"/>
                </a:solidFill>
                <a:latin typeface="Microsoft YaHei"/>
                <a:ea typeface="Microsoft YaHei"/>
              </a:rPr>
              <a:t>满足</a:t>
            </a:r>
            <a:r>
              <a:rPr lang="en-US" sz="1125">
                <a:solidFill>
                  <a:srgbClr val="4A5568"/>
                </a:solidFill>
                <a:latin typeface="Microsoft YaHei"/>
                <a:ea typeface="Microsoft YaHei"/>
              </a:rPr>
              <a:t> → </a:t>
            </a:r>
            <a:r>
              <a:rPr lang="zh-CN" sz="1125">
                <a:solidFill>
                  <a:srgbClr val="4A5568"/>
                </a:solidFill>
                <a:latin typeface="Microsoft YaHei"/>
                <a:ea typeface="Microsoft YaHei"/>
              </a:rPr>
              <a:t>给出严格的周期结构描述</a:t>
            </a:r>
            <a:endParaRPr/>
          </a:p>
        </p:txBody>
      </p:sp>
      <p:sp>
        <p:nvSpPr>
          <p:cNvPr id="571" name="任意多边形: 形状 570"/>
          <p:cNvSpPr/>
          <p:nvPr/>
        </p:nvSpPr>
        <p:spPr>
          <a:xfrm>
            <a:off x="4400550" y="2895600"/>
            <a:ext cx="7410450" cy="933450"/>
          </a:xfrm>
          <a:custGeom>
            <a:avLst/>
            <a:gdLst/>
            <a:ahLst/>
            <a:cxnLst/>
            <a:rect l="0" t="0" r="0" b="0"/>
            <a:pathLst>
              <a:path w="778" h="98">
                <a:moveTo>
                  <a:pt x="0" y="97"/>
                </a:moveTo>
                <a:lnTo>
                  <a:pt x="778" y="97"/>
                </a:lnTo>
                <a:lnTo>
                  <a:pt x="778" y="98"/>
                </a:lnTo>
                <a:lnTo>
                  <a:pt x="0" y="98"/>
                </a:lnTo>
                <a:close/>
              </a:path>
            </a:pathLst>
          </a:custGeom>
          <a:solidFill>
            <a:srgbClr val="E5E7EB"/>
          </a:solidFill>
          <a:ln/>
        </p:spPr>
        <p:txBody>
          <a:bodyPr/>
          <a:lstStyle/>
          <a:p>
            <a:endParaRPr/>
          </a:p>
        </p:txBody>
      </p:sp>
      <p:sp>
        <p:nvSpPr>
          <p:cNvPr id="572" name="矩形: 圆角 571"/>
          <p:cNvSpPr/>
          <p:nvPr/>
        </p:nvSpPr>
        <p:spPr>
          <a:xfrm>
            <a:off x="4400550" y="3028950"/>
            <a:ext cx="400050" cy="400050"/>
          </a:xfrm>
          <a:prstGeom prst="roundRect">
            <a:avLst>
              <a:gd name="adj" fmla="val 9524"/>
            </a:avLst>
          </a:prstGeom>
          <a:solidFill>
            <a:srgbClr val="1E4FA8"/>
          </a:solidFill>
          <a:ln/>
        </p:spPr>
        <p:txBody>
          <a:bodyPr/>
          <a:lstStyle/>
          <a:p>
            <a:endParaRPr/>
          </a:p>
        </p:txBody>
      </p:sp>
      <p:sp>
        <p:nvSpPr>
          <p:cNvPr id="573" name="文本框 572" descr="{&quot;isTemplate&quot;:true,&quot;type&quot;:&quot;text&quot;}"/>
          <p:cNvSpPr txBox="1"/>
          <p:nvPr/>
        </p:nvSpPr>
        <p:spPr>
          <a:xfrm>
            <a:off x="4467225" y="3124200"/>
            <a:ext cx="266700" cy="219075"/>
          </a:xfrm>
          <a:prstGeom prst="rect">
            <a:avLst/>
          </a:prstGeom>
        </p:spPr>
        <p:txBody>
          <a:bodyPr wrap="none" lIns="0" tIns="0" rIns="0" bIns="0"/>
          <a:lstStyle/>
          <a:p>
            <a:pPr>
              <a:lnSpc>
                <a:spcPct val="100000"/>
              </a:lnSpc>
            </a:pPr>
            <a:r>
              <a:rPr lang="en-US" sz="1425" b="1">
                <a:solidFill>
                  <a:srgbClr val="FFFFFF"/>
                </a:solidFill>
                <a:latin typeface="Microsoft YaHei"/>
                <a:ea typeface="Microsoft YaHei"/>
              </a:rPr>
              <a:t>Q2</a:t>
            </a:r>
            <a:endParaRPr/>
          </a:p>
        </p:txBody>
      </p:sp>
      <p:sp>
        <p:nvSpPr>
          <p:cNvPr id="574" name="文本框 573" descr="{&quot;isTemplate&quot;:true,&quot;type&quot;:&quot;text&quot;}"/>
          <p:cNvSpPr txBox="1"/>
          <p:nvPr/>
        </p:nvSpPr>
        <p:spPr>
          <a:xfrm>
            <a:off x="4953000" y="3028950"/>
            <a:ext cx="6858000" cy="314325"/>
          </a:xfrm>
          <a:prstGeom prst="rect">
            <a:avLst/>
          </a:prstGeom>
        </p:spPr>
        <p:txBody>
          <a:bodyPr wrap="none" lIns="0" tIns="0" rIns="0" bIns="0"/>
          <a:lstStyle/>
          <a:p>
            <a:pPr>
              <a:lnSpc>
                <a:spcPct val="150000"/>
              </a:lnSpc>
            </a:pPr>
            <a:r>
              <a:rPr lang="zh-CN" sz="1350" b="1">
                <a:solidFill>
                  <a:srgbClr val="1A2230"/>
                </a:solidFill>
                <a:latin typeface="Microsoft YaHei"/>
                <a:ea typeface="Microsoft YaHei"/>
              </a:rPr>
              <a:t>是否存在与之对应的守恒量？</a:t>
            </a:r>
            <a:endParaRPr/>
          </a:p>
        </p:txBody>
      </p:sp>
      <p:sp>
        <p:nvSpPr>
          <p:cNvPr id="575" name="文本框 574" descr="{&quot;isTemplate&quot;:true,&quot;type&quot;:&quot;text&quot;}"/>
          <p:cNvSpPr txBox="1"/>
          <p:nvPr/>
        </p:nvSpPr>
        <p:spPr>
          <a:xfrm>
            <a:off x="4953000" y="3400425"/>
            <a:ext cx="6858000" cy="276225"/>
          </a:xfrm>
          <a:prstGeom prst="rect">
            <a:avLst/>
          </a:prstGeom>
        </p:spPr>
        <p:txBody>
          <a:bodyPr wrap="none" lIns="0" tIns="0" rIns="0" bIns="0"/>
          <a:lstStyle/>
          <a:p>
            <a:pPr>
              <a:lnSpc>
                <a:spcPct val="160000"/>
              </a:lnSpc>
            </a:pPr>
            <a:r>
              <a:rPr lang="zh-CN" sz="1125">
                <a:solidFill>
                  <a:srgbClr val="4A5568"/>
                </a:solidFill>
                <a:latin typeface="Microsoft YaHei"/>
                <a:ea typeface="Microsoft YaHei"/>
              </a:rPr>
              <a:t>部分满足</a:t>
            </a:r>
            <a:r>
              <a:rPr lang="en-US" sz="1125">
                <a:solidFill>
                  <a:srgbClr val="4A5568"/>
                </a:solidFill>
                <a:latin typeface="Microsoft YaHei"/>
                <a:ea typeface="Microsoft YaHei"/>
              </a:rPr>
              <a:t> → </a:t>
            </a:r>
            <a:r>
              <a:rPr lang="zh-CN" sz="1125">
                <a:solidFill>
                  <a:srgbClr val="4A5568"/>
                </a:solidFill>
                <a:latin typeface="Microsoft YaHei"/>
                <a:ea typeface="Microsoft YaHei"/>
              </a:rPr>
              <a:t>精确测量其偏离闭合轨道的程度</a:t>
            </a:r>
            <a:endParaRPr/>
          </a:p>
        </p:txBody>
      </p:sp>
      <p:sp>
        <p:nvSpPr>
          <p:cNvPr id="576" name="任意多边形: 形状 575"/>
          <p:cNvSpPr/>
          <p:nvPr/>
        </p:nvSpPr>
        <p:spPr>
          <a:xfrm>
            <a:off x="4400550" y="3819525"/>
            <a:ext cx="7410450" cy="933450"/>
          </a:xfrm>
          <a:custGeom>
            <a:avLst/>
            <a:gdLst/>
            <a:ahLst/>
            <a:cxnLst/>
            <a:rect l="0" t="0" r="0" b="0"/>
            <a:pathLst>
              <a:path w="778" h="98">
                <a:moveTo>
                  <a:pt x="0" y="97"/>
                </a:moveTo>
                <a:lnTo>
                  <a:pt x="778" y="97"/>
                </a:lnTo>
                <a:lnTo>
                  <a:pt x="778" y="98"/>
                </a:lnTo>
                <a:lnTo>
                  <a:pt x="0" y="98"/>
                </a:lnTo>
                <a:close/>
              </a:path>
            </a:pathLst>
          </a:custGeom>
          <a:solidFill>
            <a:srgbClr val="E5E7EB"/>
          </a:solidFill>
          <a:ln/>
        </p:spPr>
        <p:txBody>
          <a:bodyPr/>
          <a:lstStyle/>
          <a:p>
            <a:endParaRPr/>
          </a:p>
        </p:txBody>
      </p:sp>
      <p:sp>
        <p:nvSpPr>
          <p:cNvPr id="577" name="矩形: 圆角 576"/>
          <p:cNvSpPr/>
          <p:nvPr/>
        </p:nvSpPr>
        <p:spPr>
          <a:xfrm>
            <a:off x="4400550" y="3952875"/>
            <a:ext cx="400050" cy="400050"/>
          </a:xfrm>
          <a:prstGeom prst="roundRect">
            <a:avLst>
              <a:gd name="adj" fmla="val 9524"/>
            </a:avLst>
          </a:prstGeom>
          <a:solidFill>
            <a:srgbClr val="1E4FA8"/>
          </a:solidFill>
          <a:ln/>
        </p:spPr>
        <p:txBody>
          <a:bodyPr/>
          <a:lstStyle/>
          <a:p>
            <a:endParaRPr/>
          </a:p>
        </p:txBody>
      </p:sp>
      <p:sp>
        <p:nvSpPr>
          <p:cNvPr id="578" name="文本框 577" descr="{&quot;isTemplate&quot;:true,&quot;type&quot;:&quot;text&quot;}"/>
          <p:cNvSpPr txBox="1"/>
          <p:nvPr/>
        </p:nvSpPr>
        <p:spPr>
          <a:xfrm>
            <a:off x="4467225" y="4048125"/>
            <a:ext cx="266700" cy="219075"/>
          </a:xfrm>
          <a:prstGeom prst="rect">
            <a:avLst/>
          </a:prstGeom>
        </p:spPr>
        <p:txBody>
          <a:bodyPr wrap="none" lIns="0" tIns="0" rIns="0" bIns="0"/>
          <a:lstStyle/>
          <a:p>
            <a:pPr>
              <a:lnSpc>
                <a:spcPct val="100000"/>
              </a:lnSpc>
            </a:pPr>
            <a:r>
              <a:rPr lang="en-US" sz="1425" b="1">
                <a:solidFill>
                  <a:srgbClr val="FFFFFF"/>
                </a:solidFill>
                <a:latin typeface="Microsoft YaHei"/>
                <a:ea typeface="Microsoft YaHei"/>
              </a:rPr>
              <a:t>Q3</a:t>
            </a:r>
            <a:endParaRPr/>
          </a:p>
        </p:txBody>
      </p:sp>
      <p:sp>
        <p:nvSpPr>
          <p:cNvPr id="579" name="文本框 578" descr="{&quot;isTemplate&quot;:true,&quot;type&quot;:&quot;text&quot;}"/>
          <p:cNvSpPr txBox="1"/>
          <p:nvPr/>
        </p:nvSpPr>
        <p:spPr>
          <a:xfrm>
            <a:off x="4953000" y="3952875"/>
            <a:ext cx="6858000" cy="314325"/>
          </a:xfrm>
          <a:prstGeom prst="rect">
            <a:avLst/>
          </a:prstGeom>
        </p:spPr>
        <p:txBody>
          <a:bodyPr wrap="none" lIns="0" tIns="0" rIns="0" bIns="0"/>
          <a:lstStyle/>
          <a:p>
            <a:pPr>
              <a:lnSpc>
                <a:spcPct val="150000"/>
              </a:lnSpc>
            </a:pPr>
            <a:r>
              <a:rPr lang="zh-CN" sz="1350" b="1">
                <a:solidFill>
                  <a:srgbClr val="1A2230"/>
                </a:solidFill>
                <a:latin typeface="Microsoft YaHei"/>
                <a:ea typeface="Microsoft YaHei"/>
              </a:rPr>
              <a:t>状态空间中的演化轨道是否闭合？</a:t>
            </a:r>
            <a:endParaRPr/>
          </a:p>
        </p:txBody>
      </p:sp>
      <p:sp>
        <p:nvSpPr>
          <p:cNvPr id="580" name="文本框 579" descr="{&quot;isTemplate&quot;:true,&quot;type&quot;:&quot;text&quot;}"/>
          <p:cNvSpPr txBox="1"/>
          <p:nvPr/>
        </p:nvSpPr>
        <p:spPr>
          <a:xfrm>
            <a:off x="4953000" y="4324350"/>
            <a:ext cx="6858000" cy="276225"/>
          </a:xfrm>
          <a:prstGeom prst="rect">
            <a:avLst/>
          </a:prstGeom>
        </p:spPr>
        <p:txBody>
          <a:bodyPr wrap="none" lIns="0" tIns="0" rIns="0" bIns="0"/>
          <a:lstStyle/>
          <a:p>
            <a:pPr>
              <a:lnSpc>
                <a:spcPct val="160000"/>
              </a:lnSpc>
            </a:pPr>
            <a:r>
              <a:rPr lang="zh-CN" sz="1125">
                <a:solidFill>
                  <a:srgbClr val="4A5568"/>
                </a:solidFill>
                <a:latin typeface="Microsoft YaHei"/>
                <a:ea typeface="Microsoft YaHei"/>
              </a:rPr>
              <a:t>不满足</a:t>
            </a:r>
            <a:r>
              <a:rPr lang="en-US" sz="1125">
                <a:solidFill>
                  <a:srgbClr val="4A5568"/>
                </a:solidFill>
                <a:latin typeface="Microsoft YaHei"/>
                <a:ea typeface="Microsoft YaHei"/>
              </a:rPr>
              <a:t> → </a:t>
            </a:r>
            <a:r>
              <a:rPr lang="zh-CN" sz="1125">
                <a:solidFill>
                  <a:srgbClr val="4A5568"/>
                </a:solidFill>
                <a:latin typeface="Microsoft YaHei"/>
                <a:ea typeface="Microsoft YaHei"/>
              </a:rPr>
              <a:t>明确指出</a:t>
            </a:r>
            <a:r>
              <a:rPr lang="en-US" sz="1125">
                <a:solidFill>
                  <a:srgbClr val="4A5568"/>
                </a:solidFill>
                <a:latin typeface="Microsoft YaHei"/>
                <a:ea typeface="Microsoft YaHei"/>
              </a:rPr>
              <a:t>"</a:t>
            </a:r>
            <a:r>
              <a:rPr lang="zh-CN" sz="1125">
                <a:solidFill>
                  <a:srgbClr val="4A5568"/>
                </a:solidFill>
                <a:latin typeface="Microsoft YaHei"/>
                <a:ea typeface="Microsoft YaHei"/>
              </a:rPr>
              <a:t>周期性</a:t>
            </a:r>
            <a:r>
              <a:rPr lang="en-US" sz="1125">
                <a:solidFill>
                  <a:srgbClr val="4A5568"/>
                </a:solidFill>
                <a:latin typeface="Microsoft YaHei"/>
                <a:ea typeface="Microsoft YaHei"/>
              </a:rPr>
              <a:t>"</a:t>
            </a:r>
            <a:r>
              <a:rPr lang="zh-CN" sz="1125">
                <a:solidFill>
                  <a:srgbClr val="4A5568"/>
                </a:solidFill>
                <a:latin typeface="Microsoft YaHei"/>
                <a:ea typeface="Microsoft YaHei"/>
              </a:rPr>
              <a:t>只是现象层面的隐喻</a:t>
            </a:r>
            <a:endParaRPr/>
          </a:p>
        </p:txBody>
      </p:sp>
      <p:sp>
        <p:nvSpPr>
          <p:cNvPr id="581" name="矩形: 圆角 580"/>
          <p:cNvSpPr/>
          <p:nvPr/>
        </p:nvSpPr>
        <p:spPr>
          <a:xfrm>
            <a:off x="4438650" y="5410200"/>
            <a:ext cx="7410450" cy="971550"/>
          </a:xfrm>
          <a:prstGeom prst="roundRect">
            <a:avLst>
              <a:gd name="adj" fmla="val 5882"/>
            </a:avLst>
          </a:prstGeom>
          <a:solidFill>
            <a:srgbClr val="F0F5FC"/>
          </a:solidFill>
          <a:ln/>
        </p:spPr>
        <p:txBody>
          <a:bodyPr/>
          <a:lstStyle/>
          <a:p>
            <a:endParaRPr/>
          </a:p>
        </p:txBody>
      </p:sp>
      <p:sp>
        <p:nvSpPr>
          <p:cNvPr id="582" name="任意多边形: 形状 581"/>
          <p:cNvSpPr/>
          <p:nvPr/>
        </p:nvSpPr>
        <p:spPr>
          <a:xfrm>
            <a:off x="4438650" y="5410200"/>
            <a:ext cx="7410450" cy="971550"/>
          </a:xfrm>
          <a:custGeom>
            <a:avLst/>
            <a:gdLst/>
            <a:ahLst/>
            <a:cxnLst/>
            <a:rect l="0" t="0" r="0" b="0"/>
            <a:pathLst>
              <a:path w="778" h="102">
                <a:moveTo>
                  <a:pt x="6" y="0"/>
                </a:moveTo>
                <a:cubicBezTo>
                  <a:pt x="5" y="0"/>
                  <a:pt x="4" y="1"/>
                  <a:pt x="4" y="2"/>
                </a:cubicBezTo>
                <a:lnTo>
                  <a:pt x="4" y="100"/>
                </a:lnTo>
                <a:cubicBezTo>
                  <a:pt x="4" y="101"/>
                  <a:pt x="5" y="102"/>
                  <a:pt x="6" y="102"/>
                </a:cubicBezTo>
                <a:cubicBezTo>
                  <a:pt x="3" y="102"/>
                  <a:pt x="0" y="99"/>
                  <a:pt x="0" y="96"/>
                </a:cubicBezTo>
                <a:lnTo>
                  <a:pt x="0" y="6"/>
                </a:lnTo>
                <a:cubicBezTo>
                  <a:pt x="0" y="3"/>
                  <a:pt x="3" y="0"/>
                  <a:pt x="6" y="0"/>
                </a:cubicBezTo>
                <a:close/>
              </a:path>
            </a:pathLst>
          </a:custGeom>
          <a:solidFill>
            <a:srgbClr val="1E4FA8"/>
          </a:solidFill>
          <a:ln/>
        </p:spPr>
        <p:txBody>
          <a:bodyPr/>
          <a:lstStyle/>
          <a:p>
            <a:endParaRPr/>
          </a:p>
        </p:txBody>
      </p:sp>
      <p:sp>
        <p:nvSpPr>
          <p:cNvPr id="583" name="文本框 582" descr="{&quot;isTemplate&quot;:true,&quot;type&quot;:&quot;text&quot;}"/>
          <p:cNvSpPr txBox="1"/>
          <p:nvPr/>
        </p:nvSpPr>
        <p:spPr>
          <a:xfrm>
            <a:off x="4610100" y="5581650"/>
            <a:ext cx="7029450" cy="628650"/>
          </a:xfrm>
          <a:prstGeom prst="rect">
            <a:avLst/>
          </a:prstGeom>
        </p:spPr>
        <p:txBody>
          <a:bodyPr wrap="square" lIns="0" tIns="0" rIns="0" bIns="0">
            <a:normAutofit/>
          </a:bodyPr>
          <a:lstStyle/>
          <a:p>
            <a:pPr>
              <a:lnSpc>
                <a:spcPct val="170000"/>
              </a:lnSpc>
            </a:pPr>
            <a:r>
              <a:rPr lang="zh-CN" sz="1200">
                <a:solidFill>
                  <a:srgbClr val="1A2230"/>
                </a:solidFill>
                <a:latin typeface="Microsoft YaHei"/>
                <a:ea typeface="Microsoft YaHei"/>
              </a:rPr>
              <a:t>正因为敢于说</a:t>
            </a:r>
            <a:r>
              <a:rPr lang="en-US" sz="1200">
                <a:solidFill>
                  <a:srgbClr val="1A2230"/>
                </a:solidFill>
                <a:latin typeface="Microsoft YaHei"/>
                <a:ea typeface="Microsoft YaHei"/>
              </a:rPr>
              <a:t>"</a:t>
            </a:r>
            <a:r>
              <a:rPr lang="zh-CN" sz="1200">
                <a:solidFill>
                  <a:srgbClr val="1A2230"/>
                </a:solidFill>
                <a:latin typeface="Microsoft YaHei"/>
                <a:ea typeface="Microsoft YaHei"/>
              </a:rPr>
              <a:t>这个系统其实没有周期</a:t>
            </a:r>
            <a:r>
              <a:rPr lang="en-US" sz="1200">
                <a:solidFill>
                  <a:srgbClr val="1A2230"/>
                </a:solidFill>
                <a:latin typeface="Microsoft YaHei"/>
                <a:ea typeface="Microsoft YaHei"/>
              </a:rPr>
              <a:t>"</a:t>
            </a:r>
            <a:r>
              <a:rPr lang="zh-CN" sz="1200">
                <a:solidFill>
                  <a:srgbClr val="1A2230"/>
                </a:solidFill>
                <a:latin typeface="Microsoft YaHei"/>
                <a:ea typeface="Microsoft YaHei"/>
              </a:rPr>
              <a:t>，</a:t>
            </a:r>
            <a:r>
              <a:rPr lang="zh-CN" sz="1200" b="1">
                <a:solidFill>
                  <a:srgbClr val="0E3F8C"/>
                </a:solidFill>
                <a:latin typeface="Microsoft YaHei"/>
                <a:ea typeface="Microsoft YaHei"/>
              </a:rPr>
              <a:t>诊断功能才成为周期数学区别于一般跨学科类比的关键</a:t>
            </a:r>
            <a:r>
              <a:rPr lang="zh-CN" sz="1200">
                <a:solidFill>
                  <a:srgbClr val="1A2230"/>
                </a:solidFill>
                <a:latin typeface="Microsoft YaHei"/>
                <a:ea typeface="Microsoft YaHei"/>
              </a:rPr>
              <a:t>。一个只会说</a:t>
            </a:r>
            <a:r>
              <a:rPr lang="en-US" sz="1200">
                <a:solidFill>
                  <a:srgbClr val="1A2230"/>
                </a:solidFill>
                <a:latin typeface="Microsoft YaHei"/>
                <a:ea typeface="Microsoft YaHei"/>
              </a:rPr>
              <a:t>"</a:t>
            </a:r>
            <a:r>
              <a:rPr lang="zh-CN" sz="1200">
                <a:solidFill>
                  <a:srgbClr val="1A2230"/>
                </a:solidFill>
                <a:latin typeface="Microsoft YaHei"/>
                <a:ea typeface="Microsoft YaHei"/>
              </a:rPr>
              <a:t>是</a:t>
            </a:r>
            <a:r>
              <a:rPr lang="en-US" sz="1200">
                <a:solidFill>
                  <a:srgbClr val="1A2230"/>
                </a:solidFill>
                <a:latin typeface="Microsoft YaHei"/>
                <a:ea typeface="Microsoft YaHei"/>
              </a:rPr>
              <a:t>"</a:t>
            </a:r>
            <a:r>
              <a:rPr lang="zh-CN" sz="1200">
                <a:solidFill>
                  <a:srgbClr val="1A2230"/>
                </a:solidFill>
                <a:latin typeface="Microsoft YaHei"/>
                <a:ea typeface="Microsoft YaHei"/>
              </a:rPr>
              <a:t>的框架，不值得投入。</a:t>
            </a:r>
            <a:endParaRPr/>
          </a:p>
        </p:txBody>
      </p:sp>
      <p:sp>
        <p:nvSpPr>
          <p:cNvPr id="584" name="文本框 583"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585" name="文本框 584"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09 / 22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2 核心理念与框架&lt;/Text&gt;&#10;    &lt;/Box&gt;&#10;&#10;    &lt;Box style={{ width: '100%', height: 78, paddingLeft: 40, paddingRight: 40, justifyContent: 'center' }}&gt;&#10;        &lt;Text style={{ fontSize: 32, fontWeight: 'bold', color: '#0E3F8C' }}&gt;五层架构：从三个不动点，到二十一章应用&lt;/Text&gt;&#10;    &lt;/Box&gt;&#10;&#10;    &lt;Box style={{ width: '100%', flex: 1, flexDirection: 'row', gap: 26, paddingLeft: 40, paddingRight: 40, paddingBottom: 16 }}&gt;&#10;&#10;        &lt;Box style={{ width: 706, borderRadius: 6, background: '#F7F9FC', border: '1px solid #E5E7EB', justifyContent: 'center', alignItems: 'center' }}&gt;&#10;            &lt;svg width={678} height={433} viewBox='0 0 720 460'&gt;&#10;&#10;                &lt;text x='8' y='40' fontSize='12' fill='#1E4FA8' fontWeight='bold'&gt;对称中心&lt;/text&gt;&#10;                &lt;rect x='86' y='18' width='190' height='44' rx='4' fill='#0E3F8C' /&gt;&#10;                &lt;text x='181' y='46' textAnchor='middle' fontSize='15' fill='#FFFFFF'&gt;对称中心 0 · 加法&lt;/text&gt;&#10;                &lt;rect x='296' y='18' width='190' height='44' rx='4' fill='#0E3F8C' /&gt;&#10;                &lt;text x='391' y='46' textAnchor='middle' fontSize='15' fill='#FFFFFF'&gt;对称中心 1 · 乘法&lt;/text&gt;&#10;                &lt;rect x='506' y='18' width='190' height='44' rx='4' fill='#0E3F8C' /&gt;&#10;                &lt;text x='601' y='46' textAnchor='middle' fontSize='15' fill='#FFFFFF'&gt;对称中心 i · 旋转&lt;/text&gt;&#10;&#10;                &lt;path d='M391 62 L391 92' stroke='#3D7BD9' strokeWidth='2' fill='none' /&gt;&#10;                &lt;path d='M385 86 L391 96 L397 86 Z' fill='#3D7BD9' /&gt;&#10;&#10;                &lt;text x='8' y='118' fontSize='12' fill='#1E4FA8' fontWeight='bold'&gt;数学基础&lt;/text&gt;&#10;                &lt;rect x='86' y='96' width='112' height='44' rx='4' fill='#E8EFF8' stroke='#3D7BD9' /&gt;&#10;                &lt;text x='142' y='123' textAnchor='middle' fontSize='12' fill='#0E3F8C'&gt;数系扩张&lt;/text&gt;&#10;                &lt;rect x='212' y='96' width='112' height='44' rx='4' fill='#E8EFF8' stroke='#3D7BD9' /&gt;&#10;                &lt;text x='268' y='123' textAnchor='middle' fontSize='12' fill='#0E3F8C'&gt;群与群函数&lt;/text&gt;&#10;                &lt;rect x='338' y='96' width='112' height='44' rx='4' fill='#E8EFF8' stroke='#3D7BD9' /&gt;&#10;                &lt;text x='394' y='123' textAnchor='middle' fontSize='12' fill='#0E3F8C'&gt;标量与矢量&lt;/text&gt;&#10;                &lt;rect x='464' y='96' width='112' height='44' rx='4' fill='#E8EFF8' stroke='#3D7BD9' /&gt;&#10;                &lt;text x='520' y='123' textAnchor='middle' fontSize='12' fill='#0E3F8C'&gt;函数与分析&lt;/text&gt;&#10;                &lt;rect x='590' y='96' width='112' height='44' rx='4' fill='#E8EFF8' stroke='#3D7BD9' /&gt;&#10;                &lt;text x='646' y='123' textAnchor='middle' fontSize='12' fill='#0E3F8C'&gt;线性代数&lt;/text&gt;&#10;&#10;                &lt;path d='M394 140 L394 170' stroke='#3D7BD9' strokeWidth='2' fill='none' /&gt;&#10;                &lt;path d='M388 164 L394 174 L400 164 Z' fill='#3D7BD9' /&gt;&#10;&#10;                &lt;text x='8' y='196' fontSize='12' fill='#1E4FA8' fontWeight='bold'&gt;核心理论&lt;/text&gt;&#10;                &lt;rect x='86' y='174' width='112' height='44' rx='4' fill='#E8EFF8' stroke='#3D7BD9' /&gt;&#10;                &lt;text x='142' y='201' textAnchor='middle' fontSize='12' fill='#0E3F8C'&gt;概率论&lt;/text&gt;&#10;                &lt;rect x='212' y='174' width='112' height='44' rx='4' fill='#E8EFF8' stroke='#3D7BD9' /&gt;&#10;                &lt;text x='268' y='201' textAnchor='middle' fontSize='12' fill='#0E3F8C'&gt;矢量分析&lt;/text&gt;&#10;                &lt;rect x='338' y='174' width='112' height='44' rx='4' fill='#E8EFF8' stroke='#3D7BD9' /&gt;&#10;                &lt;text x='394' y='201' textAnchor='middle' fontSize='12' fill='#0E3F8C'&gt;周期函数群&lt;/text&gt;&#10;                &lt;rect x='464' y='174' width='112' height='44' rx='4' fill='#E8EFF8' stroke='#3D7BD9' /&gt;&#10;                &lt;text x='520' y='201' textAnchor='middle' fontSize='12' fill='#0E3F8C'&gt;调和分析&lt;/text&gt;&#10;                &lt;rect x='590' y='174' width='112' height='44' rx='4' fill='#E8EFF8' stroke='#3D7BD9' /&gt;&#10;                &lt;text x='646' y='201' textAnchor='middle' fontSize='12' fill='#0E3F8C'&gt;周期流形&lt;/text&gt;&#10;&#10;                &lt;path d='M394 218 L394 248' stroke='#3D7BD9' strokeWidth='2' fill='none' /&gt;&#10;                &lt;path d='M388 242 L394 252 L400 242 Z' fill='#3D7BD9' /&gt;&#10;&#10;                &lt;text x='8' y='274' fontSize='12' fill='#1E4FA8' fontWeight='bold'&gt;统一框架&lt;/text&gt;&#10;                &lt;rect x='86' y='252' width='190' height='44' rx='4' fill='#3D7BD9' /&gt;&#10;                &lt;text x='181' y='280' textAnchor='middle' fontSize='14' fill='#FFFFFF'&gt;周期系统&lt;/text&gt;&#10;                &lt;rect x='296' y='252' width='190' height='44' rx='4' fill='#3D7BD9' /&gt;&#10;                &lt;text x='391' y='280' textAnchor='middle' fontSize='14' fill='#FFFFFF'&gt;周期范畴&lt;/text&gt;&#10;                &lt;rect x='506' y='252' width='190' height='44' rx='4' fill='#3D7BD9' /&gt;&#10;                &lt;text x='601' y='280' textAnchor='middle' fontSize='14' fill='#FFFFFF'&gt;建模与分析方法论&lt;/text&gt;&#10;&#10;                &lt;path d='M391 296 L391 326' stroke='#3D7BD9' strokeWidth='2' fill='none' /&gt;&#10;                &lt;path d='M385 320 L391 330 L397 320 Z' fill='#3D7BD9' /&gt;&#10;&#10;                &lt;text x='8' y='352' fontSize='12' fill='#1E4FA8' fontWeight='bold'&gt;应用领域&lt;/text&gt;&#10;                &lt;rect x='86' y='330' width='616' height='106' rx='4' fill='#FFFFFF' stroke='#D6DCE5' /&gt;&#10;                &lt;text x='102' y='356' fontSize='12' fill='#1A2230'&gt;概率系统 · 密码系统 · 天文 · 历法 · 地理 · 易经 · 电磁&lt;/text&gt;&#10;                &lt;text x='102' y='380' fontSize='12' fill='#1A2230'&gt;音频 · 机械 · 电路与芯片 · 生物 · 心理 · 社交 · 气候&lt;/text&gt;&#10;                &lt;text x='102' y='404' fontSize='12' fill='#1A2230'&gt;经济 · 政治 · 数据分析 · 智能体 · 周转圆激活函数 · 算法系统 · 建模与分析&lt;/text&gt;&#10;                &lt;text x='102' y='426' fontSize='11' fill='#8B97A8'&gt;第 20–40 章，合计 21 章&lt;/text&gt;&#10;            &lt;/svg&gt;&#10;        &lt;/Box&gt;&#10;&#10;        &lt;Box style={{ flex: 1, flexDirection: 'column' }}&gt;&#10;            &lt;Text style={{ fontSize: 20, fontWeight: 'bold', color: '#0E3F8C', marginBottom: 12 }}&gt;每一层都可独立检验&lt;/Text&gt;&#10;            &lt;Text style={{ fontSize: 15, color: '#4A5568', lineHeight: 1.85 }}&gt;&#10;                {`架构不是目录的重新排列。第一层给出支点；第二层搭建代数与几何工具；第三层把工具收敛为可陈述的定理体系；第四层把它们统一为周期系统、周期范畴与一套可执行的建模方法论；第五层则把整套语言带到 21 个具体领域中去接受检验。`}&#10;            &lt;/Text&gt;&#10;            &lt;Text style={{ fontSize: 15, color: '#4A5568', lineHeight: 1.85, marginTop: 12 }}&gt;&#10;                {`关键在于：`}&#10;                &lt;span style={{ fontWeight: 'bold', color: '#0E3F8C' }}&gt;任何一层都可以被单独反驳&lt;/span&gt;&#10;                {`。如果某个应用章节既给不出对称群、又给不出守恒量、轨道也不闭合，本书就必须承认该系统的&quot;周期&quot;只是隐喻——这正是它可被检验的地方。`}&#10;            &lt;/Text&gt;&#10;&#10;            &lt;Box style={{ flex: 1 }} /&gt;&#10;&#10;            &lt;Box style={{ flexDirection: 'row', gap: 14 }}&gt;&#10;                {[&#10;                    { v: '41', u: '章', d: '完整成稿' },&#10;                    { v: '1989', u: '条', d: '定理类结果' },&#10;                    { v: '21', u: '章', d: '应用领域' },&#10;                ].map((it, i) =&gt; (&#10;                    &lt;Box key={i} style={{ flex: 1, paddingTop: 14, paddingBottom: 14, paddingLeft: 14, paddingRight: 14, borderRadius: 6, background: '#F0F5FC', flexDirection: 'column', alignItems: 'center' }}&gt;&#10;                        &lt;Text style={{ fontSize: 38, fontWeight: 'bold', color: '#0E3F8C', lineHeight: 1.05 }}&gt;{it.v}&lt;/Text&gt;&#10;                        &lt;Text style={{ fontSize: 13, color: '#1E4FA8', marginTop: 4 }}&gt;{it.u}&lt;/Text&gt;&#10;                        &lt;Text style={{ fontSize: 12, color: '#8B97A8', marginTop: 2 }}&gt;{it.d}&lt;/Text&gt;&#10;                    &lt;/Box&gt;&#10;                ))}&#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10 / 22&lt;/Text&gt;&#10;    &lt;/Box&gt;&#10;&lt;/Slide&gt;&#10;"/>
        <p:cNvGrpSpPr/>
        <p:nvPr/>
      </p:nvGrpSpPr>
      <p:grpSpPr>
        <a:xfrm>
          <a:off x="0" y="0"/>
          <a:ext cx="0" cy="0"/>
          <a:chOff x="0" y="0"/>
          <a:chExt cx="0" cy="0"/>
        </a:xfrm>
      </p:grpSpPr>
      <p:sp>
        <p:nvSpPr>
          <p:cNvPr id="16" name="矩形 15"/>
          <p:cNvSpPr/>
          <p:nvPr/>
        </p:nvSpPr>
        <p:spPr>
          <a:xfrm>
            <a:off x="0" y="0"/>
            <a:ext cx="12192000" cy="6858000"/>
          </a:xfrm>
          <a:prstGeom prst="rect">
            <a:avLst/>
          </a:prstGeom>
          <a:solidFill>
            <a:srgbClr val="FFFFFF"/>
          </a:solidFill>
          <a:ln/>
        </p:spPr>
        <p:txBody>
          <a:bodyPr/>
          <a:lstStyle/>
          <a:p>
            <a:endParaRPr/>
          </a:p>
        </p:txBody>
      </p:sp>
      <p:sp>
        <p:nvSpPr>
          <p:cNvPr id="17" name="矩形 16"/>
          <p:cNvSpPr/>
          <p:nvPr/>
        </p:nvSpPr>
        <p:spPr>
          <a:xfrm>
            <a:off x="0" y="0"/>
            <a:ext cx="12192000" cy="76200"/>
          </a:xfrm>
          <a:prstGeom prst="rect">
            <a:avLst/>
          </a:prstGeom>
          <a:solidFill>
            <a:srgbClr val="1E4FA8"/>
          </a:solidFill>
          <a:ln/>
        </p:spPr>
        <p:txBody>
          <a:bodyPr/>
          <a:lstStyle/>
          <a:p>
            <a:endParaRPr/>
          </a:p>
        </p:txBody>
      </p:sp>
      <p:sp>
        <p:nvSpPr>
          <p:cNvPr id="18" name="任意多边形: 形状 17"/>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19" name="文本框 18"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20" name="文本框 19"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02 </a:t>
            </a:r>
            <a:r>
              <a:rPr lang="zh-CN" sz="1050" spc="75">
                <a:solidFill>
                  <a:srgbClr val="1E4FA8"/>
                </a:solidFill>
                <a:latin typeface="Microsoft YaHei"/>
                <a:ea typeface="Microsoft YaHei"/>
              </a:rPr>
              <a:t>核心理念与框架</a:t>
            </a:r>
            <a:endParaRPr/>
          </a:p>
        </p:txBody>
      </p:sp>
      <p:sp>
        <p:nvSpPr>
          <p:cNvPr id="21" name="文本框 20"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五层架构：从三个不动点，到二十一章应用</a:t>
            </a:r>
            <a:endParaRPr/>
          </a:p>
        </p:txBody>
      </p:sp>
      <p:sp>
        <p:nvSpPr>
          <p:cNvPr id="22" name="矩形: 圆角 21"/>
          <p:cNvSpPr/>
          <p:nvPr/>
        </p:nvSpPr>
        <p:spPr>
          <a:xfrm>
            <a:off x="381000" y="1352550"/>
            <a:ext cx="6724650" cy="5029200"/>
          </a:xfrm>
          <a:prstGeom prst="roundRect">
            <a:avLst>
              <a:gd name="adj" fmla="val 1136"/>
            </a:avLst>
          </a:prstGeom>
          <a:solidFill>
            <a:srgbClr val="F7F9FC"/>
          </a:solidFill>
          <a:ln w="12700">
            <a:solidFill>
              <a:srgbClr val="E5E7EB"/>
            </a:solidFill>
            <a:prstDash val="solid"/>
          </a:ln>
        </p:spPr>
        <p:txBody>
          <a:bodyPr/>
          <a:lstStyle/>
          <a:p>
            <a:endParaRPr/>
          </a:p>
        </p:txBody>
      </p:sp>
      <p:pic>
        <p:nvPicPr>
          <p:cNvPr id="23" name="图形 2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4350" y="1809750"/>
            <a:ext cx="6457950" cy="4124325"/>
          </a:xfrm>
          <a:prstGeom prst="rect">
            <a:avLst/>
          </a:prstGeom>
          <a:ln/>
        </p:spPr>
      </p:pic>
      <p:sp>
        <p:nvSpPr>
          <p:cNvPr id="24" name="文本框 23" descr="{&quot;isTemplate&quot;:true,&quot;type&quot;:&quot;text&quot;}"/>
          <p:cNvSpPr txBox="1"/>
          <p:nvPr/>
        </p:nvSpPr>
        <p:spPr>
          <a:xfrm>
            <a:off x="7353300" y="1352550"/>
            <a:ext cx="445770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每一层都可独立检验</a:t>
            </a:r>
            <a:endParaRPr/>
          </a:p>
        </p:txBody>
      </p:sp>
      <p:sp>
        <p:nvSpPr>
          <p:cNvPr id="25" name="文本框 24" descr="{&quot;isTemplate&quot;:true,&quot;type&quot;:&quot;text&quot;}"/>
          <p:cNvSpPr txBox="1"/>
          <p:nvPr/>
        </p:nvSpPr>
        <p:spPr>
          <a:xfrm>
            <a:off x="7353300" y="1695450"/>
            <a:ext cx="4457700" cy="1276350"/>
          </a:xfrm>
          <a:prstGeom prst="rect">
            <a:avLst/>
          </a:prstGeom>
        </p:spPr>
        <p:txBody>
          <a:bodyPr wrap="square" lIns="0" tIns="0" rIns="0" bIns="0">
            <a:normAutofit/>
          </a:bodyPr>
          <a:lstStyle/>
          <a:p>
            <a:pPr>
              <a:lnSpc>
                <a:spcPct val="185000"/>
              </a:lnSpc>
            </a:pPr>
            <a:r>
              <a:rPr lang="zh-CN" sz="1125">
                <a:solidFill>
                  <a:srgbClr val="4A5568"/>
                </a:solidFill>
                <a:latin typeface="Microsoft YaHei"/>
                <a:ea typeface="Microsoft YaHei"/>
              </a:rPr>
              <a:t>架构不是目录的重新排列。第一层给出支点；第二层搭建代数与几何工具；第三层把工具收敛为可陈述的定理体系；第四层把它们统一为周期系统、周期范畴与一套可执行的建模方法论；第五层则把整套语言带到</a:t>
            </a:r>
            <a:r>
              <a:rPr lang="en-US" sz="1125">
                <a:solidFill>
                  <a:srgbClr val="4A5568"/>
                </a:solidFill>
                <a:latin typeface="Microsoft YaHei"/>
                <a:ea typeface="Microsoft YaHei"/>
              </a:rPr>
              <a:t> 21 </a:t>
            </a:r>
            <a:r>
              <a:rPr lang="zh-CN" sz="1125">
                <a:solidFill>
                  <a:srgbClr val="4A5568"/>
                </a:solidFill>
                <a:latin typeface="Microsoft YaHei"/>
                <a:ea typeface="Microsoft YaHei"/>
              </a:rPr>
              <a:t>个具体领域中去接受检验。</a:t>
            </a:r>
            <a:endParaRPr/>
          </a:p>
        </p:txBody>
      </p:sp>
      <p:sp>
        <p:nvSpPr>
          <p:cNvPr id="26" name="文本框 25" descr="{&quot;isTemplate&quot;:true,&quot;type&quot;:&quot;text&quot;}"/>
          <p:cNvSpPr txBox="1"/>
          <p:nvPr/>
        </p:nvSpPr>
        <p:spPr>
          <a:xfrm>
            <a:off x="7353300" y="3086100"/>
            <a:ext cx="4457700" cy="952500"/>
          </a:xfrm>
          <a:prstGeom prst="rect">
            <a:avLst/>
          </a:prstGeom>
        </p:spPr>
        <p:txBody>
          <a:bodyPr wrap="square" lIns="0" tIns="0" rIns="0" bIns="0">
            <a:normAutofit/>
          </a:bodyPr>
          <a:lstStyle/>
          <a:p>
            <a:pPr>
              <a:lnSpc>
                <a:spcPct val="185000"/>
              </a:lnSpc>
            </a:pPr>
            <a:r>
              <a:rPr lang="zh-CN" sz="1125">
                <a:solidFill>
                  <a:srgbClr val="4A5568"/>
                </a:solidFill>
                <a:latin typeface="Microsoft YaHei"/>
                <a:ea typeface="Microsoft YaHei"/>
              </a:rPr>
              <a:t>关键在于：</a:t>
            </a:r>
            <a:r>
              <a:rPr lang="zh-CN" sz="1125" b="1">
                <a:solidFill>
                  <a:srgbClr val="0E3F8C"/>
                </a:solidFill>
                <a:latin typeface="Microsoft YaHei"/>
                <a:ea typeface="Microsoft YaHei"/>
              </a:rPr>
              <a:t>任何一层都可以被单独反驳</a:t>
            </a:r>
            <a:r>
              <a:rPr lang="zh-CN" sz="1125">
                <a:solidFill>
                  <a:srgbClr val="4A5568"/>
                </a:solidFill>
                <a:latin typeface="Microsoft YaHei"/>
                <a:ea typeface="Microsoft YaHei"/>
              </a:rPr>
              <a:t>。如果某个应用章节既给不出对称群、又给不出守恒量、轨道也不闭合，本书就必须承认该系统的</a:t>
            </a:r>
            <a:r>
              <a:rPr lang="en-US" sz="1125">
                <a:solidFill>
                  <a:srgbClr val="4A5568"/>
                </a:solidFill>
                <a:latin typeface="Microsoft YaHei"/>
                <a:ea typeface="Microsoft YaHei"/>
              </a:rPr>
              <a:t>"</a:t>
            </a:r>
            <a:r>
              <a:rPr lang="zh-CN" sz="1125">
                <a:solidFill>
                  <a:srgbClr val="4A5568"/>
                </a:solidFill>
                <a:latin typeface="Microsoft YaHei"/>
                <a:ea typeface="Microsoft YaHei"/>
              </a:rPr>
              <a:t>周期</a:t>
            </a:r>
            <a:r>
              <a:rPr lang="en-US" sz="1125">
                <a:solidFill>
                  <a:srgbClr val="4A5568"/>
                </a:solidFill>
                <a:latin typeface="Microsoft YaHei"/>
                <a:ea typeface="Microsoft YaHei"/>
              </a:rPr>
              <a:t>"</a:t>
            </a:r>
            <a:r>
              <a:rPr lang="zh-CN" sz="1125">
                <a:solidFill>
                  <a:srgbClr val="4A5568"/>
                </a:solidFill>
                <a:latin typeface="Microsoft YaHei"/>
                <a:ea typeface="Microsoft YaHei"/>
              </a:rPr>
              <a:t>只是隐喻——这正是它可被检验的地方。</a:t>
            </a:r>
            <a:endParaRPr/>
          </a:p>
        </p:txBody>
      </p:sp>
      <p:sp>
        <p:nvSpPr>
          <p:cNvPr id="27" name="矩形: 圆角 26"/>
          <p:cNvSpPr/>
          <p:nvPr/>
        </p:nvSpPr>
        <p:spPr>
          <a:xfrm>
            <a:off x="7353300" y="5305425"/>
            <a:ext cx="1400175" cy="1076325"/>
          </a:xfrm>
          <a:prstGeom prst="roundRect">
            <a:avLst>
              <a:gd name="adj" fmla="val 5310"/>
            </a:avLst>
          </a:prstGeom>
          <a:solidFill>
            <a:srgbClr val="F0F5FC"/>
          </a:solidFill>
          <a:ln/>
        </p:spPr>
        <p:txBody>
          <a:bodyPr/>
          <a:lstStyle/>
          <a:p>
            <a:endParaRPr/>
          </a:p>
        </p:txBody>
      </p:sp>
      <p:sp>
        <p:nvSpPr>
          <p:cNvPr id="28" name="文本框 27" descr="{&quot;isTemplate&quot;:true,&quot;type&quot;:&quot;text&quot;}"/>
          <p:cNvSpPr txBox="1"/>
          <p:nvPr/>
        </p:nvSpPr>
        <p:spPr>
          <a:xfrm>
            <a:off x="7829550" y="5438775"/>
            <a:ext cx="447675" cy="457200"/>
          </a:xfrm>
          <a:prstGeom prst="rect">
            <a:avLst/>
          </a:prstGeom>
        </p:spPr>
        <p:txBody>
          <a:bodyPr wrap="none" lIns="0" tIns="0" rIns="0" bIns="0"/>
          <a:lstStyle/>
          <a:p>
            <a:pPr>
              <a:lnSpc>
                <a:spcPct val="105000"/>
              </a:lnSpc>
            </a:pPr>
            <a:r>
              <a:rPr lang="en-US" sz="2850" b="1">
                <a:solidFill>
                  <a:srgbClr val="0E3F8C"/>
                </a:solidFill>
                <a:latin typeface="Microsoft YaHei"/>
                <a:ea typeface="Microsoft YaHei"/>
              </a:rPr>
              <a:t>46</a:t>
            </a:r>
            <a:endParaRPr/>
          </a:p>
        </p:txBody>
      </p:sp>
      <p:sp>
        <p:nvSpPr>
          <p:cNvPr id="29" name="文本框 28" descr="{&quot;isTemplate&quot;:true,&quot;type&quot;:&quot;text&quot;}"/>
          <p:cNvSpPr txBox="1"/>
          <p:nvPr/>
        </p:nvSpPr>
        <p:spPr>
          <a:xfrm>
            <a:off x="7991475" y="5934075"/>
            <a:ext cx="123825" cy="152400"/>
          </a:xfrm>
          <a:prstGeom prst="rect">
            <a:avLst/>
          </a:prstGeom>
        </p:spPr>
        <p:txBody>
          <a:bodyPr wrap="none" lIns="0" tIns="0" rIns="0" bIns="0"/>
          <a:lstStyle/>
          <a:p>
            <a:pPr>
              <a:lnSpc>
                <a:spcPct val="100000"/>
              </a:lnSpc>
            </a:pPr>
            <a:r>
              <a:rPr lang="zh-CN" sz="975">
                <a:solidFill>
                  <a:srgbClr val="1E4FA8"/>
                </a:solidFill>
                <a:latin typeface="Microsoft YaHei"/>
                <a:ea typeface="Microsoft YaHei"/>
              </a:rPr>
              <a:t>章</a:t>
            </a:r>
            <a:endParaRPr/>
          </a:p>
        </p:txBody>
      </p:sp>
      <p:sp>
        <p:nvSpPr>
          <p:cNvPr id="30" name="文本框 29" descr="{&quot;isTemplate&quot;:true,&quot;type&quot;:&quot;text&quot;}"/>
          <p:cNvSpPr txBox="1"/>
          <p:nvPr/>
        </p:nvSpPr>
        <p:spPr>
          <a:xfrm>
            <a:off x="7829550" y="6105525"/>
            <a:ext cx="457200" cy="142875"/>
          </a:xfrm>
          <a:prstGeom prst="rect">
            <a:avLst/>
          </a:prstGeom>
        </p:spPr>
        <p:txBody>
          <a:bodyPr wrap="none" lIns="0" tIns="0" rIns="0" bIns="0"/>
          <a:lstStyle/>
          <a:p>
            <a:pPr>
              <a:lnSpc>
                <a:spcPct val="100000"/>
              </a:lnSpc>
            </a:pPr>
            <a:r>
              <a:rPr lang="zh-CN" sz="900">
                <a:solidFill>
                  <a:srgbClr val="8B97A8"/>
                </a:solidFill>
                <a:latin typeface="Microsoft YaHei"/>
                <a:ea typeface="Microsoft YaHei"/>
              </a:rPr>
              <a:t>完整成稿</a:t>
            </a:r>
            <a:endParaRPr/>
          </a:p>
        </p:txBody>
      </p:sp>
      <p:sp>
        <p:nvSpPr>
          <p:cNvPr id="31" name="矩形: 圆角 30"/>
          <p:cNvSpPr/>
          <p:nvPr/>
        </p:nvSpPr>
        <p:spPr>
          <a:xfrm>
            <a:off x="8886825" y="5305425"/>
            <a:ext cx="1390650" cy="1076325"/>
          </a:xfrm>
          <a:prstGeom prst="roundRect">
            <a:avLst>
              <a:gd name="adj" fmla="val 5310"/>
            </a:avLst>
          </a:prstGeom>
          <a:solidFill>
            <a:srgbClr val="F0F5FC"/>
          </a:solidFill>
          <a:ln/>
        </p:spPr>
        <p:txBody>
          <a:bodyPr/>
          <a:lstStyle/>
          <a:p>
            <a:endParaRPr/>
          </a:p>
        </p:txBody>
      </p:sp>
      <p:sp>
        <p:nvSpPr>
          <p:cNvPr id="32" name="文本框 31" descr="{&quot;isTemplate&quot;:true,&quot;type&quot;:&quot;text&quot;}"/>
          <p:cNvSpPr txBox="1"/>
          <p:nvPr/>
        </p:nvSpPr>
        <p:spPr>
          <a:xfrm>
            <a:off x="9134475" y="5438775"/>
            <a:ext cx="895350" cy="457200"/>
          </a:xfrm>
          <a:prstGeom prst="rect">
            <a:avLst/>
          </a:prstGeom>
        </p:spPr>
        <p:txBody>
          <a:bodyPr wrap="none" lIns="0" tIns="0" rIns="0" bIns="0"/>
          <a:lstStyle/>
          <a:p>
            <a:pPr>
              <a:lnSpc>
                <a:spcPct val="105000"/>
              </a:lnSpc>
            </a:pPr>
            <a:r>
              <a:rPr lang="en-US" sz="2850" b="1">
                <a:solidFill>
                  <a:srgbClr val="0E3F8C"/>
                </a:solidFill>
                <a:latin typeface="Microsoft YaHei"/>
                <a:ea typeface="Microsoft YaHei"/>
              </a:rPr>
              <a:t>3379</a:t>
            </a:r>
            <a:endParaRPr/>
          </a:p>
        </p:txBody>
      </p:sp>
      <p:sp>
        <p:nvSpPr>
          <p:cNvPr id="33" name="文本框 32" descr="{&quot;isTemplate&quot;:true,&quot;type&quot;:&quot;text&quot;}"/>
          <p:cNvSpPr txBox="1"/>
          <p:nvPr/>
        </p:nvSpPr>
        <p:spPr>
          <a:xfrm>
            <a:off x="9525000" y="5934075"/>
            <a:ext cx="123825" cy="152400"/>
          </a:xfrm>
          <a:prstGeom prst="rect">
            <a:avLst/>
          </a:prstGeom>
        </p:spPr>
        <p:txBody>
          <a:bodyPr wrap="none" lIns="0" tIns="0" rIns="0" bIns="0"/>
          <a:lstStyle/>
          <a:p>
            <a:pPr>
              <a:lnSpc>
                <a:spcPct val="100000"/>
              </a:lnSpc>
            </a:pPr>
            <a:r>
              <a:rPr lang="zh-CN" sz="975">
                <a:solidFill>
                  <a:srgbClr val="1E4FA8"/>
                </a:solidFill>
                <a:latin typeface="Microsoft YaHei"/>
                <a:ea typeface="Microsoft YaHei"/>
              </a:rPr>
              <a:t>条</a:t>
            </a:r>
            <a:endParaRPr/>
          </a:p>
        </p:txBody>
      </p:sp>
      <p:sp>
        <p:nvSpPr>
          <p:cNvPr id="34" name="文本框 33" descr="{&quot;isTemplate&quot;:true,&quot;type&quot;:&quot;text&quot;}"/>
          <p:cNvSpPr txBox="1"/>
          <p:nvPr/>
        </p:nvSpPr>
        <p:spPr>
          <a:xfrm>
            <a:off x="9296400" y="6105525"/>
            <a:ext cx="571500" cy="142875"/>
          </a:xfrm>
          <a:prstGeom prst="rect">
            <a:avLst/>
          </a:prstGeom>
        </p:spPr>
        <p:txBody>
          <a:bodyPr wrap="none" lIns="0" tIns="0" rIns="0" bIns="0"/>
          <a:lstStyle/>
          <a:p>
            <a:pPr>
              <a:lnSpc>
                <a:spcPct val="100000"/>
              </a:lnSpc>
            </a:pPr>
            <a:r>
              <a:rPr lang="zh-CN" sz="900">
                <a:solidFill>
                  <a:srgbClr val="8B97A8"/>
                </a:solidFill>
                <a:latin typeface="Microsoft YaHei"/>
                <a:ea typeface="Microsoft YaHei"/>
              </a:rPr>
              <a:t>定理类结果</a:t>
            </a:r>
            <a:endParaRPr/>
          </a:p>
        </p:txBody>
      </p:sp>
      <p:sp>
        <p:nvSpPr>
          <p:cNvPr id="35" name="矩形: 圆角 34"/>
          <p:cNvSpPr/>
          <p:nvPr/>
        </p:nvSpPr>
        <p:spPr>
          <a:xfrm>
            <a:off x="10410825" y="5305425"/>
            <a:ext cx="1400175" cy="1076325"/>
          </a:xfrm>
          <a:prstGeom prst="roundRect">
            <a:avLst>
              <a:gd name="adj" fmla="val 5310"/>
            </a:avLst>
          </a:prstGeom>
          <a:solidFill>
            <a:srgbClr val="F0F5FC"/>
          </a:solidFill>
          <a:ln/>
        </p:spPr>
        <p:txBody>
          <a:bodyPr/>
          <a:lstStyle/>
          <a:p>
            <a:endParaRPr/>
          </a:p>
        </p:txBody>
      </p:sp>
      <p:sp>
        <p:nvSpPr>
          <p:cNvPr id="36" name="文本框 35" descr="{&quot;isTemplate&quot;:true,&quot;type&quot;:&quot;text&quot;}"/>
          <p:cNvSpPr txBox="1"/>
          <p:nvPr/>
        </p:nvSpPr>
        <p:spPr>
          <a:xfrm>
            <a:off x="10887075" y="5438775"/>
            <a:ext cx="447675" cy="457200"/>
          </a:xfrm>
          <a:prstGeom prst="rect">
            <a:avLst/>
          </a:prstGeom>
        </p:spPr>
        <p:txBody>
          <a:bodyPr wrap="none" lIns="0" tIns="0" rIns="0" bIns="0"/>
          <a:lstStyle/>
          <a:p>
            <a:pPr>
              <a:lnSpc>
                <a:spcPct val="105000"/>
              </a:lnSpc>
            </a:pPr>
            <a:r>
              <a:rPr lang="en-US" sz="2850" b="1">
                <a:solidFill>
                  <a:srgbClr val="0E3F8C"/>
                </a:solidFill>
                <a:latin typeface="Microsoft YaHei"/>
                <a:ea typeface="Microsoft YaHei"/>
              </a:rPr>
              <a:t>21</a:t>
            </a:r>
            <a:endParaRPr/>
          </a:p>
        </p:txBody>
      </p:sp>
      <p:sp>
        <p:nvSpPr>
          <p:cNvPr id="37" name="文本框 36" descr="{&quot;isTemplate&quot;:true,&quot;type&quot;:&quot;text&quot;}"/>
          <p:cNvSpPr txBox="1"/>
          <p:nvPr/>
        </p:nvSpPr>
        <p:spPr>
          <a:xfrm>
            <a:off x="11049000" y="5934075"/>
            <a:ext cx="123825" cy="152400"/>
          </a:xfrm>
          <a:prstGeom prst="rect">
            <a:avLst/>
          </a:prstGeom>
        </p:spPr>
        <p:txBody>
          <a:bodyPr wrap="none" lIns="0" tIns="0" rIns="0" bIns="0"/>
          <a:lstStyle/>
          <a:p>
            <a:pPr>
              <a:lnSpc>
                <a:spcPct val="100000"/>
              </a:lnSpc>
            </a:pPr>
            <a:r>
              <a:rPr lang="zh-CN" sz="975">
                <a:solidFill>
                  <a:srgbClr val="1E4FA8"/>
                </a:solidFill>
                <a:latin typeface="Microsoft YaHei"/>
                <a:ea typeface="Microsoft YaHei"/>
              </a:rPr>
              <a:t>章</a:t>
            </a:r>
            <a:endParaRPr/>
          </a:p>
        </p:txBody>
      </p:sp>
      <p:sp>
        <p:nvSpPr>
          <p:cNvPr id="38" name="文本框 37" descr="{&quot;isTemplate&quot;:true,&quot;type&quot;:&quot;text&quot;}"/>
          <p:cNvSpPr txBox="1"/>
          <p:nvPr/>
        </p:nvSpPr>
        <p:spPr>
          <a:xfrm>
            <a:off x="10887075" y="6105525"/>
            <a:ext cx="457200" cy="142875"/>
          </a:xfrm>
          <a:prstGeom prst="rect">
            <a:avLst/>
          </a:prstGeom>
        </p:spPr>
        <p:txBody>
          <a:bodyPr wrap="none" lIns="0" tIns="0" rIns="0" bIns="0"/>
          <a:lstStyle/>
          <a:p>
            <a:pPr>
              <a:lnSpc>
                <a:spcPct val="100000"/>
              </a:lnSpc>
            </a:pPr>
            <a:r>
              <a:rPr lang="zh-CN" sz="900">
                <a:solidFill>
                  <a:srgbClr val="8B97A8"/>
                </a:solidFill>
                <a:latin typeface="Microsoft YaHei"/>
                <a:ea typeface="Microsoft YaHei"/>
              </a:rPr>
              <a:t>应用领域</a:t>
            </a:r>
            <a:endParaRPr/>
          </a:p>
        </p:txBody>
      </p:sp>
      <p:sp>
        <p:nvSpPr>
          <p:cNvPr id="39" name="文本框 38"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40" name="文本框 39"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10 / 22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7F9FC', fontFamily: '&quot;Microsoft YaHei&quot;, &quot;Source Han Sans SC&quot;, sans-serif' }}&gt;&#10;&#10;    &lt;Box style={{ width: '100%', height: 8, background: '#1E4FA8' }} /&gt;&#10;&#10;    &lt;Box style={{ width: '100%', flex: 1, flexDirection: 'column', justifyContent: 'center', paddingLeft: 40, paddingRight: 40 }}&gt;&#10;&#10;        &lt;Box style={{ flexDirection: 'row', alignItems: 'flex-end', gap: 26 }}&gt;&#10;            &lt;Text style={{ fontSize: 158, fontWeight: 'bold', color: '#DCE7F7', lineHeight: 0.9 }}&gt;03&lt;/Text&gt;&#10;            &lt;Box style={{ flexDirection: 'column', paddingBottom: 12 }}&gt;&#10;                &lt;Text style={{ fontSize: 13, color: '#3D7BD9', letterSpacing: 4 }}&gt;第三章 · 方法工具与价值&lt;/Text&gt;&#10;                &lt;Text style={{ fontSize: 50, fontWeight: 'bold', color: '#0E3F8C', marginTop: 10 }}&gt;方法工具与价值&lt;/Text&gt;&#10;            &lt;/Box&gt;&#10;        &lt;/Box&gt;&#10;&#10;        &lt;Box style={{ width: '100%', height: 5, background: '#1E4FA8', marginTop: 26, marginBottom: 32 }} /&gt;&#10;&#10;        &lt;Box style={{ flexDirection: 'row' }}&gt;&#10;            {[&#10;                { t: '四大支柱', d: '群表示论、周期卷积、窗函数与折射率、复指数激活函数——四者互相咬合，而不是并列目录' },&#10;                { t: '两项独立贡献', d: '置闰方法把不可公度性从缺陷变为可管理的结构；周期卷积把相位交互带回级数运算' },&#10;                { t: '二十一章检验场', d: '从天文到经济，从密码到智能体——每一个领域都要先通过&quot;对称群 / 守恒量 / 闭合轨道&quot;三问' },&#10;            ].map((it, i) =&gt; (&#10;                &lt;Box key={i} style={{ flex: 1, flexDirection: 'column', paddingRight: 24, paddingLeft: i === 0 ? 0 : 24, borderLeft: i === 0 ? 'none' : '1px solid #D6DCE5' }}&gt;&#10;                    &lt;Text style={{ fontSize: 20, fontWeight: 'bold', color: '#1A2230', marginBottom: 10 }}&gt;{it.t}&lt;/Text&gt;&#10;                    &lt;Text style={{ fontSize: 15, color: '#4A5568', lineHeight: 1.75 }}&gt;{it.d}&lt;/Text&gt;&#10;                &lt;/Box&gt;&#10;            ))}&#10;        &lt;/Box&gt;&#10;    &lt;/Box&gt;&#10;&#10;    &lt;Box style={{ width: '100%', height: 34, paddingLeft: 40, paddingRight: 40, flexDirection: 'row', alignItems: 'center', justifyContent: 'space-between' }}&gt;&#10;        &lt;Text style={{ fontSize: 12, color: '#8B97A8' }}&gt;Periodicity Mathematics&lt;/Text&gt;&#10;        &lt;Text style={{ fontSize: 14, color: '#0E3F8C' }}&gt;11 / 22&lt;/Text&gt;&#10;    &lt;/Box&gt;&#10;&lt;/Slide&gt;&#10;"/>
        <p:cNvGrpSpPr/>
        <p:nvPr/>
      </p:nvGrpSpPr>
      <p:grpSpPr>
        <a:xfrm>
          <a:off x="0" y="0"/>
          <a:ext cx="0" cy="0"/>
          <a:chOff x="0" y="0"/>
          <a:chExt cx="0" cy="0"/>
        </a:xfrm>
      </p:grpSpPr>
      <p:sp>
        <p:nvSpPr>
          <p:cNvPr id="42" name="矩形 41"/>
          <p:cNvSpPr/>
          <p:nvPr/>
        </p:nvSpPr>
        <p:spPr>
          <a:xfrm>
            <a:off x="0" y="0"/>
            <a:ext cx="12192000" cy="6858000"/>
          </a:xfrm>
          <a:prstGeom prst="rect">
            <a:avLst/>
          </a:prstGeom>
          <a:solidFill>
            <a:srgbClr val="F7F9FC"/>
          </a:solidFill>
          <a:ln/>
        </p:spPr>
        <p:txBody>
          <a:bodyPr/>
          <a:lstStyle/>
          <a:p>
            <a:endParaRPr/>
          </a:p>
        </p:txBody>
      </p:sp>
      <p:sp>
        <p:nvSpPr>
          <p:cNvPr id="43" name="矩形 42"/>
          <p:cNvSpPr/>
          <p:nvPr/>
        </p:nvSpPr>
        <p:spPr>
          <a:xfrm>
            <a:off x="0" y="0"/>
            <a:ext cx="12192000" cy="76200"/>
          </a:xfrm>
          <a:prstGeom prst="rect">
            <a:avLst/>
          </a:prstGeom>
          <a:solidFill>
            <a:srgbClr val="1E4FA8"/>
          </a:solidFill>
          <a:ln/>
        </p:spPr>
        <p:txBody>
          <a:bodyPr/>
          <a:lstStyle/>
          <a:p>
            <a:endParaRPr/>
          </a:p>
        </p:txBody>
      </p:sp>
      <p:sp>
        <p:nvSpPr>
          <p:cNvPr id="44" name="文本框 43" descr="{&quot;isTemplate&quot;:true,&quot;type&quot;:&quot;text&quot;}"/>
          <p:cNvSpPr txBox="1"/>
          <p:nvPr/>
        </p:nvSpPr>
        <p:spPr>
          <a:xfrm>
            <a:off x="381000" y="1733550"/>
            <a:ext cx="1857375" cy="1628775"/>
          </a:xfrm>
          <a:prstGeom prst="rect">
            <a:avLst/>
          </a:prstGeom>
        </p:spPr>
        <p:txBody>
          <a:bodyPr wrap="none" lIns="0" tIns="0" rIns="0" bIns="0"/>
          <a:lstStyle/>
          <a:p>
            <a:pPr>
              <a:lnSpc>
                <a:spcPct val="90000"/>
              </a:lnSpc>
            </a:pPr>
            <a:r>
              <a:rPr lang="en-US" sz="11850" b="1">
                <a:solidFill>
                  <a:srgbClr val="DCE7F7"/>
                </a:solidFill>
                <a:latin typeface="Microsoft YaHei"/>
                <a:ea typeface="Microsoft YaHei"/>
              </a:rPr>
              <a:t>03</a:t>
            </a:r>
            <a:endParaRPr/>
          </a:p>
        </p:txBody>
      </p:sp>
      <p:sp>
        <p:nvSpPr>
          <p:cNvPr id="45" name="文本框 44" descr="{&quot;isTemplate&quot;:true,&quot;type&quot;:&quot;text&quot;}"/>
          <p:cNvSpPr txBox="1"/>
          <p:nvPr/>
        </p:nvSpPr>
        <p:spPr>
          <a:xfrm>
            <a:off x="2486025" y="2428875"/>
            <a:ext cx="3333750" cy="152400"/>
          </a:xfrm>
          <a:prstGeom prst="rect">
            <a:avLst/>
          </a:prstGeom>
        </p:spPr>
        <p:txBody>
          <a:bodyPr wrap="none" lIns="0" tIns="0" rIns="0" bIns="0"/>
          <a:lstStyle/>
          <a:p>
            <a:pPr>
              <a:lnSpc>
                <a:spcPct val="100000"/>
              </a:lnSpc>
            </a:pPr>
            <a:r>
              <a:rPr lang="zh-CN" sz="975" spc="300">
                <a:solidFill>
                  <a:srgbClr val="3D7BD9"/>
                </a:solidFill>
                <a:latin typeface="Microsoft YaHei"/>
                <a:ea typeface="Microsoft YaHei"/>
              </a:rPr>
              <a:t>第三章</a:t>
            </a:r>
            <a:r>
              <a:rPr lang="en-US" sz="975" spc="300">
                <a:solidFill>
                  <a:srgbClr val="3D7BD9"/>
                </a:solidFill>
                <a:latin typeface="Microsoft YaHei"/>
                <a:ea typeface="Microsoft YaHei"/>
              </a:rPr>
              <a:t> · </a:t>
            </a:r>
            <a:r>
              <a:rPr lang="zh-CN" sz="975" spc="300">
                <a:solidFill>
                  <a:srgbClr val="3D7BD9"/>
                </a:solidFill>
                <a:latin typeface="Microsoft YaHei"/>
                <a:ea typeface="Microsoft YaHei"/>
              </a:rPr>
              <a:t>方法工具与价值</a:t>
            </a:r>
            <a:endParaRPr/>
          </a:p>
        </p:txBody>
      </p:sp>
      <p:sp>
        <p:nvSpPr>
          <p:cNvPr id="46" name="文本框 45" descr="{&quot;isTemplate&quot;:true,&quot;type&quot;:&quot;text&quot;}"/>
          <p:cNvSpPr txBox="1"/>
          <p:nvPr/>
        </p:nvSpPr>
        <p:spPr>
          <a:xfrm>
            <a:off x="2486025" y="2676525"/>
            <a:ext cx="3333750" cy="571500"/>
          </a:xfrm>
          <a:prstGeom prst="rect">
            <a:avLst/>
          </a:prstGeom>
        </p:spPr>
        <p:txBody>
          <a:bodyPr wrap="none" lIns="0" tIns="0" rIns="0" bIns="0"/>
          <a:lstStyle/>
          <a:p>
            <a:pPr>
              <a:lnSpc>
                <a:spcPct val="100000"/>
              </a:lnSpc>
            </a:pPr>
            <a:r>
              <a:rPr lang="zh-CN" sz="3750" b="1">
                <a:solidFill>
                  <a:srgbClr val="0E3F8C"/>
                </a:solidFill>
                <a:latin typeface="Microsoft YaHei"/>
                <a:ea typeface="Microsoft YaHei"/>
              </a:rPr>
              <a:t>方法工具与价值</a:t>
            </a:r>
            <a:endParaRPr/>
          </a:p>
        </p:txBody>
      </p:sp>
      <p:sp>
        <p:nvSpPr>
          <p:cNvPr id="47" name="矩形 46"/>
          <p:cNvSpPr/>
          <p:nvPr/>
        </p:nvSpPr>
        <p:spPr>
          <a:xfrm>
            <a:off x="381000" y="3609975"/>
            <a:ext cx="11430000" cy="47625"/>
          </a:xfrm>
          <a:prstGeom prst="rect">
            <a:avLst/>
          </a:prstGeom>
          <a:solidFill>
            <a:srgbClr val="1E4FA8"/>
          </a:solidFill>
          <a:ln/>
        </p:spPr>
        <p:txBody>
          <a:bodyPr/>
          <a:lstStyle/>
          <a:p>
            <a:endParaRPr/>
          </a:p>
        </p:txBody>
      </p:sp>
      <p:sp>
        <p:nvSpPr>
          <p:cNvPr id="48" name="文本框 47" descr="{&quot;isTemplate&quot;:true,&quot;type&quot;:&quot;text&quot;}"/>
          <p:cNvSpPr txBox="1"/>
          <p:nvPr/>
        </p:nvSpPr>
        <p:spPr>
          <a:xfrm>
            <a:off x="381000" y="3962400"/>
            <a:ext cx="3581400" cy="228600"/>
          </a:xfrm>
          <a:prstGeom prst="rect">
            <a:avLst/>
          </a:prstGeom>
        </p:spPr>
        <p:txBody>
          <a:bodyPr wrap="none" lIns="0" tIns="0" rIns="0" bIns="0"/>
          <a:lstStyle/>
          <a:p>
            <a:pPr>
              <a:lnSpc>
                <a:spcPct val="100000"/>
              </a:lnSpc>
            </a:pPr>
            <a:r>
              <a:rPr lang="zh-CN" sz="1500" b="1">
                <a:solidFill>
                  <a:srgbClr val="1A2230"/>
                </a:solidFill>
                <a:latin typeface="Microsoft YaHei"/>
                <a:ea typeface="Microsoft YaHei"/>
              </a:rPr>
              <a:t>四大支柱</a:t>
            </a:r>
            <a:endParaRPr/>
          </a:p>
        </p:txBody>
      </p:sp>
      <p:sp>
        <p:nvSpPr>
          <p:cNvPr id="49" name="文本框 48" descr="{&quot;isTemplate&quot;:true,&quot;type&quot;:&quot;text&quot;}"/>
          <p:cNvSpPr txBox="1"/>
          <p:nvPr/>
        </p:nvSpPr>
        <p:spPr>
          <a:xfrm>
            <a:off x="381000" y="4286250"/>
            <a:ext cx="3581400" cy="600075"/>
          </a:xfrm>
          <a:prstGeom prst="rect">
            <a:avLst/>
          </a:prstGeom>
        </p:spPr>
        <p:txBody>
          <a:bodyPr wrap="square" lIns="0" tIns="0" rIns="0" bIns="0">
            <a:normAutofit fontScale="77500" lnSpcReduction="20000"/>
          </a:bodyPr>
          <a:lstStyle/>
          <a:p>
            <a:pPr>
              <a:lnSpc>
                <a:spcPct val="175000"/>
              </a:lnSpc>
            </a:pPr>
            <a:r>
              <a:rPr lang="zh-CN" sz="1125">
                <a:solidFill>
                  <a:srgbClr val="4A5568"/>
                </a:solidFill>
                <a:latin typeface="Microsoft YaHei"/>
                <a:ea typeface="Microsoft YaHei"/>
              </a:rPr>
              <a:t>群表示论、周期卷积、窗函数与折射率、复指数激活函数（CEAF）与核平滑导-积下降法——四者互相咬合，而不是并列目录</a:t>
            </a:r>
            <a:endParaRPr/>
          </a:p>
        </p:txBody>
      </p:sp>
      <p:sp>
        <p:nvSpPr>
          <p:cNvPr id="50" name="任意多边形: 形状 49"/>
          <p:cNvSpPr/>
          <p:nvPr/>
        </p:nvSpPr>
        <p:spPr>
          <a:xfrm>
            <a:off x="4191000" y="3962400"/>
            <a:ext cx="3819525" cy="923925"/>
          </a:xfrm>
          <a:custGeom>
            <a:avLst/>
            <a:gdLst/>
            <a:ahLst/>
            <a:cxnLst/>
            <a:rect l="0" t="0" r="0" b="0"/>
            <a:pathLst>
              <a:path w="401" h="97">
                <a:moveTo>
                  <a:pt x="0" y="0"/>
                </a:moveTo>
                <a:lnTo>
                  <a:pt x="1" y="0"/>
                </a:lnTo>
                <a:lnTo>
                  <a:pt x="1" y="97"/>
                </a:lnTo>
                <a:lnTo>
                  <a:pt x="0" y="97"/>
                </a:lnTo>
                <a:close/>
              </a:path>
            </a:pathLst>
          </a:custGeom>
          <a:solidFill>
            <a:srgbClr val="D6DCE5"/>
          </a:solidFill>
          <a:ln/>
        </p:spPr>
        <p:txBody>
          <a:bodyPr/>
          <a:lstStyle/>
          <a:p>
            <a:endParaRPr/>
          </a:p>
        </p:txBody>
      </p:sp>
      <p:sp>
        <p:nvSpPr>
          <p:cNvPr id="51" name="文本框 50" descr="{&quot;isTemplate&quot;:true,&quot;type&quot;:&quot;text&quot;}"/>
          <p:cNvSpPr txBox="1"/>
          <p:nvPr/>
        </p:nvSpPr>
        <p:spPr>
          <a:xfrm>
            <a:off x="4429125" y="3962400"/>
            <a:ext cx="3343275" cy="228600"/>
          </a:xfrm>
          <a:prstGeom prst="rect">
            <a:avLst/>
          </a:prstGeom>
        </p:spPr>
        <p:txBody>
          <a:bodyPr wrap="none" lIns="0" tIns="0" rIns="0" bIns="0"/>
          <a:lstStyle/>
          <a:p>
            <a:pPr>
              <a:lnSpc>
                <a:spcPct val="100000"/>
              </a:lnSpc>
            </a:pPr>
            <a:r>
              <a:rPr lang="zh-CN" sz="1500" b="1" dirty="0">
                <a:solidFill>
                  <a:srgbClr val="1A2230"/>
                </a:solidFill>
                <a:latin typeface="Microsoft YaHei"/>
                <a:ea typeface="Microsoft YaHei"/>
              </a:rPr>
              <a:t>两项独立贡献</a:t>
            </a:r>
            <a:endParaRPr dirty="0"/>
          </a:p>
        </p:txBody>
      </p:sp>
      <p:sp>
        <p:nvSpPr>
          <p:cNvPr id="52" name="文本框 51" descr="{&quot;isTemplate&quot;:true,&quot;type&quot;:&quot;text&quot;}"/>
          <p:cNvSpPr txBox="1"/>
          <p:nvPr/>
        </p:nvSpPr>
        <p:spPr>
          <a:xfrm>
            <a:off x="4429125" y="4286250"/>
            <a:ext cx="3343275" cy="600075"/>
          </a:xfrm>
          <a:prstGeom prst="rect">
            <a:avLst/>
          </a:prstGeom>
        </p:spPr>
        <p:txBody>
          <a:bodyPr wrap="square" lIns="0" tIns="0" rIns="0" bIns="0">
            <a:normAutofit/>
          </a:bodyPr>
          <a:lstStyle/>
          <a:p>
            <a:pPr>
              <a:lnSpc>
                <a:spcPct val="175000"/>
              </a:lnSpc>
            </a:pPr>
            <a:r>
              <a:rPr lang="zh-CN" sz="1125" dirty="0">
                <a:solidFill>
                  <a:srgbClr val="4A5568"/>
                </a:solidFill>
                <a:latin typeface="Microsoft YaHei"/>
                <a:ea typeface="Microsoft YaHei"/>
              </a:rPr>
              <a:t>置闰方法把不可公度性从缺陷变为可管理的结构；周期卷积把相位交互带回级数运算</a:t>
            </a:r>
            <a:endParaRPr dirty="0"/>
          </a:p>
        </p:txBody>
      </p:sp>
      <p:sp>
        <p:nvSpPr>
          <p:cNvPr id="53" name="任意多边形: 形状 52"/>
          <p:cNvSpPr/>
          <p:nvPr/>
        </p:nvSpPr>
        <p:spPr>
          <a:xfrm>
            <a:off x="8001000" y="3962400"/>
            <a:ext cx="3819525" cy="923925"/>
          </a:xfrm>
          <a:custGeom>
            <a:avLst/>
            <a:gdLst/>
            <a:ahLst/>
            <a:cxnLst/>
            <a:rect l="0" t="0" r="0" b="0"/>
            <a:pathLst>
              <a:path w="401" h="97">
                <a:moveTo>
                  <a:pt x="0" y="0"/>
                </a:moveTo>
                <a:lnTo>
                  <a:pt x="1" y="0"/>
                </a:lnTo>
                <a:lnTo>
                  <a:pt x="1" y="97"/>
                </a:lnTo>
                <a:lnTo>
                  <a:pt x="0" y="97"/>
                </a:lnTo>
                <a:close/>
              </a:path>
            </a:pathLst>
          </a:custGeom>
          <a:solidFill>
            <a:srgbClr val="D6DCE5"/>
          </a:solidFill>
          <a:ln/>
        </p:spPr>
        <p:txBody>
          <a:bodyPr/>
          <a:lstStyle/>
          <a:p>
            <a:endParaRPr/>
          </a:p>
        </p:txBody>
      </p:sp>
      <p:sp>
        <p:nvSpPr>
          <p:cNvPr id="54" name="文本框 53" descr="{&quot;isTemplate&quot;:true,&quot;type&quot;:&quot;text&quot;}"/>
          <p:cNvSpPr txBox="1"/>
          <p:nvPr/>
        </p:nvSpPr>
        <p:spPr>
          <a:xfrm>
            <a:off x="8239125" y="3962400"/>
            <a:ext cx="3343275" cy="228600"/>
          </a:xfrm>
          <a:prstGeom prst="rect">
            <a:avLst/>
          </a:prstGeom>
        </p:spPr>
        <p:txBody>
          <a:bodyPr wrap="none" lIns="0" tIns="0" rIns="0" bIns="0"/>
          <a:lstStyle/>
          <a:p>
            <a:pPr>
              <a:lnSpc>
                <a:spcPct val="100000"/>
              </a:lnSpc>
            </a:pPr>
            <a:r>
              <a:rPr lang="zh-CN" sz="1500" b="1">
                <a:solidFill>
                  <a:srgbClr val="1A2230"/>
                </a:solidFill>
                <a:latin typeface="Microsoft YaHei"/>
                <a:ea typeface="Microsoft YaHei"/>
              </a:rPr>
              <a:t>二十一章检验场</a:t>
            </a:r>
            <a:endParaRPr/>
          </a:p>
        </p:txBody>
      </p:sp>
      <p:sp>
        <p:nvSpPr>
          <p:cNvPr id="55" name="文本框 54" descr="{&quot;isTemplate&quot;:true,&quot;type&quot;:&quot;text&quot;}"/>
          <p:cNvSpPr txBox="1"/>
          <p:nvPr/>
        </p:nvSpPr>
        <p:spPr>
          <a:xfrm>
            <a:off x="8239125" y="4286250"/>
            <a:ext cx="3343275" cy="600075"/>
          </a:xfrm>
          <a:prstGeom prst="rect">
            <a:avLst/>
          </a:prstGeom>
        </p:spPr>
        <p:txBody>
          <a:bodyPr wrap="square" lIns="0" tIns="0" rIns="0" bIns="0">
            <a:normAutofit/>
          </a:bodyPr>
          <a:lstStyle/>
          <a:p>
            <a:pPr>
              <a:lnSpc>
                <a:spcPct val="175000"/>
              </a:lnSpc>
            </a:pPr>
            <a:r>
              <a:rPr lang="zh-CN" sz="1125">
                <a:solidFill>
                  <a:srgbClr val="4A5568"/>
                </a:solidFill>
                <a:latin typeface="Microsoft YaHei"/>
                <a:ea typeface="Microsoft YaHei"/>
              </a:rPr>
              <a:t>从天文到经济，从密码到智能体——每一个领域都要先通过</a:t>
            </a:r>
            <a:r>
              <a:rPr lang="en-US" sz="1125">
                <a:solidFill>
                  <a:srgbClr val="4A5568"/>
                </a:solidFill>
                <a:latin typeface="Microsoft YaHei"/>
                <a:ea typeface="Microsoft YaHei"/>
              </a:rPr>
              <a:t>"</a:t>
            </a:r>
            <a:r>
              <a:rPr lang="zh-CN" sz="1125">
                <a:solidFill>
                  <a:srgbClr val="4A5568"/>
                </a:solidFill>
                <a:latin typeface="Microsoft YaHei"/>
                <a:ea typeface="Microsoft YaHei"/>
              </a:rPr>
              <a:t>对称群</a:t>
            </a:r>
            <a:r>
              <a:rPr lang="en-US" sz="1125">
                <a:solidFill>
                  <a:srgbClr val="4A5568"/>
                </a:solidFill>
                <a:latin typeface="Microsoft YaHei"/>
                <a:ea typeface="Microsoft YaHei"/>
              </a:rPr>
              <a:t> / </a:t>
            </a:r>
            <a:r>
              <a:rPr lang="zh-CN" sz="1125">
                <a:solidFill>
                  <a:srgbClr val="4A5568"/>
                </a:solidFill>
                <a:latin typeface="Microsoft YaHei"/>
                <a:ea typeface="Microsoft YaHei"/>
              </a:rPr>
              <a:t>守恒量</a:t>
            </a:r>
            <a:r>
              <a:rPr lang="en-US" sz="1125">
                <a:solidFill>
                  <a:srgbClr val="4A5568"/>
                </a:solidFill>
                <a:latin typeface="Microsoft YaHei"/>
                <a:ea typeface="Microsoft YaHei"/>
              </a:rPr>
              <a:t> / </a:t>
            </a:r>
            <a:r>
              <a:rPr lang="zh-CN" sz="1125">
                <a:solidFill>
                  <a:srgbClr val="4A5568"/>
                </a:solidFill>
                <a:latin typeface="Microsoft YaHei"/>
                <a:ea typeface="Microsoft YaHei"/>
              </a:rPr>
              <a:t>闭合轨道</a:t>
            </a:r>
            <a:r>
              <a:rPr lang="en-US" sz="1125">
                <a:solidFill>
                  <a:srgbClr val="4A5568"/>
                </a:solidFill>
                <a:latin typeface="Microsoft YaHei"/>
                <a:ea typeface="Microsoft YaHei"/>
              </a:rPr>
              <a:t>"</a:t>
            </a:r>
            <a:r>
              <a:rPr lang="zh-CN" sz="1125">
                <a:solidFill>
                  <a:srgbClr val="4A5568"/>
                </a:solidFill>
                <a:latin typeface="Microsoft YaHei"/>
                <a:ea typeface="Microsoft YaHei"/>
              </a:rPr>
              <a:t>三问</a:t>
            </a:r>
            <a:endParaRPr/>
          </a:p>
        </p:txBody>
      </p:sp>
      <p:sp>
        <p:nvSpPr>
          <p:cNvPr id="56" name="文本框 55"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57" name="文本框 56"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11 / 22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3 方法工具与价值&lt;/Text&gt;&#10;    &lt;/Box&gt;&#10;&#10;    &lt;Box style={{ width: '100%', height: 78, paddingLeft: 40, paddingRight: 40, justifyContent: 'center' }}&gt;&#10;        &lt;Text style={{ fontSize: 32, fontWeight: 'bold', color: '#0E3F8C' }}&gt;四根柱子：代数基础、交互计算、拐点诊断、周期感知优化&lt;/Text&gt;&#10;    &lt;/Box&gt;&#10;&#10;    &lt;Box style={{ width: '100%', flex: 1, flexDirection: 'row', gap: 26, paddingLeft: 40, paddingRight: 40, paddingBottom: 16 }}&gt;&#10;&#10;        &lt;Box style={{ width: 480, borderRadius: 6, background: '#F7F9FC', border: '1px solid #E5E7EB', justifyContent: 'center', alignItems: 'center' }}&gt;&#10;            &lt;svg width={452} height={505} viewBox='0 0 500 560'&gt;&#10;                &lt;rect x='8' y='10' width='226' height='78' rx='6' fill='#E8EFF8' stroke='#3D7BD9' /&gt;&#10;                &lt;text x='121' y='44' textAnchor='middle' fontSize='16' fontWeight='bold' fill='#0E3F8C'&gt;群表示论&lt;/text&gt;&#10;                &lt;text x='121' y='68' textAnchor='middle' fontSize='11' fill='#4A5568'&gt;周期结构的代数基础&lt;/text&gt;&#10;&#10;                &lt;rect x='266' y='10' width='226' height='78' rx='6' fill='#E8EFF8' stroke='#3D7BD9' /&gt;&#10;                &lt;text x='379' y='44' textAnchor='middle' fontSize='16' fontWeight='bold' fill='#0E3F8C'&gt;周期卷积&lt;/text&gt;&#10;                &lt;text x='379' y='68' textAnchor='middle' fontSize='11' fill='#4A5568'&gt;跨周期相位交互&lt;/text&gt;&#10;&#10;                &lt;path d='M160 96 L212 218' stroke='#3D7BD9' strokeWidth='2' fill='none' /&gt;&#10;                &lt;path d='M204 208 L215 220 L214 205 Z' fill='#3D7BD9' /&gt;&#10;                &lt;path d='M340 96 L288 218' stroke='#3D7BD9' strokeWidth='2' fill='none' /&gt;&#10;                &lt;path d='M296 208 L285 220 L286 205 Z' fill='#3D7BD9' /&gt;&#10;&#10;                &lt;rect x='110' y='228' width='280' height='82' rx='6' fill='#0E3F8C' /&gt;&#10;                &lt;text x='250' y='264' textAnchor='middle' fontSize='17' fontWeight='bold' fill='#FFFFFF'&gt;周期数学统一框架&lt;/text&gt;&#10;                &lt;text x='250' y='288' textAnchor='middle' fontSize='11' fill='#B8CEEC'&gt;四支柱交汇 · 互相咬合而非并置&lt;/text&gt;&#10;&#10;                &lt;path d='M160 452 L212 330' stroke='#3D7BD9' strokeWidth='2' fill='none' /&gt;&#10;                &lt;path d='M215 342 L204 330 L205 345 Z' fill='#3D7BD9' /&gt;&#10;                &lt;path d='M340 452 L288 330' stroke='#3D7BD9' strokeWidth='2' fill='none' /&gt;&#10;                &lt;path d='M285 342 L296 330 L286 345 Z' fill='#3D7BD9' /&gt;&#10;&#10;                &lt;rect x='8' y='460' width='226' height='78' rx='6' fill='#F0F5FC' stroke='#3D7BD9' /&gt;&#10;                &lt;text x='121' y='494' textAnchor='middle' fontSize='16' fontWeight='bold' fill='#0E3F8C'&gt;窗函数与折射率&lt;/text&gt;&#10;                &lt;text x='121' y='518' textAnchor='middle' fontSize='11' fill='#4A5568'&gt;拐点诊断工具&lt;/text&gt;&#10;&#10;                &lt;rect x='266' y='460' width='226' height='78' rx='6' fill='#F0F5FC' stroke='#3D7BD9' /&gt;&#10;                &lt;text x='379' y='486' textAnchor='middle' fontSize='15' fontWeight='bold' fill='#0E3F8C'&gt;复指数激活函数&lt;/text&gt;&#10;                &lt;text x='379' y='508' textAnchor='middle' fontSize='11' fill='#4A5568'&gt;CEAF + 核平滑导-积下降&lt;/text&gt;&#10;                &lt;text x='379' y='526' textAnchor='middle' fontSize='11' fill='#4A5568'&gt;周期感知与优化&lt;/text&gt;&#10;            &lt;/svg&gt;&#10;        &lt;/Box&gt;&#10;&#10;        &lt;Box style={{ flex: 1, flexDirection: 'column' }}&gt;&#10;            &lt;Text style={{ fontSize: 20, fontWeight: 'bold', color: '#0E3F8C', marginBottom: 10 }}&gt;四支柱之间的四种耦合&lt;/Text&gt;&#10;            &lt;Text style={{ fontSize: 15, color: '#4A5568', lineHeight: 1.8, marginBottom: 16 }}&gt;&#10;                {`把四项成果并排陈列，只是一份清单；把它们连成回路，才构成一个框架。四者之间存在四组确定的依赖关系：`}&#10;            &lt;/Text&gt;&#10;&#10;            {[&#10;                { t: '配合', d: '群表示论给出周期结构的代数底座，周期卷积在其上定义跨周期相位交互的运算规则', c: '#1E4FA8' },&#10;                { t: '集成', d: '周期卷积作为神经网络的特征提取层，与周期感知优化在同一套周转圆参数化下集成', c: '#3D7BD9' },&#10;                { t: '支撑', d: '窗函数与折射率体系把方向、趋势、拐点这些几何量翻译为群作用下的可观测量，为代数基础提供实证接口', c: '#3D7BD9' },&#10;                { t: '协同', d: '核平滑导-积下降使用窗函数选定的尺度进行多尺度优化，诊断与优化共享同一组尺度参数', c: '#1E4FA8' },&#10;            ].map((it, i) =&gt; (&#10;                &lt;Box key={i} style={{ flexDirection: 'row', alignItems: 'flex-start', gap: 14, paddingTop: 11, paddingBottom: 11, borderTop: i === 0 ? '1px solid #E5E7EB' : 'none', borderBottom: '1px solid #E5E7EB' }}&gt;&#10;                    &lt;Box style={{ width: 58, paddingTop: 4, paddingBottom: 4, borderRadius: 3, background: '#E8EFF8', alignItems: 'center' }}&gt;&#10;                        &lt;Text style={{ fontSize: 14, fontWeight: 'bold', color: '#1E4FA8' }}&gt;{it.t}&lt;/Text&gt;&#10;                    &lt;/Box&gt;&#10;                    &lt;Text style={{ flex: 1, fontSize: 15, color: '#4A5568', lineHeight: 1.7 }}&gt;{it.d}&lt;/Text&gt;&#10;                &lt;/Box&gt;&#10;            ))}&#10;&#10;            &lt;Box style={{ flex: 1 }} /&gt;&#10;&#10;            &lt;Box style={{ padding: 16, borderRadius: 6, borderLeft: '4px solid #FFC107', background: '#F0F5FC' }}&gt;&#10;                &lt;Text style={{ fontSize: 15, color: '#1A2230', lineHeight: 1.7 }}&gt;&#10;                    {`判断标准很简单：`}&#10;                    &lt;span style={{ fontWeight: 'bold', color: '#0E3F8C' }}&gt;抽掉任意一根柱子，另外三根是否还能站住？&lt;/span&gt;&#10;                    {` 四组耦合中任意一组断裂，框架就退化为一个类比。`}&#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12 / 22&lt;/Text&gt;&#10;    &lt;/Box&gt;&#10;&lt;/Slide&gt;&#10;"/>
        <p:cNvGrpSpPr/>
        <p:nvPr/>
      </p:nvGrpSpPr>
      <p:grpSpPr>
        <a:xfrm>
          <a:off x="0" y="0"/>
          <a:ext cx="0" cy="0"/>
          <a:chOff x="0" y="0"/>
          <a:chExt cx="0" cy="0"/>
        </a:xfrm>
      </p:grpSpPr>
      <p:sp>
        <p:nvSpPr>
          <p:cNvPr id="59" name="矩形 58"/>
          <p:cNvSpPr/>
          <p:nvPr/>
        </p:nvSpPr>
        <p:spPr>
          <a:xfrm>
            <a:off x="0" y="0"/>
            <a:ext cx="12192000" cy="6858000"/>
          </a:xfrm>
          <a:prstGeom prst="rect">
            <a:avLst/>
          </a:prstGeom>
          <a:solidFill>
            <a:srgbClr val="FFFFFF"/>
          </a:solidFill>
          <a:ln/>
        </p:spPr>
        <p:txBody>
          <a:bodyPr/>
          <a:lstStyle/>
          <a:p>
            <a:endParaRPr/>
          </a:p>
        </p:txBody>
      </p:sp>
      <p:sp>
        <p:nvSpPr>
          <p:cNvPr id="60" name="矩形 59"/>
          <p:cNvSpPr/>
          <p:nvPr/>
        </p:nvSpPr>
        <p:spPr>
          <a:xfrm>
            <a:off x="0" y="0"/>
            <a:ext cx="12192000" cy="76200"/>
          </a:xfrm>
          <a:prstGeom prst="rect">
            <a:avLst/>
          </a:prstGeom>
          <a:solidFill>
            <a:srgbClr val="1E4FA8"/>
          </a:solidFill>
          <a:ln/>
        </p:spPr>
        <p:txBody>
          <a:bodyPr/>
          <a:lstStyle/>
          <a:p>
            <a:endParaRPr/>
          </a:p>
        </p:txBody>
      </p:sp>
      <p:sp>
        <p:nvSpPr>
          <p:cNvPr id="61" name="任意多边形: 形状 60"/>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62" name="文本框 61"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63" name="文本框 62"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03 </a:t>
            </a:r>
            <a:r>
              <a:rPr lang="zh-CN" sz="1050" spc="75">
                <a:solidFill>
                  <a:srgbClr val="1E4FA8"/>
                </a:solidFill>
                <a:latin typeface="Microsoft YaHei"/>
                <a:ea typeface="Microsoft YaHei"/>
              </a:rPr>
              <a:t>方法工具与价值</a:t>
            </a:r>
            <a:endParaRPr/>
          </a:p>
        </p:txBody>
      </p:sp>
      <p:sp>
        <p:nvSpPr>
          <p:cNvPr id="64" name="文本框 63"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四根柱子：代数基础、交互计算、拐点诊断、周期感知优化</a:t>
            </a:r>
            <a:endParaRPr/>
          </a:p>
        </p:txBody>
      </p:sp>
      <p:sp>
        <p:nvSpPr>
          <p:cNvPr id="65" name="矩形: 圆角 64"/>
          <p:cNvSpPr/>
          <p:nvPr/>
        </p:nvSpPr>
        <p:spPr>
          <a:xfrm>
            <a:off x="381000" y="1352550"/>
            <a:ext cx="4572000" cy="5029200"/>
          </a:xfrm>
          <a:prstGeom prst="roundRect">
            <a:avLst>
              <a:gd name="adj" fmla="val 1250"/>
            </a:avLst>
          </a:prstGeom>
          <a:solidFill>
            <a:srgbClr val="F7F9FC"/>
          </a:solidFill>
          <a:ln w="12700">
            <a:solidFill>
              <a:srgbClr val="E5E7EB"/>
            </a:solidFill>
            <a:prstDash val="solid"/>
          </a:ln>
        </p:spPr>
        <p:txBody>
          <a:bodyPr/>
          <a:lstStyle/>
          <a:p>
            <a:endParaRPr/>
          </a:p>
        </p:txBody>
      </p:sp>
      <p:sp>
        <p:nvSpPr>
          <p:cNvPr id="67" name="文本框 66" descr="{&quot;isTemplate&quot;:true,&quot;type&quot;:&quot;text&quot;}"/>
          <p:cNvSpPr txBox="1"/>
          <p:nvPr/>
        </p:nvSpPr>
        <p:spPr>
          <a:xfrm>
            <a:off x="5200650" y="1352550"/>
            <a:ext cx="661035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四支柱之间的四种耦合</a:t>
            </a:r>
            <a:endParaRPr/>
          </a:p>
        </p:txBody>
      </p:sp>
      <p:sp>
        <p:nvSpPr>
          <p:cNvPr id="68" name="文本框 67" descr="{&quot;isTemplate&quot;:true,&quot;type&quot;:&quot;text&quot;}"/>
          <p:cNvSpPr txBox="1"/>
          <p:nvPr/>
        </p:nvSpPr>
        <p:spPr>
          <a:xfrm>
            <a:off x="5200650" y="1676400"/>
            <a:ext cx="6610350" cy="619125"/>
          </a:xfrm>
          <a:prstGeom prst="rect">
            <a:avLst/>
          </a:prstGeom>
        </p:spPr>
        <p:txBody>
          <a:bodyPr wrap="square" lIns="0" tIns="0" rIns="0" bIns="0">
            <a:normAutofit/>
          </a:bodyPr>
          <a:lstStyle/>
          <a:p>
            <a:pPr>
              <a:lnSpc>
                <a:spcPct val="180000"/>
              </a:lnSpc>
            </a:pPr>
            <a:r>
              <a:rPr lang="zh-CN" sz="1125">
                <a:solidFill>
                  <a:srgbClr val="4A5568"/>
                </a:solidFill>
                <a:latin typeface="Microsoft YaHei"/>
                <a:ea typeface="Microsoft YaHei"/>
              </a:rPr>
              <a:t>把四项成果并排陈列，只是一份清单；把它们连成回路，才构成一个框架。四者之间存在四组确定的依赖关系：</a:t>
            </a:r>
            <a:endParaRPr/>
          </a:p>
        </p:txBody>
      </p:sp>
      <p:sp>
        <p:nvSpPr>
          <p:cNvPr id="69" name="任意多边形: 形状 68"/>
          <p:cNvSpPr/>
          <p:nvPr/>
        </p:nvSpPr>
        <p:spPr>
          <a:xfrm>
            <a:off x="5200650" y="2447925"/>
            <a:ext cx="6610350" cy="542925"/>
          </a:xfrm>
          <a:custGeom>
            <a:avLst/>
            <a:gdLst/>
            <a:ahLst/>
            <a:cxnLst/>
            <a:rect l="0" t="0" r="0" b="0"/>
            <a:pathLst>
              <a:path w="694" h="57">
                <a:moveTo>
                  <a:pt x="0" y="0"/>
                </a:moveTo>
                <a:lnTo>
                  <a:pt x="694" y="0"/>
                </a:lnTo>
                <a:lnTo>
                  <a:pt x="694" y="1"/>
                </a:lnTo>
                <a:lnTo>
                  <a:pt x="0" y="1"/>
                </a:lnTo>
                <a:close/>
              </a:path>
            </a:pathLst>
          </a:custGeom>
          <a:solidFill>
            <a:srgbClr val="E5E7EB"/>
          </a:solidFill>
          <a:ln/>
        </p:spPr>
        <p:txBody>
          <a:bodyPr/>
          <a:lstStyle/>
          <a:p>
            <a:endParaRPr/>
          </a:p>
        </p:txBody>
      </p:sp>
      <p:sp>
        <p:nvSpPr>
          <p:cNvPr id="70" name="任意多边形: 形状 69"/>
          <p:cNvSpPr/>
          <p:nvPr/>
        </p:nvSpPr>
        <p:spPr>
          <a:xfrm>
            <a:off x="5200650" y="2447925"/>
            <a:ext cx="6610350" cy="542925"/>
          </a:xfrm>
          <a:custGeom>
            <a:avLst/>
            <a:gdLst/>
            <a:ahLst/>
            <a:cxnLst/>
            <a:rect l="0" t="0" r="0" b="0"/>
            <a:pathLst>
              <a:path w="694" h="57">
                <a:moveTo>
                  <a:pt x="0" y="56"/>
                </a:moveTo>
                <a:lnTo>
                  <a:pt x="694" y="56"/>
                </a:lnTo>
                <a:lnTo>
                  <a:pt x="694" y="57"/>
                </a:lnTo>
                <a:lnTo>
                  <a:pt x="0" y="57"/>
                </a:lnTo>
                <a:close/>
              </a:path>
            </a:pathLst>
          </a:custGeom>
          <a:solidFill>
            <a:srgbClr val="E5E7EB"/>
          </a:solidFill>
          <a:ln/>
        </p:spPr>
        <p:txBody>
          <a:bodyPr/>
          <a:lstStyle/>
          <a:p>
            <a:endParaRPr/>
          </a:p>
        </p:txBody>
      </p:sp>
      <p:sp>
        <p:nvSpPr>
          <p:cNvPr id="71" name="矩形: 圆角 70"/>
          <p:cNvSpPr/>
          <p:nvPr/>
        </p:nvSpPr>
        <p:spPr>
          <a:xfrm>
            <a:off x="5200650" y="2562225"/>
            <a:ext cx="552450" cy="238125"/>
          </a:xfrm>
          <a:prstGeom prst="roundRect">
            <a:avLst>
              <a:gd name="adj" fmla="val 12000"/>
            </a:avLst>
          </a:prstGeom>
          <a:solidFill>
            <a:srgbClr val="E8EFF8"/>
          </a:solidFill>
          <a:ln/>
        </p:spPr>
        <p:txBody>
          <a:bodyPr/>
          <a:lstStyle/>
          <a:p>
            <a:endParaRPr/>
          </a:p>
        </p:txBody>
      </p:sp>
      <p:sp>
        <p:nvSpPr>
          <p:cNvPr id="72" name="文本框 71" descr="{&quot;isTemplate&quot;:true,&quot;type&quot;:&quot;text&quot;}"/>
          <p:cNvSpPr txBox="1"/>
          <p:nvPr/>
        </p:nvSpPr>
        <p:spPr>
          <a:xfrm>
            <a:off x="5343525" y="2600325"/>
            <a:ext cx="26670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配合</a:t>
            </a:r>
            <a:endParaRPr/>
          </a:p>
        </p:txBody>
      </p:sp>
      <p:sp>
        <p:nvSpPr>
          <p:cNvPr id="73" name="文本框 72" descr="{&quot;isTemplate&quot;:true,&quot;type&quot;:&quot;text&quot;}"/>
          <p:cNvSpPr txBox="1"/>
          <p:nvPr/>
        </p:nvSpPr>
        <p:spPr>
          <a:xfrm>
            <a:off x="5886450" y="2562225"/>
            <a:ext cx="5924550" cy="295275"/>
          </a:xfrm>
          <a:prstGeom prst="rect">
            <a:avLst/>
          </a:prstGeom>
        </p:spPr>
        <p:txBody>
          <a:bodyPr wrap="none" lIns="0" tIns="0" rIns="0" bIns="0"/>
          <a:lstStyle/>
          <a:p>
            <a:pPr>
              <a:lnSpc>
                <a:spcPct val="170000"/>
              </a:lnSpc>
            </a:pPr>
            <a:r>
              <a:rPr lang="zh-CN" sz="1125">
                <a:solidFill>
                  <a:srgbClr val="4A5568"/>
                </a:solidFill>
                <a:latin typeface="Microsoft YaHei"/>
                <a:ea typeface="Microsoft YaHei"/>
              </a:rPr>
              <a:t>群表示论给出周期结构的代数底座，周期卷积在其上定义跨周期相位交互的运算规则</a:t>
            </a:r>
            <a:endParaRPr/>
          </a:p>
        </p:txBody>
      </p:sp>
      <p:sp>
        <p:nvSpPr>
          <p:cNvPr id="74" name="任意多边形: 形状 73"/>
          <p:cNvSpPr/>
          <p:nvPr/>
        </p:nvSpPr>
        <p:spPr>
          <a:xfrm>
            <a:off x="5200650" y="2971800"/>
            <a:ext cx="6610350" cy="523875"/>
          </a:xfrm>
          <a:custGeom>
            <a:avLst/>
            <a:gdLst/>
            <a:ahLst/>
            <a:cxnLst/>
            <a:rect l="0" t="0" r="0" b="0"/>
            <a:pathLst>
              <a:path w="694" h="55">
                <a:moveTo>
                  <a:pt x="0" y="54"/>
                </a:moveTo>
                <a:lnTo>
                  <a:pt x="694" y="54"/>
                </a:lnTo>
                <a:lnTo>
                  <a:pt x="694" y="55"/>
                </a:lnTo>
                <a:lnTo>
                  <a:pt x="0" y="55"/>
                </a:lnTo>
                <a:close/>
              </a:path>
            </a:pathLst>
          </a:custGeom>
          <a:solidFill>
            <a:srgbClr val="E5E7EB"/>
          </a:solidFill>
          <a:ln/>
        </p:spPr>
        <p:txBody>
          <a:bodyPr/>
          <a:lstStyle/>
          <a:p>
            <a:endParaRPr/>
          </a:p>
        </p:txBody>
      </p:sp>
      <p:sp>
        <p:nvSpPr>
          <p:cNvPr id="75" name="矩形: 圆角 74"/>
          <p:cNvSpPr/>
          <p:nvPr/>
        </p:nvSpPr>
        <p:spPr>
          <a:xfrm>
            <a:off x="5200650" y="3076575"/>
            <a:ext cx="552450" cy="238125"/>
          </a:xfrm>
          <a:prstGeom prst="roundRect">
            <a:avLst>
              <a:gd name="adj" fmla="val 12000"/>
            </a:avLst>
          </a:prstGeom>
          <a:solidFill>
            <a:srgbClr val="E8EFF8"/>
          </a:solidFill>
          <a:ln/>
        </p:spPr>
        <p:txBody>
          <a:bodyPr/>
          <a:lstStyle/>
          <a:p>
            <a:endParaRPr/>
          </a:p>
        </p:txBody>
      </p:sp>
      <p:sp>
        <p:nvSpPr>
          <p:cNvPr id="76" name="文本框 75" descr="{&quot;isTemplate&quot;:true,&quot;type&quot;:&quot;text&quot;}"/>
          <p:cNvSpPr txBox="1"/>
          <p:nvPr/>
        </p:nvSpPr>
        <p:spPr>
          <a:xfrm>
            <a:off x="5343525" y="3114675"/>
            <a:ext cx="26670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集成</a:t>
            </a:r>
            <a:endParaRPr/>
          </a:p>
        </p:txBody>
      </p:sp>
      <p:sp>
        <p:nvSpPr>
          <p:cNvPr id="77" name="文本框 76" descr="{&quot;isTemplate&quot;:true,&quot;type&quot;:&quot;text&quot;}"/>
          <p:cNvSpPr txBox="1"/>
          <p:nvPr/>
        </p:nvSpPr>
        <p:spPr>
          <a:xfrm>
            <a:off x="5886450" y="3076575"/>
            <a:ext cx="5924550" cy="295275"/>
          </a:xfrm>
          <a:prstGeom prst="rect">
            <a:avLst/>
          </a:prstGeom>
        </p:spPr>
        <p:txBody>
          <a:bodyPr wrap="none" lIns="0" tIns="0" rIns="0" bIns="0"/>
          <a:lstStyle/>
          <a:p>
            <a:pPr>
              <a:lnSpc>
                <a:spcPct val="170000"/>
              </a:lnSpc>
            </a:pPr>
            <a:r>
              <a:rPr lang="zh-CN" sz="1125">
                <a:solidFill>
                  <a:srgbClr val="4A5568"/>
                </a:solidFill>
                <a:latin typeface="Microsoft YaHei"/>
                <a:ea typeface="Microsoft YaHei"/>
              </a:rPr>
              <a:t>周期卷积作为神经网络的特征提取层，与周期感知优化在同一套周转圆参数化下集成</a:t>
            </a:r>
            <a:endParaRPr/>
          </a:p>
        </p:txBody>
      </p:sp>
      <p:sp>
        <p:nvSpPr>
          <p:cNvPr id="78" name="任意多边形: 形状 77"/>
          <p:cNvSpPr/>
          <p:nvPr/>
        </p:nvSpPr>
        <p:spPr>
          <a:xfrm>
            <a:off x="5200650" y="3486150"/>
            <a:ext cx="6610350" cy="819150"/>
          </a:xfrm>
          <a:custGeom>
            <a:avLst/>
            <a:gdLst/>
            <a:ahLst/>
            <a:cxnLst/>
            <a:rect l="0" t="0" r="0" b="0"/>
            <a:pathLst>
              <a:path w="694" h="86">
                <a:moveTo>
                  <a:pt x="0" y="85"/>
                </a:moveTo>
                <a:lnTo>
                  <a:pt x="694" y="85"/>
                </a:lnTo>
                <a:lnTo>
                  <a:pt x="694" y="86"/>
                </a:lnTo>
                <a:lnTo>
                  <a:pt x="0" y="86"/>
                </a:lnTo>
                <a:close/>
              </a:path>
            </a:pathLst>
          </a:custGeom>
          <a:solidFill>
            <a:srgbClr val="E5E7EB"/>
          </a:solidFill>
          <a:ln/>
        </p:spPr>
        <p:txBody>
          <a:bodyPr/>
          <a:lstStyle/>
          <a:p>
            <a:endParaRPr/>
          </a:p>
        </p:txBody>
      </p:sp>
      <p:sp>
        <p:nvSpPr>
          <p:cNvPr id="79" name="矩形: 圆角 78"/>
          <p:cNvSpPr/>
          <p:nvPr/>
        </p:nvSpPr>
        <p:spPr>
          <a:xfrm>
            <a:off x="5200650" y="3590925"/>
            <a:ext cx="552450" cy="238125"/>
          </a:xfrm>
          <a:prstGeom prst="roundRect">
            <a:avLst>
              <a:gd name="adj" fmla="val 12000"/>
            </a:avLst>
          </a:prstGeom>
          <a:solidFill>
            <a:srgbClr val="E8EFF8"/>
          </a:solidFill>
          <a:ln/>
        </p:spPr>
        <p:txBody>
          <a:bodyPr/>
          <a:lstStyle/>
          <a:p>
            <a:endParaRPr/>
          </a:p>
        </p:txBody>
      </p:sp>
      <p:sp>
        <p:nvSpPr>
          <p:cNvPr id="80" name="文本框 79" descr="{&quot;isTemplate&quot;:true,&quot;type&quot;:&quot;text&quot;}"/>
          <p:cNvSpPr txBox="1"/>
          <p:nvPr/>
        </p:nvSpPr>
        <p:spPr>
          <a:xfrm>
            <a:off x="5343525" y="3629025"/>
            <a:ext cx="26670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支撑</a:t>
            </a:r>
            <a:endParaRPr/>
          </a:p>
        </p:txBody>
      </p:sp>
      <p:sp>
        <p:nvSpPr>
          <p:cNvPr id="81" name="文本框 80" descr="{&quot;isTemplate&quot;:true,&quot;type&quot;:&quot;text&quot;}"/>
          <p:cNvSpPr txBox="1"/>
          <p:nvPr/>
        </p:nvSpPr>
        <p:spPr>
          <a:xfrm>
            <a:off x="5886450" y="3590925"/>
            <a:ext cx="5924550" cy="590550"/>
          </a:xfrm>
          <a:prstGeom prst="rect">
            <a:avLst/>
          </a:prstGeom>
        </p:spPr>
        <p:txBody>
          <a:bodyPr wrap="square" lIns="0" tIns="0" rIns="0" bIns="0">
            <a:normAutofit/>
          </a:bodyPr>
          <a:lstStyle/>
          <a:p>
            <a:pPr>
              <a:lnSpc>
                <a:spcPct val="170000"/>
              </a:lnSpc>
            </a:pPr>
            <a:r>
              <a:rPr lang="zh-CN" sz="1125">
                <a:solidFill>
                  <a:srgbClr val="4A5568"/>
                </a:solidFill>
                <a:latin typeface="Microsoft YaHei"/>
                <a:ea typeface="Microsoft YaHei"/>
              </a:rPr>
              <a:t>窗函数与折射率体系把方向、趋势、拐点这些几何量翻译为群作用下的可观测量，为代数基础提供实证接口</a:t>
            </a:r>
            <a:endParaRPr/>
          </a:p>
        </p:txBody>
      </p:sp>
      <p:sp>
        <p:nvSpPr>
          <p:cNvPr id="82" name="任意多边形: 形状 81"/>
          <p:cNvSpPr/>
          <p:nvPr/>
        </p:nvSpPr>
        <p:spPr>
          <a:xfrm>
            <a:off x="5200650" y="4295775"/>
            <a:ext cx="6610350" cy="523875"/>
          </a:xfrm>
          <a:custGeom>
            <a:avLst/>
            <a:gdLst/>
            <a:ahLst/>
            <a:cxnLst/>
            <a:rect l="0" t="0" r="0" b="0"/>
            <a:pathLst>
              <a:path w="694" h="55">
                <a:moveTo>
                  <a:pt x="0" y="54"/>
                </a:moveTo>
                <a:lnTo>
                  <a:pt x="694" y="54"/>
                </a:lnTo>
                <a:lnTo>
                  <a:pt x="694" y="55"/>
                </a:lnTo>
                <a:lnTo>
                  <a:pt x="0" y="55"/>
                </a:lnTo>
                <a:close/>
              </a:path>
            </a:pathLst>
          </a:custGeom>
          <a:solidFill>
            <a:srgbClr val="E5E7EB"/>
          </a:solidFill>
          <a:ln/>
        </p:spPr>
        <p:txBody>
          <a:bodyPr/>
          <a:lstStyle/>
          <a:p>
            <a:endParaRPr/>
          </a:p>
        </p:txBody>
      </p:sp>
      <p:sp>
        <p:nvSpPr>
          <p:cNvPr id="83" name="矩形: 圆角 82"/>
          <p:cNvSpPr/>
          <p:nvPr/>
        </p:nvSpPr>
        <p:spPr>
          <a:xfrm>
            <a:off x="5200650" y="4400550"/>
            <a:ext cx="552450" cy="238125"/>
          </a:xfrm>
          <a:prstGeom prst="roundRect">
            <a:avLst>
              <a:gd name="adj" fmla="val 12000"/>
            </a:avLst>
          </a:prstGeom>
          <a:solidFill>
            <a:srgbClr val="E8EFF8"/>
          </a:solidFill>
          <a:ln/>
        </p:spPr>
        <p:txBody>
          <a:bodyPr/>
          <a:lstStyle/>
          <a:p>
            <a:endParaRPr/>
          </a:p>
        </p:txBody>
      </p:sp>
      <p:sp>
        <p:nvSpPr>
          <p:cNvPr id="84" name="文本框 83" descr="{&quot;isTemplate&quot;:true,&quot;type&quot;:&quot;text&quot;}"/>
          <p:cNvSpPr txBox="1"/>
          <p:nvPr/>
        </p:nvSpPr>
        <p:spPr>
          <a:xfrm>
            <a:off x="5343525" y="4438650"/>
            <a:ext cx="26670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协同</a:t>
            </a:r>
            <a:endParaRPr/>
          </a:p>
        </p:txBody>
      </p:sp>
      <p:sp>
        <p:nvSpPr>
          <p:cNvPr id="85" name="文本框 84" descr="{&quot;isTemplate&quot;:true,&quot;type&quot;:&quot;text&quot;}"/>
          <p:cNvSpPr txBox="1"/>
          <p:nvPr/>
        </p:nvSpPr>
        <p:spPr>
          <a:xfrm>
            <a:off x="5886450" y="4400550"/>
            <a:ext cx="5924550" cy="295275"/>
          </a:xfrm>
          <a:prstGeom prst="rect">
            <a:avLst/>
          </a:prstGeom>
        </p:spPr>
        <p:txBody>
          <a:bodyPr wrap="none" lIns="0" tIns="0" rIns="0" bIns="0"/>
          <a:lstStyle/>
          <a:p>
            <a:pPr>
              <a:lnSpc>
                <a:spcPct val="170000"/>
              </a:lnSpc>
            </a:pPr>
            <a:r>
              <a:rPr lang="zh-CN" sz="1125">
                <a:solidFill>
                  <a:srgbClr val="4A5568"/>
                </a:solidFill>
                <a:latin typeface="Microsoft YaHei"/>
                <a:ea typeface="Microsoft YaHei"/>
              </a:rPr>
              <a:t>核平滑导</a:t>
            </a:r>
            <a:r>
              <a:rPr lang="en-US" sz="1125">
                <a:solidFill>
                  <a:srgbClr val="4A5568"/>
                </a:solidFill>
                <a:latin typeface="Microsoft YaHei"/>
                <a:ea typeface="Microsoft YaHei"/>
              </a:rPr>
              <a:t>-</a:t>
            </a:r>
            <a:r>
              <a:rPr lang="zh-CN" sz="1125">
                <a:solidFill>
                  <a:srgbClr val="4A5568"/>
                </a:solidFill>
                <a:latin typeface="Microsoft YaHei"/>
                <a:ea typeface="Microsoft YaHei"/>
              </a:rPr>
              <a:t>积下降使用窗函数选定的尺度进行多尺度优化，诊断与优化共享同一组尺度参数</a:t>
            </a:r>
            <a:endParaRPr/>
          </a:p>
        </p:txBody>
      </p:sp>
      <p:sp>
        <p:nvSpPr>
          <p:cNvPr id="86" name="矩形: 圆角 85"/>
          <p:cNvSpPr/>
          <p:nvPr/>
        </p:nvSpPr>
        <p:spPr>
          <a:xfrm>
            <a:off x="5238750" y="5486400"/>
            <a:ext cx="6610350" cy="895350"/>
          </a:xfrm>
          <a:prstGeom prst="roundRect">
            <a:avLst>
              <a:gd name="adj" fmla="val 6383"/>
            </a:avLst>
          </a:prstGeom>
          <a:solidFill>
            <a:srgbClr val="F0F5FC"/>
          </a:solidFill>
          <a:ln/>
        </p:spPr>
        <p:txBody>
          <a:bodyPr/>
          <a:lstStyle/>
          <a:p>
            <a:endParaRPr/>
          </a:p>
        </p:txBody>
      </p:sp>
      <p:sp>
        <p:nvSpPr>
          <p:cNvPr id="87" name="任意多边形: 形状 86"/>
          <p:cNvSpPr/>
          <p:nvPr/>
        </p:nvSpPr>
        <p:spPr>
          <a:xfrm>
            <a:off x="5238750" y="5486400"/>
            <a:ext cx="6610350" cy="895350"/>
          </a:xfrm>
          <a:custGeom>
            <a:avLst/>
            <a:gdLst/>
            <a:ahLst/>
            <a:cxnLst/>
            <a:rect l="0" t="0" r="0" b="0"/>
            <a:pathLst>
              <a:path w="694" h="94">
                <a:moveTo>
                  <a:pt x="6" y="0"/>
                </a:moveTo>
                <a:cubicBezTo>
                  <a:pt x="5" y="0"/>
                  <a:pt x="4" y="1"/>
                  <a:pt x="4" y="2"/>
                </a:cubicBezTo>
                <a:lnTo>
                  <a:pt x="4" y="92"/>
                </a:lnTo>
                <a:cubicBezTo>
                  <a:pt x="4" y="93"/>
                  <a:pt x="5" y="94"/>
                  <a:pt x="6" y="94"/>
                </a:cubicBezTo>
                <a:cubicBezTo>
                  <a:pt x="3" y="94"/>
                  <a:pt x="0" y="91"/>
                  <a:pt x="0" y="88"/>
                </a:cubicBezTo>
                <a:lnTo>
                  <a:pt x="0" y="6"/>
                </a:lnTo>
                <a:cubicBezTo>
                  <a:pt x="0" y="3"/>
                  <a:pt x="3" y="0"/>
                  <a:pt x="6" y="0"/>
                </a:cubicBezTo>
                <a:close/>
              </a:path>
            </a:pathLst>
          </a:custGeom>
          <a:solidFill>
            <a:srgbClr val="FFC107"/>
          </a:solidFill>
          <a:ln/>
        </p:spPr>
        <p:txBody>
          <a:bodyPr/>
          <a:lstStyle/>
          <a:p>
            <a:endParaRPr/>
          </a:p>
        </p:txBody>
      </p:sp>
      <p:sp>
        <p:nvSpPr>
          <p:cNvPr id="88" name="文本框 87" descr="{&quot;isTemplate&quot;:true,&quot;type&quot;:&quot;text&quot;}"/>
          <p:cNvSpPr txBox="1"/>
          <p:nvPr/>
        </p:nvSpPr>
        <p:spPr>
          <a:xfrm>
            <a:off x="5391150" y="5638800"/>
            <a:ext cx="6267450" cy="590550"/>
          </a:xfrm>
          <a:prstGeom prst="rect">
            <a:avLst/>
          </a:prstGeom>
        </p:spPr>
        <p:txBody>
          <a:bodyPr wrap="square" lIns="0" tIns="0" rIns="0" bIns="0">
            <a:normAutofit/>
          </a:bodyPr>
          <a:lstStyle/>
          <a:p>
            <a:pPr>
              <a:lnSpc>
                <a:spcPct val="170000"/>
              </a:lnSpc>
            </a:pPr>
            <a:r>
              <a:rPr lang="zh-CN" sz="1125">
                <a:solidFill>
                  <a:srgbClr val="1A2230"/>
                </a:solidFill>
                <a:latin typeface="Microsoft YaHei"/>
                <a:ea typeface="Microsoft YaHei"/>
              </a:rPr>
              <a:t>判断标准很简单：</a:t>
            </a:r>
            <a:r>
              <a:rPr lang="zh-CN" sz="1125" b="1">
                <a:solidFill>
                  <a:srgbClr val="0E3F8C"/>
                </a:solidFill>
                <a:latin typeface="Microsoft YaHei"/>
                <a:ea typeface="Microsoft YaHei"/>
              </a:rPr>
              <a:t>抽掉任意一根柱子，另外三根是否还能站住？</a:t>
            </a:r>
            <a:r>
              <a:rPr lang="en-US" sz="1125">
                <a:solidFill>
                  <a:srgbClr val="1A2230"/>
                </a:solidFill>
                <a:latin typeface="Microsoft YaHei"/>
                <a:ea typeface="Microsoft YaHei"/>
              </a:rPr>
              <a:t> </a:t>
            </a:r>
            <a:r>
              <a:rPr lang="zh-CN" sz="1125">
                <a:solidFill>
                  <a:srgbClr val="1A2230"/>
                </a:solidFill>
                <a:latin typeface="Microsoft YaHei"/>
                <a:ea typeface="Microsoft YaHei"/>
              </a:rPr>
              <a:t>四组耦合中任意一组断裂，框架就退化为一个类比。</a:t>
            </a:r>
            <a:endParaRPr/>
          </a:p>
        </p:txBody>
      </p:sp>
      <p:sp>
        <p:nvSpPr>
          <p:cNvPr id="89" name="文本框 88"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90" name="文本框 89"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12 / 22</a:t>
            </a:r>
            <a:endParaRPr/>
          </a:p>
        </p:txBody>
      </p:sp>
      <p:grpSp>
        <p:nvGrpSpPr>
          <p:cNvPr id="44" name="组合 43">
            <a:extLst>
              <a:ext uri="{FF2B5EF4-FFF2-40B4-BE49-F238E27FC236}">
                <a16:creationId xmlns:a16="http://schemas.microsoft.com/office/drawing/2014/main" id="{FBAA4FFA-46FE-0C65-41F6-4EF14DC75424}"/>
              </a:ext>
            </a:extLst>
          </p:cNvPr>
          <p:cNvGrpSpPr/>
          <p:nvPr/>
        </p:nvGrpSpPr>
        <p:grpSpPr>
          <a:xfrm>
            <a:off x="583234" y="1552745"/>
            <a:ext cx="4167530" cy="4535260"/>
            <a:chOff x="583234" y="1552745"/>
            <a:chExt cx="4167530" cy="4535260"/>
          </a:xfrm>
        </p:grpSpPr>
        <p:grpSp>
          <p:nvGrpSpPr>
            <p:cNvPr id="37" name="组合 36">
              <a:extLst>
                <a:ext uri="{FF2B5EF4-FFF2-40B4-BE49-F238E27FC236}">
                  <a16:creationId xmlns:a16="http://schemas.microsoft.com/office/drawing/2014/main" id="{F68B85EC-E5C3-3A80-E2B1-56D098EDC0E8}"/>
                </a:ext>
              </a:extLst>
            </p:cNvPr>
            <p:cNvGrpSpPr/>
            <p:nvPr/>
          </p:nvGrpSpPr>
          <p:grpSpPr>
            <a:xfrm>
              <a:off x="583234" y="1552745"/>
              <a:ext cx="1945995" cy="669981"/>
              <a:chOff x="583234" y="1552745"/>
              <a:chExt cx="1945995" cy="669981"/>
            </a:xfrm>
          </p:grpSpPr>
          <p:sp>
            <p:nvSpPr>
              <p:cNvPr id="3" name="任意多边形: 形状 2">
                <a:extLst>
                  <a:ext uri="{FF2B5EF4-FFF2-40B4-BE49-F238E27FC236}">
                    <a16:creationId xmlns:a16="http://schemas.microsoft.com/office/drawing/2014/main" id="{C2203EA9-B104-A571-C29E-41177D6F84FB}"/>
                  </a:ext>
                </a:extLst>
              </p:cNvPr>
              <p:cNvSpPr/>
              <p:nvPr/>
            </p:nvSpPr>
            <p:spPr>
              <a:xfrm>
                <a:off x="583234" y="1552745"/>
                <a:ext cx="1945995" cy="669981"/>
              </a:xfrm>
              <a:custGeom>
                <a:avLst/>
                <a:gdLst>
                  <a:gd name="connsiteX0" fmla="*/ 1894332 w 1945995"/>
                  <a:gd name="connsiteY0" fmla="*/ 0 h 669981"/>
                  <a:gd name="connsiteX1" fmla="*/ 1945996 w 1945995"/>
                  <a:gd name="connsiteY1" fmla="*/ 0 h 669981"/>
                  <a:gd name="connsiteX2" fmla="*/ 1945996 w 1945995"/>
                  <a:gd name="connsiteY2" fmla="*/ 669982 h 669981"/>
                  <a:gd name="connsiteX3" fmla="*/ 1894332 w 1945995"/>
                  <a:gd name="connsiteY3" fmla="*/ 669982 h 669981"/>
                  <a:gd name="connsiteX4" fmla="*/ 51664 w 1945995"/>
                  <a:gd name="connsiteY4" fmla="*/ 669982 h 669981"/>
                  <a:gd name="connsiteX5" fmla="*/ 0 w 1945995"/>
                  <a:gd name="connsiteY5" fmla="*/ 669982 h 669981"/>
                  <a:gd name="connsiteX6" fmla="*/ 0 w 1945995"/>
                  <a:gd name="connsiteY6" fmla="*/ 0 h 669981"/>
                  <a:gd name="connsiteX7" fmla="*/ 51664 w 1945995"/>
                  <a:gd name="connsiteY7" fmla="*/ 0 h 66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995" h="669981">
                    <a:moveTo>
                      <a:pt x="1894332" y="0"/>
                    </a:moveTo>
                    <a:cubicBezTo>
                      <a:pt x="1922865" y="0"/>
                      <a:pt x="1945996" y="0"/>
                      <a:pt x="1945996" y="0"/>
                    </a:cubicBezTo>
                    <a:lnTo>
                      <a:pt x="1945996" y="669982"/>
                    </a:lnTo>
                    <a:cubicBezTo>
                      <a:pt x="1945996" y="669982"/>
                      <a:pt x="1922865" y="669982"/>
                      <a:pt x="1894332" y="669982"/>
                    </a:cubicBezTo>
                    <a:lnTo>
                      <a:pt x="51664" y="669982"/>
                    </a:lnTo>
                    <a:cubicBezTo>
                      <a:pt x="23131" y="669982"/>
                      <a:pt x="0" y="669982"/>
                      <a:pt x="0" y="669982"/>
                    </a:cubicBezTo>
                    <a:lnTo>
                      <a:pt x="0" y="0"/>
                    </a:lnTo>
                    <a:cubicBezTo>
                      <a:pt x="0" y="0"/>
                      <a:pt x="23131" y="0"/>
                      <a:pt x="51664" y="0"/>
                    </a:cubicBezTo>
                    <a:close/>
                  </a:path>
                </a:pathLst>
              </a:custGeom>
              <a:solidFill>
                <a:srgbClr val="E8EFF8"/>
              </a:solidFill>
              <a:ln w="8611" cap="flat">
                <a:solidFill>
                  <a:srgbClr val="3D7BD9"/>
                </a:solidFill>
                <a:prstDash val="solid"/>
                <a:miter/>
              </a:ln>
            </p:spPr>
            <p:txBody>
              <a:bodyPr rtlCol="0" anchor="ctr"/>
              <a:lstStyle/>
              <a:p>
                <a:endParaRPr lang="zh-CN" altLang="en-US"/>
              </a:p>
            </p:txBody>
          </p:sp>
          <p:sp>
            <p:nvSpPr>
              <p:cNvPr id="4" name="文本框 3">
                <a:extLst>
                  <a:ext uri="{FF2B5EF4-FFF2-40B4-BE49-F238E27FC236}">
                    <a16:creationId xmlns:a16="http://schemas.microsoft.com/office/drawing/2014/main" id="{1F1170A1-BF00-D6AF-8D5C-DCC9ED9434D0}"/>
                  </a:ext>
                </a:extLst>
              </p:cNvPr>
              <p:cNvSpPr txBox="1"/>
              <p:nvPr/>
            </p:nvSpPr>
            <p:spPr>
              <a:xfrm>
                <a:off x="1189253" y="1653046"/>
                <a:ext cx="733958" cy="271819"/>
              </a:xfrm>
              <a:prstGeom prst="rect">
                <a:avLst/>
              </a:prstGeom>
              <a:noFill/>
            </p:spPr>
            <p:txBody>
              <a:bodyPr wrap="none" rtlCol="0">
                <a:spAutoFit/>
              </a:bodyPr>
              <a:lstStyle/>
              <a:p>
                <a:pPr algn="l"/>
                <a:r>
                  <a:rPr lang="zh-CN" altLang="en-US" sz="1200" b="1" spc="0" baseline="0" dirty="0">
                    <a:ln/>
                    <a:solidFill>
                      <a:srgbClr val="0E3F8C"/>
                    </a:solidFill>
                    <a:latin typeface="微软雅黑"/>
                    <a:ea typeface="微软雅黑"/>
                    <a:sym typeface="微软雅黑"/>
                    <a:rtl val="0"/>
                  </a:rPr>
                  <a:t>群表示论</a:t>
                </a:r>
              </a:p>
            </p:txBody>
          </p:sp>
          <p:sp>
            <p:nvSpPr>
              <p:cNvPr id="5" name="文本框 4">
                <a:extLst>
                  <a:ext uri="{FF2B5EF4-FFF2-40B4-BE49-F238E27FC236}">
                    <a16:creationId xmlns:a16="http://schemas.microsoft.com/office/drawing/2014/main" id="{FFAD6A08-A9D5-DD77-5926-3C4F0CE28CFE}"/>
                  </a:ext>
                </a:extLst>
              </p:cNvPr>
              <p:cNvSpPr txBox="1"/>
              <p:nvPr/>
            </p:nvSpPr>
            <p:spPr>
              <a:xfrm>
                <a:off x="999820" y="1893552"/>
                <a:ext cx="1112824" cy="228872"/>
              </a:xfrm>
              <a:prstGeom prst="rect">
                <a:avLst/>
              </a:prstGeom>
              <a:noFill/>
            </p:spPr>
            <p:txBody>
              <a:bodyPr wrap="none" rtlCol="0">
                <a:spAutoFit/>
              </a:bodyPr>
              <a:lstStyle/>
              <a:p>
                <a:pPr algn="l"/>
                <a:r>
                  <a:rPr lang="zh-CN" altLang="en-US" sz="900" spc="0" baseline="0" dirty="0">
                    <a:ln/>
                    <a:solidFill>
                      <a:srgbClr val="4A5568"/>
                    </a:solidFill>
                    <a:latin typeface="微软雅黑"/>
                    <a:ea typeface="微软雅黑"/>
                    <a:sym typeface="微软雅黑"/>
                    <a:rtl val="0"/>
                  </a:rPr>
                  <a:t>周期结构的代数基础</a:t>
                </a:r>
              </a:p>
            </p:txBody>
          </p:sp>
        </p:grpSp>
        <p:grpSp>
          <p:nvGrpSpPr>
            <p:cNvPr id="38" name="组合 37">
              <a:extLst>
                <a:ext uri="{FF2B5EF4-FFF2-40B4-BE49-F238E27FC236}">
                  <a16:creationId xmlns:a16="http://schemas.microsoft.com/office/drawing/2014/main" id="{24EDA56D-4DC5-E1C2-BE50-A93CF7E71C52}"/>
                </a:ext>
              </a:extLst>
            </p:cNvPr>
            <p:cNvGrpSpPr/>
            <p:nvPr/>
          </p:nvGrpSpPr>
          <p:grpSpPr>
            <a:xfrm>
              <a:off x="2804769" y="1552745"/>
              <a:ext cx="1945995" cy="669981"/>
              <a:chOff x="2804769" y="1552745"/>
              <a:chExt cx="1945995" cy="669981"/>
            </a:xfrm>
          </p:grpSpPr>
          <p:sp>
            <p:nvSpPr>
              <p:cNvPr id="6" name="任意多边形: 形状 5">
                <a:extLst>
                  <a:ext uri="{FF2B5EF4-FFF2-40B4-BE49-F238E27FC236}">
                    <a16:creationId xmlns:a16="http://schemas.microsoft.com/office/drawing/2014/main" id="{4B83DC21-ADF5-93D2-60B6-62BAC4AF5CE2}"/>
                  </a:ext>
                </a:extLst>
              </p:cNvPr>
              <p:cNvSpPr/>
              <p:nvPr/>
            </p:nvSpPr>
            <p:spPr>
              <a:xfrm>
                <a:off x="2804769" y="1552745"/>
                <a:ext cx="1945995" cy="669981"/>
              </a:xfrm>
              <a:custGeom>
                <a:avLst/>
                <a:gdLst>
                  <a:gd name="connsiteX0" fmla="*/ 1894332 w 1945995"/>
                  <a:gd name="connsiteY0" fmla="*/ 0 h 669981"/>
                  <a:gd name="connsiteX1" fmla="*/ 1945996 w 1945995"/>
                  <a:gd name="connsiteY1" fmla="*/ 0 h 669981"/>
                  <a:gd name="connsiteX2" fmla="*/ 1945996 w 1945995"/>
                  <a:gd name="connsiteY2" fmla="*/ 669982 h 669981"/>
                  <a:gd name="connsiteX3" fmla="*/ 1894332 w 1945995"/>
                  <a:gd name="connsiteY3" fmla="*/ 669982 h 669981"/>
                  <a:gd name="connsiteX4" fmla="*/ 51664 w 1945995"/>
                  <a:gd name="connsiteY4" fmla="*/ 669982 h 669981"/>
                  <a:gd name="connsiteX5" fmla="*/ 0 w 1945995"/>
                  <a:gd name="connsiteY5" fmla="*/ 669982 h 669981"/>
                  <a:gd name="connsiteX6" fmla="*/ 0 w 1945995"/>
                  <a:gd name="connsiteY6" fmla="*/ 0 h 669981"/>
                  <a:gd name="connsiteX7" fmla="*/ 51664 w 1945995"/>
                  <a:gd name="connsiteY7" fmla="*/ 0 h 66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995" h="669981">
                    <a:moveTo>
                      <a:pt x="1894332" y="0"/>
                    </a:moveTo>
                    <a:cubicBezTo>
                      <a:pt x="1922865" y="0"/>
                      <a:pt x="1945996" y="0"/>
                      <a:pt x="1945996" y="0"/>
                    </a:cubicBezTo>
                    <a:lnTo>
                      <a:pt x="1945996" y="669982"/>
                    </a:lnTo>
                    <a:cubicBezTo>
                      <a:pt x="1945996" y="669982"/>
                      <a:pt x="1922865" y="669982"/>
                      <a:pt x="1894332" y="669982"/>
                    </a:cubicBezTo>
                    <a:lnTo>
                      <a:pt x="51664" y="669982"/>
                    </a:lnTo>
                    <a:cubicBezTo>
                      <a:pt x="23130" y="669982"/>
                      <a:pt x="0" y="669982"/>
                      <a:pt x="0" y="669982"/>
                    </a:cubicBezTo>
                    <a:lnTo>
                      <a:pt x="0" y="0"/>
                    </a:lnTo>
                    <a:cubicBezTo>
                      <a:pt x="0" y="0"/>
                      <a:pt x="23130" y="0"/>
                      <a:pt x="51664" y="0"/>
                    </a:cubicBezTo>
                    <a:close/>
                  </a:path>
                </a:pathLst>
              </a:custGeom>
              <a:solidFill>
                <a:srgbClr val="E8EFF8"/>
              </a:solidFill>
              <a:ln w="8611" cap="flat">
                <a:solidFill>
                  <a:srgbClr val="3D7BD9"/>
                </a:solidFill>
                <a:prstDash val="solid"/>
                <a:miter/>
              </a:ln>
            </p:spPr>
            <p:txBody>
              <a:bodyPr rtlCol="0" anchor="ctr"/>
              <a:lstStyle/>
              <a:p>
                <a:endParaRPr lang="zh-CN" altLang="en-US"/>
              </a:p>
            </p:txBody>
          </p:sp>
          <p:sp>
            <p:nvSpPr>
              <p:cNvPr id="7" name="文本框 6">
                <a:extLst>
                  <a:ext uri="{FF2B5EF4-FFF2-40B4-BE49-F238E27FC236}">
                    <a16:creationId xmlns:a16="http://schemas.microsoft.com/office/drawing/2014/main" id="{11D46E78-A889-E2E1-B86B-42D9BA9302BA}"/>
                  </a:ext>
                </a:extLst>
              </p:cNvPr>
              <p:cNvSpPr txBox="1"/>
              <p:nvPr/>
            </p:nvSpPr>
            <p:spPr>
              <a:xfrm>
                <a:off x="3410788" y="1653046"/>
                <a:ext cx="733958" cy="271819"/>
              </a:xfrm>
              <a:prstGeom prst="rect">
                <a:avLst/>
              </a:prstGeom>
              <a:noFill/>
            </p:spPr>
            <p:txBody>
              <a:bodyPr wrap="none" rtlCol="0">
                <a:spAutoFit/>
              </a:bodyPr>
              <a:lstStyle/>
              <a:p>
                <a:pPr algn="l"/>
                <a:r>
                  <a:rPr lang="zh-CN" altLang="en-US" sz="1200" b="1" spc="0" baseline="0" dirty="0">
                    <a:ln/>
                    <a:solidFill>
                      <a:srgbClr val="0E3F8C"/>
                    </a:solidFill>
                    <a:latin typeface="微软雅黑"/>
                    <a:ea typeface="微软雅黑"/>
                    <a:sym typeface="微软雅黑"/>
                    <a:rtl val="0"/>
                  </a:rPr>
                  <a:t>周期卷积</a:t>
                </a:r>
              </a:p>
            </p:txBody>
          </p:sp>
          <p:sp>
            <p:nvSpPr>
              <p:cNvPr id="8" name="文本框 7">
                <a:extLst>
                  <a:ext uri="{FF2B5EF4-FFF2-40B4-BE49-F238E27FC236}">
                    <a16:creationId xmlns:a16="http://schemas.microsoft.com/office/drawing/2014/main" id="{3D707E5A-8211-EC8E-01E1-5400C75E7D4D}"/>
                  </a:ext>
                </a:extLst>
              </p:cNvPr>
              <p:cNvSpPr txBox="1"/>
              <p:nvPr/>
            </p:nvSpPr>
            <p:spPr>
              <a:xfrm>
                <a:off x="3324682" y="1893552"/>
                <a:ext cx="906170" cy="228872"/>
              </a:xfrm>
              <a:prstGeom prst="rect">
                <a:avLst/>
              </a:prstGeom>
              <a:noFill/>
            </p:spPr>
            <p:txBody>
              <a:bodyPr wrap="none" rtlCol="0">
                <a:spAutoFit/>
              </a:bodyPr>
              <a:lstStyle/>
              <a:p>
                <a:pPr algn="l"/>
                <a:r>
                  <a:rPr lang="zh-CN" altLang="en-US" sz="900" spc="0" baseline="0" dirty="0">
                    <a:ln/>
                    <a:solidFill>
                      <a:srgbClr val="4A5568"/>
                    </a:solidFill>
                    <a:latin typeface="微软雅黑"/>
                    <a:ea typeface="微软雅黑"/>
                    <a:sym typeface="微软雅黑"/>
                    <a:rtl val="0"/>
                  </a:rPr>
                  <a:t>跨周期相位交互</a:t>
                </a:r>
              </a:p>
            </p:txBody>
          </p:sp>
        </p:grpSp>
        <p:grpSp>
          <p:nvGrpSpPr>
            <p:cNvPr id="42" name="组合 41">
              <a:extLst>
                <a:ext uri="{FF2B5EF4-FFF2-40B4-BE49-F238E27FC236}">
                  <a16:creationId xmlns:a16="http://schemas.microsoft.com/office/drawing/2014/main" id="{C043F938-2540-0EF0-E25D-C23508B0E614}"/>
                </a:ext>
              </a:extLst>
            </p:cNvPr>
            <p:cNvGrpSpPr/>
            <p:nvPr/>
          </p:nvGrpSpPr>
          <p:grpSpPr>
            <a:xfrm>
              <a:off x="583234" y="5418024"/>
              <a:ext cx="1945995" cy="669981"/>
              <a:chOff x="583234" y="5418024"/>
              <a:chExt cx="1945995" cy="669981"/>
            </a:xfrm>
          </p:grpSpPr>
          <p:sp>
            <p:nvSpPr>
              <p:cNvPr id="20" name="任意多边形: 形状 19">
                <a:extLst>
                  <a:ext uri="{FF2B5EF4-FFF2-40B4-BE49-F238E27FC236}">
                    <a16:creationId xmlns:a16="http://schemas.microsoft.com/office/drawing/2014/main" id="{DF6D30FE-2E83-F34A-1954-FB60DB040C85}"/>
                  </a:ext>
                </a:extLst>
              </p:cNvPr>
              <p:cNvSpPr/>
              <p:nvPr/>
            </p:nvSpPr>
            <p:spPr>
              <a:xfrm>
                <a:off x="583234" y="5418024"/>
                <a:ext cx="1945995" cy="669981"/>
              </a:xfrm>
              <a:custGeom>
                <a:avLst/>
                <a:gdLst>
                  <a:gd name="connsiteX0" fmla="*/ 1894332 w 1945995"/>
                  <a:gd name="connsiteY0" fmla="*/ 0 h 669981"/>
                  <a:gd name="connsiteX1" fmla="*/ 1945996 w 1945995"/>
                  <a:gd name="connsiteY1" fmla="*/ 0 h 669981"/>
                  <a:gd name="connsiteX2" fmla="*/ 1945996 w 1945995"/>
                  <a:gd name="connsiteY2" fmla="*/ 669982 h 669981"/>
                  <a:gd name="connsiteX3" fmla="*/ 1894332 w 1945995"/>
                  <a:gd name="connsiteY3" fmla="*/ 669982 h 669981"/>
                  <a:gd name="connsiteX4" fmla="*/ 51664 w 1945995"/>
                  <a:gd name="connsiteY4" fmla="*/ 669982 h 669981"/>
                  <a:gd name="connsiteX5" fmla="*/ 0 w 1945995"/>
                  <a:gd name="connsiteY5" fmla="*/ 669982 h 669981"/>
                  <a:gd name="connsiteX6" fmla="*/ 0 w 1945995"/>
                  <a:gd name="connsiteY6" fmla="*/ 0 h 669981"/>
                  <a:gd name="connsiteX7" fmla="*/ 51664 w 1945995"/>
                  <a:gd name="connsiteY7" fmla="*/ 0 h 66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995" h="669981">
                    <a:moveTo>
                      <a:pt x="1894332" y="0"/>
                    </a:moveTo>
                    <a:cubicBezTo>
                      <a:pt x="1922865" y="0"/>
                      <a:pt x="1945996" y="0"/>
                      <a:pt x="1945996" y="0"/>
                    </a:cubicBezTo>
                    <a:lnTo>
                      <a:pt x="1945996" y="669982"/>
                    </a:lnTo>
                    <a:cubicBezTo>
                      <a:pt x="1945996" y="669982"/>
                      <a:pt x="1922865" y="669982"/>
                      <a:pt x="1894332" y="669982"/>
                    </a:cubicBezTo>
                    <a:lnTo>
                      <a:pt x="51664" y="669982"/>
                    </a:lnTo>
                    <a:cubicBezTo>
                      <a:pt x="23131" y="669982"/>
                      <a:pt x="0" y="669982"/>
                      <a:pt x="0" y="669982"/>
                    </a:cubicBezTo>
                    <a:lnTo>
                      <a:pt x="0" y="0"/>
                    </a:lnTo>
                    <a:cubicBezTo>
                      <a:pt x="0" y="0"/>
                      <a:pt x="23131" y="0"/>
                      <a:pt x="51664" y="0"/>
                    </a:cubicBezTo>
                    <a:close/>
                  </a:path>
                </a:pathLst>
              </a:custGeom>
              <a:solidFill>
                <a:srgbClr val="F0F5FC"/>
              </a:solidFill>
              <a:ln w="8611" cap="flat">
                <a:solidFill>
                  <a:srgbClr val="3D7BD9"/>
                </a:solidFill>
                <a:prstDash val="solid"/>
                <a:miter/>
              </a:ln>
            </p:spPr>
            <p:txBody>
              <a:bodyPr rtlCol="0" anchor="ctr"/>
              <a:lstStyle/>
              <a:p>
                <a:endParaRPr lang="zh-CN" altLang="en-US"/>
              </a:p>
            </p:txBody>
          </p:sp>
          <p:sp>
            <p:nvSpPr>
              <p:cNvPr id="21" name="文本框 20">
                <a:extLst>
                  <a:ext uri="{FF2B5EF4-FFF2-40B4-BE49-F238E27FC236}">
                    <a16:creationId xmlns:a16="http://schemas.microsoft.com/office/drawing/2014/main" id="{C40C9CF3-5E79-F7A0-A176-08638479984E}"/>
                  </a:ext>
                </a:extLst>
              </p:cNvPr>
              <p:cNvSpPr txBox="1"/>
              <p:nvPr/>
            </p:nvSpPr>
            <p:spPr>
              <a:xfrm>
                <a:off x="982599" y="5518325"/>
                <a:ext cx="1147267" cy="271819"/>
              </a:xfrm>
              <a:prstGeom prst="rect">
                <a:avLst/>
              </a:prstGeom>
              <a:noFill/>
            </p:spPr>
            <p:txBody>
              <a:bodyPr wrap="none" rtlCol="0">
                <a:spAutoFit/>
              </a:bodyPr>
              <a:lstStyle/>
              <a:p>
                <a:pPr algn="l"/>
                <a:r>
                  <a:rPr lang="zh-CN" altLang="en-US" sz="1200" b="1" spc="0" baseline="0">
                    <a:ln/>
                    <a:solidFill>
                      <a:srgbClr val="0E3F8C"/>
                    </a:solidFill>
                    <a:latin typeface="微软雅黑"/>
                    <a:ea typeface="微软雅黑"/>
                    <a:sym typeface="微软雅黑"/>
                    <a:rtl val="0"/>
                  </a:rPr>
                  <a:t>窗函数与折射率</a:t>
                </a:r>
              </a:p>
            </p:txBody>
          </p:sp>
          <p:sp>
            <p:nvSpPr>
              <p:cNvPr id="22" name="文本框 21">
                <a:extLst>
                  <a:ext uri="{FF2B5EF4-FFF2-40B4-BE49-F238E27FC236}">
                    <a16:creationId xmlns:a16="http://schemas.microsoft.com/office/drawing/2014/main" id="{DD82F060-2BF4-08A1-95DD-F76D794658FC}"/>
                  </a:ext>
                </a:extLst>
              </p:cNvPr>
              <p:cNvSpPr txBox="1"/>
              <p:nvPr/>
            </p:nvSpPr>
            <p:spPr>
              <a:xfrm>
                <a:off x="1154811" y="5758832"/>
                <a:ext cx="802843" cy="228872"/>
              </a:xfrm>
              <a:prstGeom prst="rect">
                <a:avLst/>
              </a:prstGeom>
              <a:noFill/>
            </p:spPr>
            <p:txBody>
              <a:bodyPr wrap="none" rtlCol="0">
                <a:spAutoFit/>
              </a:bodyPr>
              <a:lstStyle/>
              <a:p>
                <a:pPr algn="l"/>
                <a:r>
                  <a:rPr lang="zh-CN" altLang="en-US" sz="900" spc="0" baseline="0">
                    <a:ln/>
                    <a:solidFill>
                      <a:srgbClr val="4A5568"/>
                    </a:solidFill>
                    <a:latin typeface="微软雅黑"/>
                    <a:ea typeface="微软雅黑"/>
                    <a:sym typeface="微软雅黑"/>
                    <a:rtl val="0"/>
                  </a:rPr>
                  <a:t>拐点诊断工具</a:t>
                </a:r>
              </a:p>
            </p:txBody>
          </p:sp>
        </p:grpSp>
        <p:grpSp>
          <p:nvGrpSpPr>
            <p:cNvPr id="43" name="组合 42">
              <a:extLst>
                <a:ext uri="{FF2B5EF4-FFF2-40B4-BE49-F238E27FC236}">
                  <a16:creationId xmlns:a16="http://schemas.microsoft.com/office/drawing/2014/main" id="{5611A519-5392-14B9-5196-A55FEAD18774}"/>
                </a:ext>
              </a:extLst>
            </p:cNvPr>
            <p:cNvGrpSpPr/>
            <p:nvPr/>
          </p:nvGrpSpPr>
          <p:grpSpPr>
            <a:xfrm>
              <a:off x="2804769" y="5418024"/>
              <a:ext cx="1945995" cy="669981"/>
              <a:chOff x="2804769" y="5418024"/>
              <a:chExt cx="1945995" cy="669981"/>
            </a:xfrm>
          </p:grpSpPr>
          <p:sp>
            <p:nvSpPr>
              <p:cNvPr id="23" name="任意多边形: 形状 22">
                <a:extLst>
                  <a:ext uri="{FF2B5EF4-FFF2-40B4-BE49-F238E27FC236}">
                    <a16:creationId xmlns:a16="http://schemas.microsoft.com/office/drawing/2014/main" id="{297D85E8-7D83-E632-3117-2ED47E5BE95F}"/>
                  </a:ext>
                </a:extLst>
              </p:cNvPr>
              <p:cNvSpPr/>
              <p:nvPr/>
            </p:nvSpPr>
            <p:spPr>
              <a:xfrm>
                <a:off x="2804769" y="5418024"/>
                <a:ext cx="1945995" cy="669981"/>
              </a:xfrm>
              <a:custGeom>
                <a:avLst/>
                <a:gdLst>
                  <a:gd name="connsiteX0" fmla="*/ 1894332 w 1945995"/>
                  <a:gd name="connsiteY0" fmla="*/ 0 h 669981"/>
                  <a:gd name="connsiteX1" fmla="*/ 1945996 w 1945995"/>
                  <a:gd name="connsiteY1" fmla="*/ 0 h 669981"/>
                  <a:gd name="connsiteX2" fmla="*/ 1945996 w 1945995"/>
                  <a:gd name="connsiteY2" fmla="*/ 669982 h 669981"/>
                  <a:gd name="connsiteX3" fmla="*/ 1894332 w 1945995"/>
                  <a:gd name="connsiteY3" fmla="*/ 669982 h 669981"/>
                  <a:gd name="connsiteX4" fmla="*/ 51664 w 1945995"/>
                  <a:gd name="connsiteY4" fmla="*/ 669982 h 669981"/>
                  <a:gd name="connsiteX5" fmla="*/ 0 w 1945995"/>
                  <a:gd name="connsiteY5" fmla="*/ 669982 h 669981"/>
                  <a:gd name="connsiteX6" fmla="*/ 0 w 1945995"/>
                  <a:gd name="connsiteY6" fmla="*/ 0 h 669981"/>
                  <a:gd name="connsiteX7" fmla="*/ 51664 w 1945995"/>
                  <a:gd name="connsiteY7" fmla="*/ 0 h 66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5995" h="669981">
                    <a:moveTo>
                      <a:pt x="1894332" y="0"/>
                    </a:moveTo>
                    <a:cubicBezTo>
                      <a:pt x="1922865" y="0"/>
                      <a:pt x="1945996" y="0"/>
                      <a:pt x="1945996" y="0"/>
                    </a:cubicBezTo>
                    <a:lnTo>
                      <a:pt x="1945996" y="669982"/>
                    </a:lnTo>
                    <a:cubicBezTo>
                      <a:pt x="1945996" y="669982"/>
                      <a:pt x="1922865" y="669982"/>
                      <a:pt x="1894332" y="669982"/>
                    </a:cubicBezTo>
                    <a:lnTo>
                      <a:pt x="51664" y="669982"/>
                    </a:lnTo>
                    <a:cubicBezTo>
                      <a:pt x="23130" y="669982"/>
                      <a:pt x="0" y="669982"/>
                      <a:pt x="0" y="669982"/>
                    </a:cubicBezTo>
                    <a:lnTo>
                      <a:pt x="0" y="0"/>
                    </a:lnTo>
                    <a:cubicBezTo>
                      <a:pt x="0" y="0"/>
                      <a:pt x="23130" y="0"/>
                      <a:pt x="51664" y="0"/>
                    </a:cubicBezTo>
                    <a:close/>
                  </a:path>
                </a:pathLst>
              </a:custGeom>
              <a:solidFill>
                <a:srgbClr val="F0F5FC"/>
              </a:solidFill>
              <a:ln w="8611" cap="flat">
                <a:solidFill>
                  <a:srgbClr val="3D7BD9"/>
                </a:solidFill>
                <a:prstDash val="solid"/>
                <a:miter/>
              </a:ln>
            </p:spPr>
            <p:txBody>
              <a:bodyPr rtlCol="0" anchor="ctr"/>
              <a:lstStyle/>
              <a:p>
                <a:endParaRPr lang="zh-CN" altLang="en-US"/>
              </a:p>
            </p:txBody>
          </p:sp>
          <p:sp>
            <p:nvSpPr>
              <p:cNvPr id="24" name="文本框 23">
                <a:extLst>
                  <a:ext uri="{FF2B5EF4-FFF2-40B4-BE49-F238E27FC236}">
                    <a16:creationId xmlns:a16="http://schemas.microsoft.com/office/drawing/2014/main" id="{E576668D-7B0F-6C00-C10F-8DD323348AC6}"/>
                  </a:ext>
                </a:extLst>
              </p:cNvPr>
              <p:cNvSpPr txBox="1"/>
              <p:nvPr/>
            </p:nvSpPr>
            <p:spPr>
              <a:xfrm>
                <a:off x="3234270" y="5458199"/>
                <a:ext cx="1086993" cy="263230"/>
              </a:xfrm>
              <a:prstGeom prst="rect">
                <a:avLst/>
              </a:prstGeom>
              <a:noFill/>
            </p:spPr>
            <p:txBody>
              <a:bodyPr wrap="none" rtlCol="0">
                <a:spAutoFit/>
              </a:bodyPr>
              <a:lstStyle/>
              <a:p>
                <a:pPr algn="l"/>
                <a:r>
                  <a:rPr lang="zh-CN" altLang="en-US" sz="1125" b="1" spc="0" baseline="0">
                    <a:ln/>
                    <a:solidFill>
                      <a:srgbClr val="0E3F8C"/>
                    </a:solidFill>
                    <a:latin typeface="微软雅黑"/>
                    <a:ea typeface="微软雅黑"/>
                    <a:sym typeface="微软雅黑"/>
                    <a:rtl val="0"/>
                  </a:rPr>
                  <a:t>复指数激活函数</a:t>
                </a:r>
              </a:p>
            </p:txBody>
          </p:sp>
          <p:sp>
            <p:nvSpPr>
              <p:cNvPr id="25" name="文本框 24">
                <a:extLst>
                  <a:ext uri="{FF2B5EF4-FFF2-40B4-BE49-F238E27FC236}">
                    <a16:creationId xmlns:a16="http://schemas.microsoft.com/office/drawing/2014/main" id="{EB5B5CFA-3AF0-6EA1-3570-F1195CD19618}"/>
                  </a:ext>
                </a:extLst>
              </p:cNvPr>
              <p:cNvSpPr txBox="1"/>
              <p:nvPr/>
            </p:nvSpPr>
            <p:spPr>
              <a:xfrm>
                <a:off x="3139554" y="5672936"/>
                <a:ext cx="1276426" cy="228872"/>
              </a:xfrm>
              <a:prstGeom prst="rect">
                <a:avLst/>
              </a:prstGeom>
              <a:noFill/>
            </p:spPr>
            <p:txBody>
              <a:bodyPr wrap="none" rtlCol="0">
                <a:spAutoFit/>
              </a:bodyPr>
              <a:lstStyle/>
              <a:p>
                <a:pPr algn="l"/>
                <a:r>
                  <a:rPr lang="zh-CN" altLang="en-US" sz="825" spc="0" baseline="0">
                    <a:ln/>
                    <a:solidFill>
                      <a:srgbClr val="4A5568"/>
                    </a:solidFill>
                    <a:latin typeface="Arial"/>
                    <a:cs typeface="Arial"/>
                    <a:sym typeface="Arial"/>
                    <a:rtl val="0"/>
                  </a:rPr>
                  <a:t>CEAF + </a:t>
                </a:r>
                <a:r>
                  <a:rPr lang="zh-CN" altLang="en-US" sz="900" spc="0" baseline="0">
                    <a:ln/>
                    <a:solidFill>
                      <a:srgbClr val="4A5568"/>
                    </a:solidFill>
                    <a:latin typeface="微软雅黑"/>
                    <a:ea typeface="微软雅黑"/>
                    <a:cs typeface="Arial"/>
                    <a:sym typeface="微软雅黑"/>
                    <a:rtl val="0"/>
                  </a:rPr>
                  <a:t>核平滑导</a:t>
                </a:r>
                <a:r>
                  <a:rPr lang="zh-CN" altLang="en-US" sz="825" spc="0" baseline="0">
                    <a:ln/>
                    <a:solidFill>
                      <a:srgbClr val="4A5568"/>
                    </a:solidFill>
                    <a:latin typeface="Arial"/>
                    <a:ea typeface="微软雅黑"/>
                    <a:cs typeface="Arial"/>
                    <a:sym typeface="Arial"/>
                    <a:rtl val="0"/>
                  </a:rPr>
                  <a:t>-</a:t>
                </a:r>
                <a:r>
                  <a:rPr lang="zh-CN" altLang="en-US" sz="900" spc="0" baseline="0">
                    <a:ln/>
                    <a:solidFill>
                      <a:srgbClr val="4A5568"/>
                    </a:solidFill>
                    <a:latin typeface="微软雅黑"/>
                    <a:ea typeface="微软雅黑"/>
                    <a:cs typeface="Arial"/>
                    <a:sym typeface="微软雅黑"/>
                    <a:rtl val="0"/>
                  </a:rPr>
                  <a:t>积下降</a:t>
                </a:r>
              </a:p>
            </p:txBody>
          </p:sp>
          <p:sp>
            <p:nvSpPr>
              <p:cNvPr id="26" name="文本框 25">
                <a:extLst>
                  <a:ext uri="{FF2B5EF4-FFF2-40B4-BE49-F238E27FC236}">
                    <a16:creationId xmlns:a16="http://schemas.microsoft.com/office/drawing/2014/main" id="{F69FD883-43B0-5210-42CD-308927077FE4}"/>
                  </a:ext>
                </a:extLst>
              </p:cNvPr>
              <p:cNvSpPr txBox="1"/>
              <p:nvPr/>
            </p:nvSpPr>
            <p:spPr>
              <a:xfrm>
                <a:off x="3324682" y="5827548"/>
                <a:ext cx="906170" cy="228872"/>
              </a:xfrm>
              <a:prstGeom prst="rect">
                <a:avLst/>
              </a:prstGeom>
              <a:noFill/>
            </p:spPr>
            <p:txBody>
              <a:bodyPr wrap="none" rtlCol="0">
                <a:spAutoFit/>
              </a:bodyPr>
              <a:lstStyle/>
              <a:p>
                <a:pPr algn="l"/>
                <a:r>
                  <a:rPr lang="zh-CN" altLang="en-US" sz="900" spc="0" baseline="0">
                    <a:ln/>
                    <a:solidFill>
                      <a:srgbClr val="4A5568"/>
                    </a:solidFill>
                    <a:latin typeface="微软雅黑"/>
                    <a:ea typeface="微软雅黑"/>
                    <a:sym typeface="微软雅黑"/>
                    <a:rtl val="0"/>
                  </a:rPr>
                  <a:t>周期感知与优化</a:t>
                </a:r>
              </a:p>
            </p:txBody>
          </p:sp>
        </p:grpSp>
        <p:grpSp>
          <p:nvGrpSpPr>
            <p:cNvPr id="36" name="组合 35">
              <a:extLst>
                <a:ext uri="{FF2B5EF4-FFF2-40B4-BE49-F238E27FC236}">
                  <a16:creationId xmlns:a16="http://schemas.microsoft.com/office/drawing/2014/main" id="{ED427EBD-3BB5-713E-BD34-ECA968C15AF9}"/>
                </a:ext>
              </a:extLst>
            </p:cNvPr>
            <p:cNvGrpSpPr/>
            <p:nvPr/>
          </p:nvGrpSpPr>
          <p:grpSpPr>
            <a:xfrm>
              <a:off x="1461516" y="2222726"/>
              <a:ext cx="2410968" cy="3195298"/>
              <a:chOff x="1461516" y="2222726"/>
              <a:chExt cx="2410968" cy="3195298"/>
            </a:xfrm>
          </p:grpSpPr>
          <p:grpSp>
            <p:nvGrpSpPr>
              <p:cNvPr id="35" name="组合 34">
                <a:extLst>
                  <a:ext uri="{FF2B5EF4-FFF2-40B4-BE49-F238E27FC236}">
                    <a16:creationId xmlns:a16="http://schemas.microsoft.com/office/drawing/2014/main" id="{A819A534-B235-73DB-2CCB-6C2E05D8543A}"/>
                  </a:ext>
                </a:extLst>
              </p:cNvPr>
              <p:cNvGrpSpPr/>
              <p:nvPr/>
            </p:nvGrpSpPr>
            <p:grpSpPr>
              <a:xfrm>
                <a:off x="1461516" y="3425258"/>
                <a:ext cx="2410968" cy="704339"/>
                <a:chOff x="1461516" y="3425258"/>
                <a:chExt cx="2410968" cy="704339"/>
              </a:xfrm>
            </p:grpSpPr>
            <p:sp>
              <p:nvSpPr>
                <p:cNvPr id="13" name="任意多边形: 形状 12">
                  <a:extLst>
                    <a:ext uri="{FF2B5EF4-FFF2-40B4-BE49-F238E27FC236}">
                      <a16:creationId xmlns:a16="http://schemas.microsoft.com/office/drawing/2014/main" id="{C0DA803A-A31D-D0B2-99E8-2B8EA801C4F4}"/>
                    </a:ext>
                  </a:extLst>
                </p:cNvPr>
                <p:cNvSpPr/>
                <p:nvPr/>
              </p:nvSpPr>
              <p:spPr>
                <a:xfrm>
                  <a:off x="1461516" y="3425258"/>
                  <a:ext cx="2410968" cy="704339"/>
                </a:xfrm>
                <a:custGeom>
                  <a:avLst/>
                  <a:gdLst>
                    <a:gd name="connsiteX0" fmla="*/ 2359305 w 2410968"/>
                    <a:gd name="connsiteY0" fmla="*/ 0 h 704339"/>
                    <a:gd name="connsiteX1" fmla="*/ 2410968 w 2410968"/>
                    <a:gd name="connsiteY1" fmla="*/ 0 h 704339"/>
                    <a:gd name="connsiteX2" fmla="*/ 2410968 w 2410968"/>
                    <a:gd name="connsiteY2" fmla="*/ 704340 h 704339"/>
                    <a:gd name="connsiteX3" fmla="*/ 2359305 w 2410968"/>
                    <a:gd name="connsiteY3" fmla="*/ 704340 h 704339"/>
                    <a:gd name="connsiteX4" fmla="*/ 51664 w 2410968"/>
                    <a:gd name="connsiteY4" fmla="*/ 704340 h 704339"/>
                    <a:gd name="connsiteX5" fmla="*/ 0 w 2410968"/>
                    <a:gd name="connsiteY5" fmla="*/ 704340 h 704339"/>
                    <a:gd name="connsiteX6" fmla="*/ 0 w 2410968"/>
                    <a:gd name="connsiteY6" fmla="*/ 0 h 704339"/>
                    <a:gd name="connsiteX7" fmla="*/ 51664 w 2410968"/>
                    <a:gd name="connsiteY7" fmla="*/ 0 h 704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10968" h="704339">
                      <a:moveTo>
                        <a:pt x="2359305" y="0"/>
                      </a:moveTo>
                      <a:cubicBezTo>
                        <a:pt x="2387838" y="0"/>
                        <a:pt x="2410968" y="0"/>
                        <a:pt x="2410968" y="0"/>
                      </a:cubicBezTo>
                      <a:lnTo>
                        <a:pt x="2410968" y="704340"/>
                      </a:lnTo>
                      <a:cubicBezTo>
                        <a:pt x="2410968" y="704340"/>
                        <a:pt x="2387838" y="704340"/>
                        <a:pt x="2359305" y="704340"/>
                      </a:cubicBezTo>
                      <a:lnTo>
                        <a:pt x="51664" y="704340"/>
                      </a:lnTo>
                      <a:cubicBezTo>
                        <a:pt x="23131" y="704340"/>
                        <a:pt x="0" y="704340"/>
                        <a:pt x="0" y="704340"/>
                      </a:cubicBezTo>
                      <a:lnTo>
                        <a:pt x="0" y="0"/>
                      </a:lnTo>
                      <a:cubicBezTo>
                        <a:pt x="0" y="0"/>
                        <a:pt x="23131" y="0"/>
                        <a:pt x="51664" y="0"/>
                      </a:cubicBezTo>
                      <a:close/>
                    </a:path>
                  </a:pathLst>
                </a:custGeom>
                <a:solidFill>
                  <a:srgbClr val="0E3F8C"/>
                </a:solidFill>
                <a:ln w="8611" cap="flat">
                  <a:noFill/>
                  <a:prstDash val="solid"/>
                  <a:miter/>
                </a:ln>
              </p:spPr>
              <p:txBody>
                <a:bodyPr rtlCol="0" anchor="ctr"/>
                <a:lstStyle/>
                <a:p>
                  <a:endParaRPr lang="zh-CN" altLang="en-US"/>
                </a:p>
              </p:txBody>
            </p:sp>
            <p:sp>
              <p:nvSpPr>
                <p:cNvPr id="14" name="文本框 13">
                  <a:extLst>
                    <a:ext uri="{FF2B5EF4-FFF2-40B4-BE49-F238E27FC236}">
                      <a16:creationId xmlns:a16="http://schemas.microsoft.com/office/drawing/2014/main" id="{BFC752F3-90DE-4437-E3D8-C02BD0E6E89B}"/>
                    </a:ext>
                  </a:extLst>
                </p:cNvPr>
                <p:cNvSpPr txBox="1"/>
                <p:nvPr/>
              </p:nvSpPr>
              <p:spPr>
                <a:xfrm>
                  <a:off x="1990039" y="3534149"/>
                  <a:ext cx="1353921" cy="280409"/>
                </a:xfrm>
                <a:prstGeom prst="rect">
                  <a:avLst/>
                </a:prstGeom>
                <a:noFill/>
              </p:spPr>
              <p:txBody>
                <a:bodyPr wrap="none" rtlCol="0">
                  <a:spAutoFit/>
                </a:bodyPr>
                <a:lstStyle/>
                <a:p>
                  <a:pPr algn="l"/>
                  <a:r>
                    <a:rPr lang="zh-CN" altLang="en-US" sz="1275" b="1" spc="0" baseline="0" dirty="0">
                      <a:ln/>
                      <a:solidFill>
                        <a:srgbClr val="FFFFFF"/>
                      </a:solidFill>
                      <a:latin typeface="微软雅黑"/>
                      <a:ea typeface="微软雅黑"/>
                      <a:sym typeface="微软雅黑"/>
                      <a:rtl val="0"/>
                    </a:rPr>
                    <a:t>周期数学统一框架</a:t>
                  </a:r>
                </a:p>
              </p:txBody>
            </p:sp>
            <p:sp>
              <p:nvSpPr>
                <p:cNvPr id="15" name="文本框 14">
                  <a:extLst>
                    <a:ext uri="{FF2B5EF4-FFF2-40B4-BE49-F238E27FC236}">
                      <a16:creationId xmlns:a16="http://schemas.microsoft.com/office/drawing/2014/main" id="{7B450A82-46E3-6611-D100-FDDD12679DC1}"/>
                    </a:ext>
                  </a:extLst>
                </p:cNvPr>
                <p:cNvSpPr txBox="1"/>
                <p:nvPr/>
              </p:nvSpPr>
              <p:spPr>
                <a:xfrm>
                  <a:off x="1860880" y="3783244"/>
                  <a:ext cx="1612239" cy="228872"/>
                </a:xfrm>
                <a:prstGeom prst="rect">
                  <a:avLst/>
                </a:prstGeom>
                <a:noFill/>
              </p:spPr>
              <p:txBody>
                <a:bodyPr wrap="none" rtlCol="0">
                  <a:spAutoFit/>
                </a:bodyPr>
                <a:lstStyle/>
                <a:p>
                  <a:pPr algn="l"/>
                  <a:r>
                    <a:rPr lang="zh-CN" altLang="en-US" sz="900" spc="0" baseline="0">
                      <a:ln/>
                      <a:solidFill>
                        <a:srgbClr val="B8CEEC"/>
                      </a:solidFill>
                      <a:latin typeface="微软雅黑"/>
                      <a:ea typeface="微软雅黑"/>
                      <a:sym typeface="微软雅黑"/>
                      <a:rtl val="0"/>
                    </a:rPr>
                    <a:t>四支柱交汇</a:t>
                  </a:r>
                  <a:r>
                    <a:rPr lang="zh-CN" altLang="en-US" sz="825" spc="0" baseline="0">
                      <a:ln/>
                      <a:solidFill>
                        <a:srgbClr val="B8CEEC"/>
                      </a:solidFill>
                      <a:latin typeface="Arial"/>
                      <a:ea typeface="微软雅黑"/>
                      <a:cs typeface="Arial"/>
                      <a:sym typeface="Arial"/>
                      <a:rtl val="0"/>
                    </a:rPr>
                    <a:t> · </a:t>
                  </a:r>
                  <a:r>
                    <a:rPr lang="zh-CN" altLang="en-US" sz="900" spc="0" baseline="0">
                      <a:ln/>
                      <a:solidFill>
                        <a:srgbClr val="B8CEEC"/>
                      </a:solidFill>
                      <a:latin typeface="微软雅黑"/>
                      <a:ea typeface="微软雅黑"/>
                      <a:cs typeface="Arial"/>
                      <a:sym typeface="微软雅黑"/>
                      <a:rtl val="0"/>
                    </a:rPr>
                    <a:t>互相咬合而非并置</a:t>
                  </a:r>
                </a:p>
              </p:txBody>
            </p:sp>
          </p:grpSp>
          <p:cxnSp>
            <p:nvCxnSpPr>
              <p:cNvPr id="28" name="直接箭头连接符 27">
                <a:extLst>
                  <a:ext uri="{FF2B5EF4-FFF2-40B4-BE49-F238E27FC236}">
                    <a16:creationId xmlns:a16="http://schemas.microsoft.com/office/drawing/2014/main" id="{138F25DA-774D-8FC6-052B-EB39059E2B31}"/>
                  </a:ext>
                </a:extLst>
              </p:cNvPr>
              <p:cNvCxnSpPr/>
              <p:nvPr/>
            </p:nvCxnSpPr>
            <p:spPr>
              <a:xfrm>
                <a:off x="1666875" y="2222726"/>
                <a:ext cx="731154" cy="1202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3F6E58E6-4ADC-668D-18C9-DC2D248E15BD}"/>
                  </a:ext>
                </a:extLst>
              </p:cNvPr>
              <p:cNvCxnSpPr/>
              <p:nvPr/>
            </p:nvCxnSpPr>
            <p:spPr>
              <a:xfrm flipH="1">
                <a:off x="2981325" y="2222726"/>
                <a:ext cx="891159" cy="1202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7E4C555C-E21F-0D25-25BB-1FD4F7BBB022}"/>
                  </a:ext>
                </a:extLst>
              </p:cNvPr>
              <p:cNvCxnSpPr/>
              <p:nvPr/>
            </p:nvCxnSpPr>
            <p:spPr>
              <a:xfrm flipH="1">
                <a:off x="1695450" y="4129597"/>
                <a:ext cx="702579" cy="1288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73E9D8DB-A63E-A26E-64BA-C9131EAAEE61}"/>
                  </a:ext>
                </a:extLst>
              </p:cNvPr>
              <p:cNvCxnSpPr/>
              <p:nvPr/>
            </p:nvCxnSpPr>
            <p:spPr>
              <a:xfrm>
                <a:off x="3139554" y="4129597"/>
                <a:ext cx="638212" cy="1264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3 方法工具与价值&lt;/Text&gt;&#10;    &lt;/Box&gt;&#10;&#10;    &lt;Box style={{ width: '100%', height: 78, paddingLeft: 40, paddingRight: 40, justifyContent: 'center' }}&gt;&#10;        &lt;Text style={{ fontSize: 32, fontWeight: 'bold', color: '#0E3F8C' }}&gt;周期卷积：从单指标频率，扩展到双指标相位交互&lt;/Text&gt;&#10;    &lt;/Box&gt;&#10;&#10;    &lt;Box style={{ width: '100%', flex: 1, flexDirection: 'row', gap: 26, paddingLeft: 40, paddingRight: 40, paddingBottom: 16 }}&gt;&#10;&#10;        &lt;Box style={{ width: 646, borderRadius: 6, background: '#FFFFFF', border: '1px solid #E5E7EB', justifyContent: 'center', alignItems: 'center' }}&gt;&#10;            &lt;svg width={620} height={460} viewBox='0 0 700 520'&gt;&#10;                &lt;rect x='10' y='420' width='210' height='60' rx='4' fill='#E8EFF8' stroke='#3D7BD9' /&gt;&#10;                &lt;text x='115' y='446' textAnchor='middle' fontSize='15' fontWeight='bold' fill='#0E3F8C'&gt;卷积&lt;/text&gt;&#10;                &lt;text x='115' y='466' textAnchor='middle' fontSize='10' fill='#4A5568'&gt;时延乘积&lt;/text&gt;&#10;&#10;                &lt;rect x='56' y='348' width='210' height='60' rx='4' fill='#DCE7F7' stroke='#3D7BD9' /&gt;&#10;                &lt;text x='161' y='374' textAnchor='middle' fontSize='15' fontWeight='bold' fill='#0E3F8C'&gt;相似度卷积&lt;/text&gt;&#10;                &lt;text x='161' y='394' textAnchor='middle' fontSize='10' fill='#4A5568'&gt;余弦 / 正弦打包为复数矩阵&lt;/text&gt;&#10;&#10;                &lt;rect x='102' y='276' width='210' height='60' rx='4' fill='#C9DAF0' stroke='#3D7BD9' /&gt;&#10;                &lt;text x='207' y='302' textAnchor='middle' fontSize='15' fontWeight='bold' fill='#0E3F8C'&gt;趋势卷积&lt;/text&gt;&#10;                &lt;text x='207' y='322' textAnchor='middle' fontSize='10' fill='#4A5568'&gt;再乘以彼此的模&lt;/text&gt;&#10;&#10;                &lt;rect x='148' y='204' width='210' height='60' rx='4' fill='#3D7BD9' /&gt;&#10;                &lt;text x='253' y='230' textAnchor='middle' fontSize='15' fontWeight='bold' fill='#FFFFFF'&gt;周期级数&lt;/text&gt;&#10;                &lt;text x='253' y='250' textAnchor='middle' fontSize='10' fill='#DCE7F7'&gt;以四元组为分量的复变级数&lt;/text&gt;&#10;&#10;                &lt;rect x='194' y='132' width='210' height='60' rx='4' fill='#0E3F8C' /&gt;&#10;                &lt;text x='299' y='158' textAnchor='middle' fontSize='15' fontWeight='bold' fill='#FFFFFF'&gt;周期卷积&lt;/text&gt;&#10;                &lt;text x='299' y='178' textAnchor='middle' fontSize='10' fill='#B8CEEC'&gt;振幅 · 频率 · 相位 · 周期 皆为算子&lt;/text&gt;&#10;&#10;                &lt;text x='10' y='504' fontSize='12' fill='#8B97A8'&gt;五级阶梯：逐级把更多参数升格为算子&lt;/text&gt;&#10;&#10;                &lt;rect x='432' y='90' width='258' height='390' rx='6' fill='#F7F9FC' stroke='#D6DCE5' /&gt;&#10;                &lt;text x='450' y='118' fontSize='13' fontWeight='bold' fill='#0E3F8C'&gt;被统一为特殊情形&lt;/text&gt;&#10;                &lt;line x1='450' y1='130' x2='672' y2='130' stroke='#D6DCE5' /&gt;&#10;                {['傅里叶级数', '傅里叶变换', '离散傅里叶变换 DFT', '快速傅里叶变换 FFT', '小波变换', '梅林变换', '拉普拉斯变换', 'Chirp-Z 变换', '希尔伯特变换'].map((t, i) =&gt; (&#10;                    &lt;g key={i}&gt;&#10;                        &lt;circle cx='456' cy={151 + i * 34} r='3' fill='#3D7BD9' /&gt;&#10;                        &lt;text x='470' y={156 + i * 34} fontSize='13' fill='#1A2230'&gt;{t}&lt;/text&gt;&#10;                    &lt;/g&gt;&#10;                ))}&#10;                &lt;text x='450' y='462' fontSize='11' fill='#8B97A8'&gt;统一需指定群作用、表示与函数空间&lt;/text&gt;&#10;            &lt;/svg&gt;&#10;        &lt;/Box&gt;&#10;&#10;        &lt;Box style={{ flex: 1, flexDirection: 'column' }}&gt;&#10;            &lt;Text style={{ fontSize: 20, fontWeight: 'bold', color: '#0E3F8C', marginBottom: 12 }}&gt;为什么要多此一举&lt;/Text&gt;&#10;            &lt;Text style={{ fontSize: 15, color: '#4A5568', lineHeight: 1.85 }}&gt;&#10;                {`传统的调和分析把信号分解为不同频率的正弦波之和——这很有用，但它`}&#10;                &lt;span style={{ fontWeight: 'bold', color: '#0E3F8C' }}&gt;未必保留振幅与相位之间的交互信息&lt;/span&gt;&#10;                {`。两个信号深层相似与否，不仅取决于各自频率是否相同，还取决于全部频率对之间的相位关系。`}&#10;            &lt;/Text&gt;&#10;            &lt;Text style={{ fontSize: 15, color: '#4A5568', lineHeight: 1.85, marginTop: 12 }}&gt;&#10;                {`周期卷积把这种交互重新放回级数运算：先构造两族周转圆分量之间的两两交互张量，再通过频率与相位合成算子映射回函数空间。`}&#10;            &lt;/Text&gt;&#10;&#10;            &lt;Box style={{ flexDirection: 'row', alignItems: 'center', marginTop: 20, paddingTop: 16, paddingBottom: 16, background: '#F0F5FC', borderRadius: 6 }}&gt;&#10;                {[&#10;                    ['振幅 A', '缩放'],&#10;                    ['频率 ω', '平移'],&#10;                    ['相位 φ', '旋转'],&#10;                    ['周期 T', '定长'],&#10;                ].map((it, i) =&gt; (&#10;                    &lt;Box key={i} style={{ flex: 1, flexDirection: 'column', alignItems: 'center' }}&gt;&#10;                        &lt;Text style={{ fontSize: 15, fontWeight: 'bold', color: '#0E3F8C' }}&gt;{it[0]}&lt;/Text&gt;&#10;                        &lt;Text style={{ fontSize: 12, color: '#8B97A8', marginTop: 3 }}&gt;{it[1]}&lt;/Text&gt;&#10;                    &lt;/Box&gt;&#10;                ))}&#10;            &lt;/Box&gt;&#10;&#10;            &lt;Box style={{ flex: 1 }} /&gt;&#10;&#10;            &lt;Box style={{ padding: 16, borderRadius: 6, background: '#F7F9FC', borderLeft: '4px solid #D9534F' }}&gt;&#10;                &lt;Text style={{ fontSize: 15, color: '#1A2230', lineHeight: 1.7 }}&gt;&#10;                    {`措辞需要谨慎：积分变换的统一，是在`}&#10;                    &lt;span style={{ fontWeight: 'bold', color: '#0E3F8C' }}&gt;指定群作用、表示与函数空间之后&lt;/span&gt;&#10;                    {`成立的描述，而不是&quot;它们本质上就是同一个东西&quot;。小波分析涉及仿射群、可容许性条件与具体测度等多个层次，需逐例检验。`}&#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13 / 22&lt;/Text&gt;&#10;    &lt;/Box&gt;&#10;&lt;/Slide&gt;&#10;"/>
        <p:cNvGrpSpPr/>
        <p:nvPr/>
      </p:nvGrpSpPr>
      <p:grpSpPr>
        <a:xfrm>
          <a:off x="0" y="0"/>
          <a:ext cx="0" cy="0"/>
          <a:chOff x="0" y="0"/>
          <a:chExt cx="0" cy="0"/>
        </a:xfrm>
      </p:grpSpPr>
      <p:sp>
        <p:nvSpPr>
          <p:cNvPr id="92" name="矩形 91"/>
          <p:cNvSpPr/>
          <p:nvPr/>
        </p:nvSpPr>
        <p:spPr>
          <a:xfrm>
            <a:off x="0" y="0"/>
            <a:ext cx="12192000" cy="6858000"/>
          </a:xfrm>
          <a:prstGeom prst="rect">
            <a:avLst/>
          </a:prstGeom>
          <a:solidFill>
            <a:srgbClr val="FFFFFF"/>
          </a:solidFill>
          <a:ln/>
        </p:spPr>
        <p:txBody>
          <a:bodyPr/>
          <a:lstStyle/>
          <a:p>
            <a:endParaRPr/>
          </a:p>
        </p:txBody>
      </p:sp>
      <p:sp>
        <p:nvSpPr>
          <p:cNvPr id="93" name="矩形 92"/>
          <p:cNvSpPr/>
          <p:nvPr/>
        </p:nvSpPr>
        <p:spPr>
          <a:xfrm>
            <a:off x="0" y="0"/>
            <a:ext cx="12192000" cy="76200"/>
          </a:xfrm>
          <a:prstGeom prst="rect">
            <a:avLst/>
          </a:prstGeom>
          <a:solidFill>
            <a:srgbClr val="1E4FA8"/>
          </a:solidFill>
          <a:ln/>
        </p:spPr>
        <p:txBody>
          <a:bodyPr/>
          <a:lstStyle/>
          <a:p>
            <a:endParaRPr/>
          </a:p>
        </p:txBody>
      </p:sp>
      <p:sp>
        <p:nvSpPr>
          <p:cNvPr id="94" name="任意多边形: 形状 93"/>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95" name="文本框 94"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96" name="文本框 95"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03 </a:t>
            </a:r>
            <a:r>
              <a:rPr lang="zh-CN" sz="1050" spc="75">
                <a:solidFill>
                  <a:srgbClr val="1E4FA8"/>
                </a:solidFill>
                <a:latin typeface="Microsoft YaHei"/>
                <a:ea typeface="Microsoft YaHei"/>
              </a:rPr>
              <a:t>方法工具与价值</a:t>
            </a:r>
            <a:endParaRPr/>
          </a:p>
        </p:txBody>
      </p:sp>
      <p:sp>
        <p:nvSpPr>
          <p:cNvPr id="97" name="文本框 96"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周期卷积：从单指标频率，扩展到双指标相位交互</a:t>
            </a:r>
            <a:endParaRPr/>
          </a:p>
        </p:txBody>
      </p:sp>
      <p:sp>
        <p:nvSpPr>
          <p:cNvPr id="98" name="矩形: 圆角 97"/>
          <p:cNvSpPr/>
          <p:nvPr/>
        </p:nvSpPr>
        <p:spPr>
          <a:xfrm>
            <a:off x="381000" y="1352550"/>
            <a:ext cx="6153150" cy="5029200"/>
          </a:xfrm>
          <a:prstGeom prst="roundRect">
            <a:avLst>
              <a:gd name="adj" fmla="val 1136"/>
            </a:avLst>
          </a:prstGeom>
          <a:solidFill>
            <a:srgbClr val="FFFFFF"/>
          </a:solidFill>
          <a:ln w="12700">
            <a:solidFill>
              <a:srgbClr val="E5E7EB"/>
            </a:solidFill>
            <a:prstDash val="solid"/>
          </a:ln>
        </p:spPr>
        <p:txBody>
          <a:bodyPr/>
          <a:lstStyle/>
          <a:p>
            <a:endParaRPr/>
          </a:p>
        </p:txBody>
      </p:sp>
      <p:pic>
        <p:nvPicPr>
          <p:cNvPr id="99" name="图形 9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825" y="1676400"/>
            <a:ext cx="5905500" cy="4381500"/>
          </a:xfrm>
          <a:prstGeom prst="rect">
            <a:avLst/>
          </a:prstGeom>
          <a:ln/>
        </p:spPr>
      </p:pic>
      <p:sp>
        <p:nvSpPr>
          <p:cNvPr id="100" name="文本框 99" descr="{&quot;isTemplate&quot;:true,&quot;type&quot;:&quot;text&quot;}"/>
          <p:cNvSpPr txBox="1"/>
          <p:nvPr/>
        </p:nvSpPr>
        <p:spPr>
          <a:xfrm>
            <a:off x="6781800" y="1352550"/>
            <a:ext cx="502920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为什么要多此一举</a:t>
            </a:r>
            <a:endParaRPr/>
          </a:p>
        </p:txBody>
      </p:sp>
      <p:sp>
        <p:nvSpPr>
          <p:cNvPr id="101" name="文本框 100" descr="{&quot;isTemplate&quot;:true,&quot;type&quot;:&quot;text&quot;}"/>
          <p:cNvSpPr txBox="1"/>
          <p:nvPr/>
        </p:nvSpPr>
        <p:spPr>
          <a:xfrm>
            <a:off x="6781800" y="1695450"/>
            <a:ext cx="5029200" cy="952500"/>
          </a:xfrm>
          <a:prstGeom prst="rect">
            <a:avLst/>
          </a:prstGeom>
        </p:spPr>
        <p:txBody>
          <a:bodyPr wrap="square" lIns="0" tIns="0" rIns="0" bIns="0">
            <a:normAutofit/>
          </a:bodyPr>
          <a:lstStyle/>
          <a:p>
            <a:pPr>
              <a:lnSpc>
                <a:spcPct val="185000"/>
              </a:lnSpc>
            </a:pPr>
            <a:r>
              <a:rPr lang="zh-CN" sz="1125">
                <a:solidFill>
                  <a:srgbClr val="4A5568"/>
                </a:solidFill>
                <a:latin typeface="Microsoft YaHei"/>
                <a:ea typeface="Microsoft YaHei"/>
              </a:rPr>
              <a:t>传统的调和分析把信号分解为不同频率的正弦波之和——这很有用，但它</a:t>
            </a:r>
            <a:r>
              <a:rPr lang="zh-CN" sz="1125" b="1">
                <a:solidFill>
                  <a:srgbClr val="0E3F8C"/>
                </a:solidFill>
                <a:latin typeface="Microsoft YaHei"/>
                <a:ea typeface="Microsoft YaHei"/>
              </a:rPr>
              <a:t>未必保留振幅与相位之间的交互信息</a:t>
            </a:r>
            <a:r>
              <a:rPr lang="zh-CN" sz="1125">
                <a:solidFill>
                  <a:srgbClr val="4A5568"/>
                </a:solidFill>
                <a:latin typeface="Microsoft YaHei"/>
                <a:ea typeface="Microsoft YaHei"/>
              </a:rPr>
              <a:t>。两个信号深层相似与否，不仅取决于各自频率是否相同，还取决于全部频率对之间的相位关系。</a:t>
            </a:r>
            <a:endParaRPr/>
          </a:p>
        </p:txBody>
      </p:sp>
      <p:sp>
        <p:nvSpPr>
          <p:cNvPr id="102" name="文本框 101" descr="{&quot;isTemplate&quot;:true,&quot;type&quot;:&quot;text&quot;}"/>
          <p:cNvSpPr txBox="1"/>
          <p:nvPr/>
        </p:nvSpPr>
        <p:spPr>
          <a:xfrm>
            <a:off x="6781800" y="2762250"/>
            <a:ext cx="5029200" cy="638175"/>
          </a:xfrm>
          <a:prstGeom prst="rect">
            <a:avLst/>
          </a:prstGeom>
        </p:spPr>
        <p:txBody>
          <a:bodyPr wrap="square" lIns="0" tIns="0" rIns="0" bIns="0">
            <a:normAutofit/>
          </a:bodyPr>
          <a:lstStyle/>
          <a:p>
            <a:pPr>
              <a:lnSpc>
                <a:spcPct val="185000"/>
              </a:lnSpc>
            </a:pPr>
            <a:r>
              <a:rPr lang="zh-CN" sz="1125">
                <a:solidFill>
                  <a:srgbClr val="4A5568"/>
                </a:solidFill>
                <a:latin typeface="Microsoft YaHei"/>
                <a:ea typeface="Microsoft YaHei"/>
              </a:rPr>
              <a:t>周期卷积把这种交互重新放回级数运算：先构造两族周转圆分量之间的两两交互张量，再通过频率与相位合成算子映射回函数空间。</a:t>
            </a:r>
            <a:endParaRPr/>
          </a:p>
        </p:txBody>
      </p:sp>
      <p:sp>
        <p:nvSpPr>
          <p:cNvPr id="103" name="矩形: 圆角 102"/>
          <p:cNvSpPr/>
          <p:nvPr/>
        </p:nvSpPr>
        <p:spPr>
          <a:xfrm>
            <a:off x="6781800" y="3590925"/>
            <a:ext cx="5029200" cy="647700"/>
          </a:xfrm>
          <a:prstGeom prst="roundRect">
            <a:avLst>
              <a:gd name="adj" fmla="val 8824"/>
            </a:avLst>
          </a:prstGeom>
          <a:solidFill>
            <a:srgbClr val="F0F5FC"/>
          </a:solidFill>
          <a:ln/>
        </p:spPr>
        <p:txBody>
          <a:bodyPr/>
          <a:lstStyle/>
          <a:p>
            <a:endParaRPr/>
          </a:p>
        </p:txBody>
      </p:sp>
      <p:sp>
        <p:nvSpPr>
          <p:cNvPr id="104" name="文本框 103" descr="{&quot;isTemplate&quot;:true,&quot;type&quot;:&quot;text&quot;}"/>
          <p:cNvSpPr txBox="1"/>
          <p:nvPr/>
        </p:nvSpPr>
        <p:spPr>
          <a:xfrm>
            <a:off x="7191375" y="3743325"/>
            <a:ext cx="438150"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振幅</a:t>
            </a:r>
            <a:r>
              <a:rPr lang="en-US" sz="1125" b="1">
                <a:solidFill>
                  <a:srgbClr val="0E3F8C"/>
                </a:solidFill>
                <a:latin typeface="Microsoft YaHei"/>
                <a:ea typeface="Microsoft YaHei"/>
              </a:rPr>
              <a:t> A</a:t>
            </a:r>
            <a:endParaRPr/>
          </a:p>
        </p:txBody>
      </p:sp>
      <p:sp>
        <p:nvSpPr>
          <p:cNvPr id="105" name="文本框 104" descr="{&quot;isTemplate&quot;:true,&quot;type&quot;:&quot;text&quot;}"/>
          <p:cNvSpPr txBox="1"/>
          <p:nvPr/>
        </p:nvSpPr>
        <p:spPr>
          <a:xfrm>
            <a:off x="7296150" y="3943350"/>
            <a:ext cx="228600" cy="142875"/>
          </a:xfrm>
          <a:prstGeom prst="rect">
            <a:avLst/>
          </a:prstGeom>
        </p:spPr>
        <p:txBody>
          <a:bodyPr wrap="none" lIns="0" tIns="0" rIns="0" bIns="0"/>
          <a:lstStyle/>
          <a:p>
            <a:pPr>
              <a:lnSpc>
                <a:spcPct val="100000"/>
              </a:lnSpc>
            </a:pPr>
            <a:r>
              <a:rPr lang="zh-CN" sz="900">
                <a:solidFill>
                  <a:srgbClr val="8B97A8"/>
                </a:solidFill>
                <a:latin typeface="Microsoft YaHei"/>
                <a:ea typeface="Microsoft YaHei"/>
              </a:rPr>
              <a:t>缩放</a:t>
            </a:r>
            <a:endParaRPr/>
          </a:p>
        </p:txBody>
      </p:sp>
      <p:sp>
        <p:nvSpPr>
          <p:cNvPr id="106" name="文本框 105" descr="{&quot;isTemplate&quot;:true,&quot;type&quot;:&quot;text&quot;}"/>
          <p:cNvSpPr txBox="1"/>
          <p:nvPr/>
        </p:nvSpPr>
        <p:spPr>
          <a:xfrm>
            <a:off x="8439150" y="3743325"/>
            <a:ext cx="457200"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频率</a:t>
            </a:r>
            <a:r>
              <a:rPr lang="en-US" sz="1125" b="1">
                <a:solidFill>
                  <a:srgbClr val="0E3F8C"/>
                </a:solidFill>
                <a:latin typeface="Microsoft YaHei"/>
                <a:ea typeface="Microsoft YaHei"/>
              </a:rPr>
              <a:t> ω</a:t>
            </a:r>
            <a:endParaRPr/>
          </a:p>
        </p:txBody>
      </p:sp>
      <p:sp>
        <p:nvSpPr>
          <p:cNvPr id="107" name="文本框 106" descr="{&quot;isTemplate&quot;:true,&quot;type&quot;:&quot;text&quot;}"/>
          <p:cNvSpPr txBox="1"/>
          <p:nvPr/>
        </p:nvSpPr>
        <p:spPr>
          <a:xfrm>
            <a:off x="8553450" y="3943350"/>
            <a:ext cx="228600" cy="142875"/>
          </a:xfrm>
          <a:prstGeom prst="rect">
            <a:avLst/>
          </a:prstGeom>
        </p:spPr>
        <p:txBody>
          <a:bodyPr wrap="none" lIns="0" tIns="0" rIns="0" bIns="0"/>
          <a:lstStyle/>
          <a:p>
            <a:pPr>
              <a:lnSpc>
                <a:spcPct val="100000"/>
              </a:lnSpc>
            </a:pPr>
            <a:r>
              <a:rPr lang="zh-CN" sz="900">
                <a:solidFill>
                  <a:srgbClr val="8B97A8"/>
                </a:solidFill>
                <a:latin typeface="Microsoft YaHei"/>
                <a:ea typeface="Microsoft YaHei"/>
              </a:rPr>
              <a:t>平移</a:t>
            </a:r>
            <a:endParaRPr/>
          </a:p>
        </p:txBody>
      </p:sp>
      <p:sp>
        <p:nvSpPr>
          <p:cNvPr id="108" name="文本框 107" descr="{&quot;isTemplate&quot;:true,&quot;type&quot;:&quot;text&quot;}"/>
          <p:cNvSpPr txBox="1"/>
          <p:nvPr/>
        </p:nvSpPr>
        <p:spPr>
          <a:xfrm>
            <a:off x="9705975" y="3743325"/>
            <a:ext cx="447675"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相位</a:t>
            </a:r>
            <a:r>
              <a:rPr lang="en-US" sz="1125" b="1">
                <a:solidFill>
                  <a:srgbClr val="0E3F8C"/>
                </a:solidFill>
                <a:latin typeface="Microsoft YaHei"/>
                <a:ea typeface="Microsoft YaHei"/>
              </a:rPr>
              <a:t> φ</a:t>
            </a:r>
            <a:endParaRPr/>
          </a:p>
        </p:txBody>
      </p:sp>
      <p:sp>
        <p:nvSpPr>
          <p:cNvPr id="109" name="文本框 108" descr="{&quot;isTemplate&quot;:true,&quot;type&quot;:&quot;text&quot;}"/>
          <p:cNvSpPr txBox="1"/>
          <p:nvPr/>
        </p:nvSpPr>
        <p:spPr>
          <a:xfrm>
            <a:off x="9810750" y="3943350"/>
            <a:ext cx="228600" cy="142875"/>
          </a:xfrm>
          <a:prstGeom prst="rect">
            <a:avLst/>
          </a:prstGeom>
        </p:spPr>
        <p:txBody>
          <a:bodyPr wrap="none" lIns="0" tIns="0" rIns="0" bIns="0"/>
          <a:lstStyle/>
          <a:p>
            <a:pPr>
              <a:lnSpc>
                <a:spcPct val="100000"/>
              </a:lnSpc>
            </a:pPr>
            <a:r>
              <a:rPr lang="zh-CN" sz="900">
                <a:solidFill>
                  <a:srgbClr val="8B97A8"/>
                </a:solidFill>
                <a:latin typeface="Microsoft YaHei"/>
                <a:ea typeface="Microsoft YaHei"/>
              </a:rPr>
              <a:t>旋转</a:t>
            </a:r>
            <a:endParaRPr/>
          </a:p>
        </p:txBody>
      </p:sp>
      <p:sp>
        <p:nvSpPr>
          <p:cNvPr id="110" name="文本框 109" descr="{&quot;isTemplate&quot;:true,&quot;type&quot;:&quot;text&quot;}"/>
          <p:cNvSpPr txBox="1"/>
          <p:nvPr/>
        </p:nvSpPr>
        <p:spPr>
          <a:xfrm>
            <a:off x="10972800" y="3743325"/>
            <a:ext cx="419100"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周期</a:t>
            </a:r>
            <a:r>
              <a:rPr lang="en-US" sz="1125" b="1">
                <a:solidFill>
                  <a:srgbClr val="0E3F8C"/>
                </a:solidFill>
                <a:latin typeface="Microsoft YaHei"/>
                <a:ea typeface="Microsoft YaHei"/>
              </a:rPr>
              <a:t> T</a:t>
            </a:r>
            <a:endParaRPr/>
          </a:p>
        </p:txBody>
      </p:sp>
      <p:sp>
        <p:nvSpPr>
          <p:cNvPr id="111" name="文本框 110" descr="{&quot;isTemplate&quot;:true,&quot;type&quot;:&quot;text&quot;}"/>
          <p:cNvSpPr txBox="1"/>
          <p:nvPr/>
        </p:nvSpPr>
        <p:spPr>
          <a:xfrm>
            <a:off x="11068050" y="3943350"/>
            <a:ext cx="228600" cy="142875"/>
          </a:xfrm>
          <a:prstGeom prst="rect">
            <a:avLst/>
          </a:prstGeom>
        </p:spPr>
        <p:txBody>
          <a:bodyPr wrap="none" lIns="0" tIns="0" rIns="0" bIns="0"/>
          <a:lstStyle/>
          <a:p>
            <a:pPr>
              <a:lnSpc>
                <a:spcPct val="100000"/>
              </a:lnSpc>
            </a:pPr>
            <a:r>
              <a:rPr lang="zh-CN" sz="900">
                <a:solidFill>
                  <a:srgbClr val="8B97A8"/>
                </a:solidFill>
                <a:latin typeface="Microsoft YaHei"/>
                <a:ea typeface="Microsoft YaHei"/>
              </a:rPr>
              <a:t>定长</a:t>
            </a:r>
            <a:endParaRPr/>
          </a:p>
        </p:txBody>
      </p:sp>
      <p:sp>
        <p:nvSpPr>
          <p:cNvPr id="112" name="矩形: 圆角 111"/>
          <p:cNvSpPr/>
          <p:nvPr/>
        </p:nvSpPr>
        <p:spPr>
          <a:xfrm>
            <a:off x="6819900" y="5200650"/>
            <a:ext cx="5029200" cy="1181100"/>
          </a:xfrm>
          <a:prstGeom prst="roundRect">
            <a:avLst>
              <a:gd name="adj" fmla="val 4839"/>
            </a:avLst>
          </a:prstGeom>
          <a:solidFill>
            <a:srgbClr val="F7F9FC"/>
          </a:solidFill>
          <a:ln/>
        </p:spPr>
        <p:txBody>
          <a:bodyPr/>
          <a:lstStyle/>
          <a:p>
            <a:endParaRPr/>
          </a:p>
        </p:txBody>
      </p:sp>
      <p:sp>
        <p:nvSpPr>
          <p:cNvPr id="113" name="任意多边形: 形状 112"/>
          <p:cNvSpPr/>
          <p:nvPr/>
        </p:nvSpPr>
        <p:spPr>
          <a:xfrm>
            <a:off x="6819900" y="5200650"/>
            <a:ext cx="5029200" cy="1181100"/>
          </a:xfrm>
          <a:custGeom>
            <a:avLst/>
            <a:gdLst/>
            <a:ahLst/>
            <a:cxnLst/>
            <a:rect l="0" t="0" r="0" b="0"/>
            <a:pathLst>
              <a:path w="528" h="124">
                <a:moveTo>
                  <a:pt x="6" y="0"/>
                </a:moveTo>
                <a:cubicBezTo>
                  <a:pt x="5" y="0"/>
                  <a:pt x="4" y="1"/>
                  <a:pt x="4" y="2"/>
                </a:cubicBezTo>
                <a:lnTo>
                  <a:pt x="4" y="122"/>
                </a:lnTo>
                <a:cubicBezTo>
                  <a:pt x="4" y="123"/>
                  <a:pt x="5" y="124"/>
                  <a:pt x="6" y="124"/>
                </a:cubicBezTo>
                <a:cubicBezTo>
                  <a:pt x="3" y="124"/>
                  <a:pt x="0" y="121"/>
                  <a:pt x="0" y="118"/>
                </a:cubicBezTo>
                <a:lnTo>
                  <a:pt x="0" y="6"/>
                </a:lnTo>
                <a:cubicBezTo>
                  <a:pt x="0" y="3"/>
                  <a:pt x="3" y="0"/>
                  <a:pt x="6" y="0"/>
                </a:cubicBezTo>
                <a:close/>
              </a:path>
            </a:pathLst>
          </a:custGeom>
          <a:solidFill>
            <a:srgbClr val="D9534F"/>
          </a:solidFill>
          <a:ln/>
        </p:spPr>
        <p:txBody>
          <a:bodyPr/>
          <a:lstStyle/>
          <a:p>
            <a:endParaRPr/>
          </a:p>
        </p:txBody>
      </p:sp>
      <p:sp>
        <p:nvSpPr>
          <p:cNvPr id="114" name="文本框 113" descr="{&quot;isTemplate&quot;:true,&quot;type&quot;:&quot;text&quot;}"/>
          <p:cNvSpPr txBox="1"/>
          <p:nvPr/>
        </p:nvSpPr>
        <p:spPr>
          <a:xfrm>
            <a:off x="6972300" y="5353050"/>
            <a:ext cx="4686300" cy="876300"/>
          </a:xfrm>
          <a:prstGeom prst="rect">
            <a:avLst/>
          </a:prstGeom>
        </p:spPr>
        <p:txBody>
          <a:bodyPr wrap="square" lIns="0" tIns="0" rIns="0" bIns="0">
            <a:normAutofit/>
          </a:bodyPr>
          <a:lstStyle/>
          <a:p>
            <a:pPr>
              <a:lnSpc>
                <a:spcPct val="170000"/>
              </a:lnSpc>
            </a:pPr>
            <a:r>
              <a:rPr lang="zh-CN" sz="1125">
                <a:solidFill>
                  <a:srgbClr val="1A2230"/>
                </a:solidFill>
                <a:latin typeface="Microsoft YaHei"/>
                <a:ea typeface="Microsoft YaHei"/>
              </a:rPr>
              <a:t>措辞需要谨慎：积分变换的统一，是在</a:t>
            </a:r>
            <a:r>
              <a:rPr lang="zh-CN" sz="1125" b="1">
                <a:solidFill>
                  <a:srgbClr val="0E3F8C"/>
                </a:solidFill>
                <a:latin typeface="Microsoft YaHei"/>
                <a:ea typeface="Microsoft YaHei"/>
              </a:rPr>
              <a:t>指定群作用、表示与函数空间之后</a:t>
            </a:r>
            <a:r>
              <a:rPr lang="zh-CN" sz="1125">
                <a:solidFill>
                  <a:srgbClr val="1A2230"/>
                </a:solidFill>
                <a:latin typeface="Microsoft YaHei"/>
                <a:ea typeface="Microsoft YaHei"/>
              </a:rPr>
              <a:t>成立的描述，而不是</a:t>
            </a:r>
            <a:r>
              <a:rPr lang="en-US" sz="1125">
                <a:solidFill>
                  <a:srgbClr val="1A2230"/>
                </a:solidFill>
                <a:latin typeface="Microsoft YaHei"/>
                <a:ea typeface="Microsoft YaHei"/>
              </a:rPr>
              <a:t>"</a:t>
            </a:r>
            <a:r>
              <a:rPr lang="zh-CN" sz="1125">
                <a:solidFill>
                  <a:srgbClr val="1A2230"/>
                </a:solidFill>
                <a:latin typeface="Microsoft YaHei"/>
                <a:ea typeface="Microsoft YaHei"/>
              </a:rPr>
              <a:t>它们本质上就是同一个东西</a:t>
            </a:r>
            <a:r>
              <a:rPr lang="en-US" sz="1125">
                <a:solidFill>
                  <a:srgbClr val="1A2230"/>
                </a:solidFill>
                <a:latin typeface="Microsoft YaHei"/>
                <a:ea typeface="Microsoft YaHei"/>
              </a:rPr>
              <a:t>"</a:t>
            </a:r>
            <a:r>
              <a:rPr lang="zh-CN" sz="1125">
                <a:solidFill>
                  <a:srgbClr val="1A2230"/>
                </a:solidFill>
                <a:latin typeface="Microsoft YaHei"/>
                <a:ea typeface="Microsoft YaHei"/>
              </a:rPr>
              <a:t>。小波分析涉及仿射群、可容许性条件与具体测度等多个层次，需逐例检验。</a:t>
            </a:r>
            <a:endParaRPr/>
          </a:p>
        </p:txBody>
      </p:sp>
      <p:sp>
        <p:nvSpPr>
          <p:cNvPr id="115" name="文本框 114"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116" name="文本框 115"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13 / 22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3 方法工具与价值&lt;/Text&gt;&#10;    &lt;/Box&gt;&#10;&#10;    &lt;Box style={{ width: '100%', height: 78, paddingLeft: 40, paddingRight: 40, justifyContent: 'center' }}&gt;&#10;        &lt;Text style={{ fontSize: 32, fontWeight: 'bold', color: '#0E3F8C' }}&gt;置闰：当周期比是无理数，误差可以被关进有界带&lt;/Text&gt;&#10;    &lt;/Box&gt;&#10;&#10;    &lt;Box style={{ width: '100%', flex: 1, flexDirection: 'column', gap: 12, paddingLeft: 40, paddingRight: 40, paddingBottom: 14 }}&gt;&#10;&#10;        &lt;Box style={{ flexDirection: 'row', alignItems: 'center', gap: 12, paddingLeft: 16, paddingTop: 8, paddingBottom: 8, background: '#F0F5FC', borderRadius: 4, borderLeft: '4px solid #1E4FA8' }}&gt;&#10;            &lt;Text style={{ fontSize: 15, color: '#4A5568' }}&gt;引导问题：&lt;/Text&gt;&#10;            &lt;Text style={{ fontSize: 15, fontWeight: 'bold', color: '#0E3F8C' }}&gt;周期比不可公度时，任何有限窗口都装不下整数个周期——这个代价能否被量化并最小化？&lt;/Text&gt;&#10;        &lt;/Box&gt;&#10;&#10;        &lt;Box style={{ flex: 1, flexDirection: 'row', gap: 24 }}&gt;&#10;&#10;            &lt;Box style={{ width: 600, borderRadius: 6, background: '#F7F9FC', border: '1px solid #E5E7EB', justifyContent: 'center', alignItems: 'center' }}&gt;&#10;                &lt;svg width={566} height={364} viewBox='0 0 700 450'&gt;&#10;                    &lt;line x1='20' y1='20' x2='20' y2='400' stroke='#D6DCE5' strokeWidth='1.5' /&gt;&#10;                    &lt;line x1='20' y1='400' x2='668' y2='400' stroke='#D6DCE5' strokeWidth='1.5' /&gt;&#10;&#10;                    &lt;path d='M20 380 L82 353.4 L144 317.9 L206 291.3 L268 255.8 L330 220.3 L392 193.6 L454 158.2 L516 131.5 L578 96.1 L640 60.6'&#10;                        fill='none' stroke='#8FB4E8' strokeWidth='2' strokeDasharray='7 5' /&gt;&#10;                    &lt;path d='M20 380 L82 344.5 L144 309.0 L206 282.4 L268 246.9 L330 211.4 L392 184.8 L454 149.2 L516 122.7 L578 87.1 L640 51.6'&#10;                        fill='none' stroke='#8FB4E8' strokeWidth='2' strokeDasharray='7 5' /&gt;&#10;                    &lt;path d='M20 380 L82 380 L82 344.5 L144 344.5 L144 317.9 L206 317.9 L206 282.4 L268 282.4 L268 255.8 L330 255.8 L330 220.3 L392 220.3 L392 184.8 L454 184.8 L454 158.2 L516 158.2 L516 122.7 L578 122.7 L578 96.1 L640 96.1 L640 60.6'&#10;                        fill='none' stroke='#3D7BD9' strokeWidth='3' /&gt;&#10;                    &lt;path d='M20 380 L82 348.0 L144 316.1 L206 284.1 L268 252.2 L330 220.2 L392 188.3 L454 156.4 L516 124.4 L578 92.5 L640 60.5'&#10;                        fill='none' stroke='#0E3F8C' strokeWidth='3' /&gt;&#10;                    &lt;circle cx='640' cy='60.5' r='5' fill='#0E3F8C' /&gt;&#10;&#10;                    &lt;rect x='390' y='34' width='12' height='3' fill='#0E3F8C' /&gt;&#10;                    &lt;text x='410' y='41' fontSize='12' fill='#1A2230'&gt;真实值 mρ（ρ 为无理数）&lt;/text&gt;&#10;                    &lt;rect x='390' y='60' width='12' height='3' fill='#3D7BD9' /&gt;&#10;                    &lt;text x='410' y='67' fontSize='12' fill='#1A2230'&gt;平衡置闰（误差 ≤ ½）&lt;/text&gt;&#10;                    &lt;rect x='390' y='86' width='12' height='3' fill='#8FB4E8' /&gt;&#10;                    &lt;text x='410' y='93' fontSize='12' fill='#1A2230'&gt;下置闰 / 上置闰&lt;/text&gt;&#10;&#10;                    &lt;text x='20' y='430' fontSize='12' fill='#8B97A8'&gt;窗口序号 m →　累计采样数 S_M 始终贴合真实值，不漂移&lt;/text&gt;&#10;                &lt;/svg&gt;&#10;            &lt;/Box&gt;&#10;&#10;            &lt;Box style={{ flex: 1, flexDirection: 'column' }}&gt;&#10;                &lt;Box style={{ flexDirection: 'row', alignItems: 'flex-end', gap: 14 }}&gt;&#10;                    &lt;Text style={{ fontSize: 82, fontWeight: 'bold', color: '#0E3F8C', lineHeight: 0.95 }}&gt;½&lt;/Text&gt;&#10;                    &lt;Box style={{ flexDirection: 'column', paddingBottom: 8 }}&gt;&#10;                        &lt;Text style={{ fontSize: 16, fontWeight: 'bold', color: '#1A2230' }}&gt;平衡置闰的累计误差上界&lt;/Text&gt;&#10;                        &lt;Text style={{ fontSize: 13, color: '#8B97A8', marginTop: 3 }}&gt;{`|E_M| ≤ ½，不随窗口增长而累积`}&lt;/Text&gt;&#10;                    &lt;/Box&gt;&#10;                &lt;/Box&gt;&#10;&#10;                &lt;Box style={{ width: '100%', height: 1, background: '#D6DCE5', marginTop: 14, marginBottom: 12 }} /&gt;&#10;&#10;                {[&#10;                    ['三种序列', '下置闰误差落在 (−1, 0]，上置闰落在 [0, 1)，平衡置闰 |E_M| ≤ ½'],&#10;                    ['最优窗口', '连分数收敛子 p_j/q_j 给出实数的最佳有理逼近——窗口不是凑出来的，是可算出来的'],&#10;                    ['泄漏上界', '|F[k] − c_{k/M}| ≤ C·(|E_M|/T)·Σ|c_m|，且随收敛窗口序列趋于零'],&#10;                ].map((it, i) =&gt; (&#10;                    &lt;Box key={i} style={{ flexDirection: 'row', alignItems: 'flex-start', gap: 12, marginBottom: 10 }}&gt;&#10;                        &lt;Box style={{ width: 68, paddingTop: 4, paddingBottom: 4, borderRadius: 3, background: '#E8EFF8', alignItems: 'center' }}&gt;&#10;                            &lt;Text style={{ fontSize: 13, fontWeight: 'bold', color: '#1E4FA8' }}&gt;{it[0]}&lt;/Text&gt;&#10;                        &lt;/Box&gt;&#10;                        &lt;Text style={{ flex: 1, fontSize: 14, color: '#4A5568', lineHeight: 1.65 }}&gt;{it[1]}&lt;/Text&gt;&#10;                    &lt;/Box&gt;&#10;                ))}&#10;&#10;                &lt;Box style={{ flex: 1 }} /&gt;&#10;&#10;                &lt;Box style={{ padding: 13, borderRadius: 6, background: '#F7F9FC', borderLeft: '4px solid #FFC107' }}&gt;&#10;                    &lt;Text style={{ fontSize: 14, color: '#1A2230', lineHeight: 1.65 }}&gt;&#10;                        {`置闰`}&#10;                        &lt;span style={{ fontWeight: 'bold', color: '#D9534F' }}&gt;不消除泄漏&lt;/span&gt;&#10;                        {`，而是把它从&quot;不可控&quot;降为&quot;有界&quot;——这是不可公度性的内在代价，置闰的价值在于给出它的定量刻画。`}&#10;                    &lt;/Text&gt;&#10;                &lt;/Box&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14 / 22&lt;/Text&gt;&#10;    &lt;/Box&gt;&#10;&lt;/Slide&gt;&#10;"/>
        <p:cNvGrpSpPr/>
        <p:nvPr/>
      </p:nvGrpSpPr>
      <p:grpSpPr>
        <a:xfrm>
          <a:off x="0" y="0"/>
          <a:ext cx="0" cy="0"/>
          <a:chOff x="0" y="0"/>
          <a:chExt cx="0" cy="0"/>
        </a:xfrm>
      </p:grpSpPr>
      <p:sp>
        <p:nvSpPr>
          <p:cNvPr id="118" name="矩形 117"/>
          <p:cNvSpPr/>
          <p:nvPr/>
        </p:nvSpPr>
        <p:spPr>
          <a:xfrm>
            <a:off x="0" y="0"/>
            <a:ext cx="12192000" cy="6858000"/>
          </a:xfrm>
          <a:prstGeom prst="rect">
            <a:avLst/>
          </a:prstGeom>
          <a:solidFill>
            <a:srgbClr val="FFFFFF"/>
          </a:solidFill>
          <a:ln/>
        </p:spPr>
        <p:txBody>
          <a:bodyPr/>
          <a:lstStyle/>
          <a:p>
            <a:endParaRPr/>
          </a:p>
        </p:txBody>
      </p:sp>
      <p:sp>
        <p:nvSpPr>
          <p:cNvPr id="119" name="矩形 118"/>
          <p:cNvSpPr/>
          <p:nvPr/>
        </p:nvSpPr>
        <p:spPr>
          <a:xfrm>
            <a:off x="0" y="0"/>
            <a:ext cx="12192000" cy="76200"/>
          </a:xfrm>
          <a:prstGeom prst="rect">
            <a:avLst/>
          </a:prstGeom>
          <a:solidFill>
            <a:srgbClr val="1E4FA8"/>
          </a:solidFill>
          <a:ln/>
        </p:spPr>
        <p:txBody>
          <a:bodyPr/>
          <a:lstStyle/>
          <a:p>
            <a:endParaRPr/>
          </a:p>
        </p:txBody>
      </p:sp>
      <p:sp>
        <p:nvSpPr>
          <p:cNvPr id="120" name="任意多边形: 形状 119"/>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121" name="文本框 120"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122" name="文本框 121"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03 </a:t>
            </a:r>
            <a:r>
              <a:rPr lang="zh-CN" sz="1050" spc="75">
                <a:solidFill>
                  <a:srgbClr val="1E4FA8"/>
                </a:solidFill>
                <a:latin typeface="Microsoft YaHei"/>
                <a:ea typeface="Microsoft YaHei"/>
              </a:rPr>
              <a:t>方法工具与价值</a:t>
            </a:r>
            <a:endParaRPr/>
          </a:p>
        </p:txBody>
      </p:sp>
      <p:sp>
        <p:nvSpPr>
          <p:cNvPr id="123" name="文本框 122"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置闰：当周期比是无理数，误差可以被关进有界带</a:t>
            </a:r>
            <a:endParaRPr/>
          </a:p>
        </p:txBody>
      </p:sp>
      <p:sp>
        <p:nvSpPr>
          <p:cNvPr id="124" name="矩形: 圆角 123"/>
          <p:cNvSpPr/>
          <p:nvPr/>
        </p:nvSpPr>
        <p:spPr>
          <a:xfrm>
            <a:off x="419100" y="1352550"/>
            <a:ext cx="11430000" cy="323850"/>
          </a:xfrm>
          <a:prstGeom prst="roundRect">
            <a:avLst>
              <a:gd name="adj" fmla="val 11765"/>
            </a:avLst>
          </a:prstGeom>
          <a:solidFill>
            <a:srgbClr val="F0F5FC"/>
          </a:solidFill>
          <a:ln/>
        </p:spPr>
        <p:txBody>
          <a:bodyPr/>
          <a:lstStyle/>
          <a:p>
            <a:endParaRPr/>
          </a:p>
        </p:txBody>
      </p:sp>
      <p:sp>
        <p:nvSpPr>
          <p:cNvPr id="125" name="任意多边形: 形状 124"/>
          <p:cNvSpPr/>
          <p:nvPr/>
        </p:nvSpPr>
        <p:spPr>
          <a:xfrm>
            <a:off x="419100" y="1352550"/>
            <a:ext cx="11430000" cy="323850"/>
          </a:xfrm>
          <a:custGeom>
            <a:avLst/>
            <a:gdLst/>
            <a:ahLst/>
            <a:cxnLst/>
            <a:rect l="0" t="0" r="0" b="0"/>
            <a:pathLst>
              <a:path w="1200" h="34">
                <a:moveTo>
                  <a:pt x="4" y="34"/>
                </a:moveTo>
                <a:cubicBezTo>
                  <a:pt x="2" y="34"/>
                  <a:pt x="0" y="32"/>
                  <a:pt x="0" y="30"/>
                </a:cubicBezTo>
                <a:lnTo>
                  <a:pt x="0" y="4"/>
                </a:lnTo>
                <a:cubicBezTo>
                  <a:pt x="0" y="2"/>
                  <a:pt x="2" y="0"/>
                  <a:pt x="4" y="0"/>
                </a:cubicBezTo>
                <a:lnTo>
                  <a:pt x="4" y="34"/>
                </a:lnTo>
                <a:close/>
              </a:path>
            </a:pathLst>
          </a:custGeom>
          <a:solidFill>
            <a:srgbClr val="1E4FA8"/>
          </a:solidFill>
          <a:ln/>
        </p:spPr>
        <p:txBody>
          <a:bodyPr/>
          <a:lstStyle/>
          <a:p>
            <a:endParaRPr/>
          </a:p>
        </p:txBody>
      </p:sp>
      <p:sp>
        <p:nvSpPr>
          <p:cNvPr id="126" name="文本框 125" descr="{&quot;isTemplate&quot;:true,&quot;type&quot;:&quot;text&quot;}"/>
          <p:cNvSpPr txBox="1"/>
          <p:nvPr/>
        </p:nvSpPr>
        <p:spPr>
          <a:xfrm>
            <a:off x="571500" y="1428750"/>
            <a:ext cx="714375" cy="171450"/>
          </a:xfrm>
          <a:prstGeom prst="rect">
            <a:avLst/>
          </a:prstGeom>
        </p:spPr>
        <p:txBody>
          <a:bodyPr wrap="none" lIns="0" tIns="0" rIns="0" bIns="0"/>
          <a:lstStyle/>
          <a:p>
            <a:pPr>
              <a:lnSpc>
                <a:spcPct val="100000"/>
              </a:lnSpc>
            </a:pPr>
            <a:r>
              <a:rPr lang="zh-CN" sz="1125">
                <a:solidFill>
                  <a:srgbClr val="4A5568"/>
                </a:solidFill>
                <a:latin typeface="Microsoft YaHei"/>
                <a:ea typeface="Microsoft YaHei"/>
              </a:rPr>
              <a:t>引导问题：</a:t>
            </a:r>
            <a:endParaRPr/>
          </a:p>
        </p:txBody>
      </p:sp>
      <p:sp>
        <p:nvSpPr>
          <p:cNvPr id="127" name="文本框 126" descr="{&quot;isTemplate&quot;:true,&quot;type&quot;:&quot;text&quot;}"/>
          <p:cNvSpPr txBox="1"/>
          <p:nvPr/>
        </p:nvSpPr>
        <p:spPr>
          <a:xfrm>
            <a:off x="1400175" y="1428750"/>
            <a:ext cx="5743575" cy="171450"/>
          </a:xfrm>
          <a:prstGeom prst="rect">
            <a:avLst/>
          </a:prstGeom>
        </p:spPr>
        <p:txBody>
          <a:bodyPr wrap="none" lIns="0" tIns="0" rIns="0" bIns="0"/>
          <a:lstStyle/>
          <a:p>
            <a:pPr>
              <a:lnSpc>
                <a:spcPct val="100000"/>
              </a:lnSpc>
            </a:pPr>
            <a:r>
              <a:rPr lang="zh-CN" sz="1125" b="1">
                <a:solidFill>
                  <a:srgbClr val="0E3F8C"/>
                </a:solidFill>
                <a:latin typeface="Microsoft YaHei"/>
                <a:ea typeface="Microsoft YaHei"/>
              </a:rPr>
              <a:t>周期比不可公度时，任何有限窗口都装不下整数个周期——这个代价能否被量化并最小化？</a:t>
            </a:r>
            <a:endParaRPr/>
          </a:p>
        </p:txBody>
      </p:sp>
      <p:sp>
        <p:nvSpPr>
          <p:cNvPr id="128" name="矩形: 圆角 127"/>
          <p:cNvSpPr/>
          <p:nvPr/>
        </p:nvSpPr>
        <p:spPr>
          <a:xfrm>
            <a:off x="381000" y="1790700"/>
            <a:ext cx="5715000" cy="4610100"/>
          </a:xfrm>
          <a:prstGeom prst="roundRect">
            <a:avLst>
              <a:gd name="adj" fmla="val 1240"/>
            </a:avLst>
          </a:prstGeom>
          <a:solidFill>
            <a:srgbClr val="F7F9FC"/>
          </a:solidFill>
          <a:ln w="12700">
            <a:solidFill>
              <a:srgbClr val="E5E7EB"/>
            </a:solidFill>
            <a:prstDash val="solid"/>
          </a:ln>
        </p:spPr>
        <p:txBody>
          <a:bodyPr/>
          <a:lstStyle/>
          <a:p>
            <a:endParaRPr/>
          </a:p>
        </p:txBody>
      </p:sp>
      <p:pic>
        <p:nvPicPr>
          <p:cNvPr id="129" name="图形 128"/>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2925" y="2362200"/>
            <a:ext cx="5391150" cy="3467100"/>
          </a:xfrm>
          <a:prstGeom prst="rect">
            <a:avLst/>
          </a:prstGeom>
          <a:ln/>
        </p:spPr>
      </p:pic>
      <p:sp>
        <p:nvSpPr>
          <p:cNvPr id="130" name="文本框 129" descr="{&quot;isTemplate&quot;:true,&quot;type&quot;:&quot;text&quot;}"/>
          <p:cNvSpPr txBox="1"/>
          <p:nvPr/>
        </p:nvSpPr>
        <p:spPr>
          <a:xfrm>
            <a:off x="6324600" y="1790700"/>
            <a:ext cx="819150" cy="895350"/>
          </a:xfrm>
          <a:prstGeom prst="rect">
            <a:avLst/>
          </a:prstGeom>
        </p:spPr>
        <p:txBody>
          <a:bodyPr wrap="none" lIns="0" tIns="0" rIns="0" bIns="0"/>
          <a:lstStyle/>
          <a:p>
            <a:pPr>
              <a:lnSpc>
                <a:spcPct val="95000"/>
              </a:lnSpc>
            </a:pPr>
            <a:r>
              <a:rPr sz="6150" b="1">
                <a:solidFill>
                  <a:srgbClr val="0E3F8C"/>
                </a:solidFill>
                <a:latin typeface="Microsoft YaHei"/>
                <a:ea typeface="Microsoft YaHei"/>
              </a:rPr>
              <a:t>½</a:t>
            </a:r>
            <a:endParaRPr/>
          </a:p>
        </p:txBody>
      </p:sp>
      <p:sp>
        <p:nvSpPr>
          <p:cNvPr id="131" name="文本框 130" descr="{&quot;isTemplate&quot;:true,&quot;type&quot;:&quot;text&quot;}"/>
          <p:cNvSpPr txBox="1"/>
          <p:nvPr/>
        </p:nvSpPr>
        <p:spPr>
          <a:xfrm>
            <a:off x="7277100" y="2238375"/>
            <a:ext cx="1847850" cy="190500"/>
          </a:xfrm>
          <a:prstGeom prst="rect">
            <a:avLst/>
          </a:prstGeom>
        </p:spPr>
        <p:txBody>
          <a:bodyPr wrap="none" lIns="0" tIns="0" rIns="0" bIns="0"/>
          <a:lstStyle/>
          <a:p>
            <a:pPr>
              <a:lnSpc>
                <a:spcPct val="100000"/>
              </a:lnSpc>
            </a:pPr>
            <a:r>
              <a:rPr lang="zh-CN" sz="1200" b="1">
                <a:solidFill>
                  <a:srgbClr val="1A2230"/>
                </a:solidFill>
                <a:latin typeface="Microsoft YaHei"/>
                <a:ea typeface="Microsoft YaHei"/>
              </a:rPr>
              <a:t>平衡置闰的累计误差上界</a:t>
            </a:r>
            <a:endParaRPr/>
          </a:p>
        </p:txBody>
      </p:sp>
      <p:sp>
        <p:nvSpPr>
          <p:cNvPr id="132" name="文本框 131" descr="{&quot;isTemplate&quot;:true,&quot;type&quot;:&quot;text&quot;}"/>
          <p:cNvSpPr txBox="1"/>
          <p:nvPr/>
        </p:nvSpPr>
        <p:spPr>
          <a:xfrm>
            <a:off x="7277100" y="2457450"/>
            <a:ext cx="1847850" cy="152400"/>
          </a:xfrm>
          <a:prstGeom prst="rect">
            <a:avLst/>
          </a:prstGeom>
        </p:spPr>
        <p:txBody>
          <a:bodyPr wrap="none" lIns="0" tIns="0" rIns="0" bIns="0"/>
          <a:lstStyle/>
          <a:p>
            <a:pPr>
              <a:lnSpc>
                <a:spcPct val="100000"/>
              </a:lnSpc>
            </a:pPr>
            <a:r>
              <a:rPr lang="en-US" sz="975">
                <a:solidFill>
                  <a:srgbClr val="8B97A8"/>
                </a:solidFill>
                <a:latin typeface="Microsoft YaHei"/>
                <a:ea typeface="Microsoft YaHei"/>
              </a:rPr>
              <a:t>|E</a:t>
            </a:r>
            <a:r>
              <a:rPr lang="en-US" sz="975" baseline="-25000">
                <a:solidFill>
                  <a:srgbClr val="8B97A8"/>
                </a:solidFill>
                <a:latin typeface="Microsoft YaHei"/>
                <a:ea typeface="Microsoft YaHei"/>
              </a:rPr>
              <a:t>M</a:t>
            </a:r>
            <a:r>
              <a:rPr lang="en-US" sz="975">
                <a:solidFill>
                  <a:srgbClr val="8B97A8"/>
                </a:solidFill>
                <a:latin typeface="Microsoft YaHei"/>
                <a:ea typeface="Microsoft YaHei"/>
              </a:rPr>
              <a:t>| ≤ ½</a:t>
            </a:r>
            <a:r>
              <a:rPr lang="zh-CN" sz="975">
                <a:solidFill>
                  <a:srgbClr val="8B97A8"/>
                </a:solidFill>
                <a:latin typeface="Microsoft YaHei"/>
                <a:ea typeface="Microsoft YaHei"/>
              </a:rPr>
              <a:t>，不随窗口增长而累积</a:t>
            </a:r>
            <a:endParaRPr/>
          </a:p>
        </p:txBody>
      </p:sp>
      <p:sp>
        <p:nvSpPr>
          <p:cNvPr id="133" name="矩形 132"/>
          <p:cNvSpPr/>
          <p:nvPr/>
        </p:nvSpPr>
        <p:spPr>
          <a:xfrm>
            <a:off x="6324600" y="2819400"/>
            <a:ext cx="5486400" cy="9525"/>
          </a:xfrm>
          <a:prstGeom prst="rect">
            <a:avLst/>
          </a:prstGeom>
          <a:solidFill>
            <a:srgbClr val="D6DCE5"/>
          </a:solidFill>
          <a:ln/>
        </p:spPr>
        <p:txBody>
          <a:bodyPr/>
          <a:lstStyle/>
          <a:p>
            <a:endParaRPr/>
          </a:p>
        </p:txBody>
      </p:sp>
      <p:sp>
        <p:nvSpPr>
          <p:cNvPr id="134" name="矩形: 圆角 133"/>
          <p:cNvSpPr/>
          <p:nvPr/>
        </p:nvSpPr>
        <p:spPr>
          <a:xfrm>
            <a:off x="6324600" y="2943225"/>
            <a:ext cx="647700" cy="228600"/>
          </a:xfrm>
          <a:prstGeom prst="roundRect">
            <a:avLst>
              <a:gd name="adj" fmla="val 12500"/>
            </a:avLst>
          </a:prstGeom>
          <a:solidFill>
            <a:srgbClr val="E8EFF8"/>
          </a:solidFill>
          <a:ln/>
        </p:spPr>
        <p:txBody>
          <a:bodyPr/>
          <a:lstStyle/>
          <a:p>
            <a:endParaRPr/>
          </a:p>
        </p:txBody>
      </p:sp>
      <p:sp>
        <p:nvSpPr>
          <p:cNvPr id="135" name="文本框 134" descr="{&quot;isTemplate&quot;:true,&quot;type&quot;:&quot;text&quot;}"/>
          <p:cNvSpPr txBox="1"/>
          <p:nvPr/>
        </p:nvSpPr>
        <p:spPr>
          <a:xfrm>
            <a:off x="6400800" y="2981325"/>
            <a:ext cx="495300" cy="152400"/>
          </a:xfrm>
          <a:prstGeom prst="rect">
            <a:avLst/>
          </a:prstGeom>
        </p:spPr>
        <p:txBody>
          <a:bodyPr wrap="none" lIns="0" tIns="0" rIns="0" bIns="0"/>
          <a:lstStyle/>
          <a:p>
            <a:pPr>
              <a:lnSpc>
                <a:spcPct val="100000"/>
              </a:lnSpc>
            </a:pPr>
            <a:r>
              <a:rPr lang="zh-CN" sz="975" b="1">
                <a:solidFill>
                  <a:srgbClr val="1E4FA8"/>
                </a:solidFill>
                <a:latin typeface="Microsoft YaHei"/>
                <a:ea typeface="Microsoft YaHei"/>
              </a:rPr>
              <a:t>三种序列</a:t>
            </a:r>
            <a:endParaRPr/>
          </a:p>
        </p:txBody>
      </p:sp>
      <p:sp>
        <p:nvSpPr>
          <p:cNvPr id="136" name="文本框 135" descr="{&quot;isTemplate&quot;:true,&quot;type&quot;:&quot;text&quot;}"/>
          <p:cNvSpPr txBox="1"/>
          <p:nvPr/>
        </p:nvSpPr>
        <p:spPr>
          <a:xfrm>
            <a:off x="7086600" y="2943225"/>
            <a:ext cx="4724400" cy="266700"/>
          </a:xfrm>
          <a:prstGeom prst="rect">
            <a:avLst/>
          </a:prstGeom>
        </p:spPr>
        <p:txBody>
          <a:bodyPr wrap="none" lIns="0" tIns="0" rIns="0" bIns="0"/>
          <a:lstStyle/>
          <a:p>
            <a:pPr>
              <a:lnSpc>
                <a:spcPct val="165000"/>
              </a:lnSpc>
            </a:pPr>
            <a:r>
              <a:rPr lang="zh-CN" sz="1050">
                <a:solidFill>
                  <a:srgbClr val="4A5568"/>
                </a:solidFill>
                <a:latin typeface="Microsoft YaHei"/>
                <a:ea typeface="Microsoft YaHei"/>
              </a:rPr>
              <a:t>下置闰误差落在</a:t>
            </a:r>
            <a:r>
              <a:rPr lang="en-US" sz="1050">
                <a:solidFill>
                  <a:srgbClr val="4A5568"/>
                </a:solidFill>
                <a:latin typeface="Microsoft YaHei"/>
                <a:ea typeface="Microsoft YaHei"/>
              </a:rPr>
              <a:t> (−1, 0]</a:t>
            </a:r>
            <a:r>
              <a:rPr lang="zh-CN" sz="1050">
                <a:solidFill>
                  <a:srgbClr val="4A5568"/>
                </a:solidFill>
                <a:latin typeface="Microsoft YaHei"/>
                <a:ea typeface="Microsoft YaHei"/>
              </a:rPr>
              <a:t>，上置闰落在</a:t>
            </a:r>
            <a:r>
              <a:rPr lang="en-US" sz="1050">
                <a:solidFill>
                  <a:srgbClr val="4A5568"/>
                </a:solidFill>
                <a:latin typeface="Microsoft YaHei"/>
                <a:ea typeface="Microsoft YaHei"/>
              </a:rPr>
              <a:t> [0, 1)</a:t>
            </a:r>
            <a:r>
              <a:rPr lang="zh-CN" sz="1050">
                <a:solidFill>
                  <a:srgbClr val="4A5568"/>
                </a:solidFill>
                <a:latin typeface="Microsoft YaHei"/>
                <a:ea typeface="Microsoft YaHei"/>
              </a:rPr>
              <a:t>，平衡置闰</a:t>
            </a:r>
            <a:r>
              <a:rPr lang="en-US" sz="1050">
                <a:solidFill>
                  <a:srgbClr val="4A5568"/>
                </a:solidFill>
                <a:latin typeface="Microsoft YaHei"/>
                <a:ea typeface="Microsoft YaHei"/>
              </a:rPr>
              <a:t> |E</a:t>
            </a:r>
            <a:r>
              <a:rPr lang="en-US" sz="1050" baseline="-25000">
                <a:solidFill>
                  <a:srgbClr val="4A5568"/>
                </a:solidFill>
                <a:latin typeface="Microsoft YaHei"/>
                <a:ea typeface="Microsoft YaHei"/>
              </a:rPr>
              <a:t>M</a:t>
            </a:r>
            <a:r>
              <a:rPr lang="en-US" sz="1050">
                <a:solidFill>
                  <a:srgbClr val="4A5568"/>
                </a:solidFill>
                <a:latin typeface="Microsoft YaHei"/>
                <a:ea typeface="Microsoft YaHei"/>
              </a:rPr>
              <a:t>| ≤ ½</a:t>
            </a:r>
            <a:endParaRPr/>
          </a:p>
        </p:txBody>
      </p:sp>
      <p:sp>
        <p:nvSpPr>
          <p:cNvPr id="137" name="矩形: 圆角 136"/>
          <p:cNvSpPr/>
          <p:nvPr/>
        </p:nvSpPr>
        <p:spPr>
          <a:xfrm>
            <a:off x="6324600" y="3305175"/>
            <a:ext cx="647700" cy="228600"/>
          </a:xfrm>
          <a:prstGeom prst="roundRect">
            <a:avLst>
              <a:gd name="adj" fmla="val 12500"/>
            </a:avLst>
          </a:prstGeom>
          <a:solidFill>
            <a:srgbClr val="E8EFF8"/>
          </a:solidFill>
          <a:ln/>
        </p:spPr>
        <p:txBody>
          <a:bodyPr/>
          <a:lstStyle/>
          <a:p>
            <a:endParaRPr/>
          </a:p>
        </p:txBody>
      </p:sp>
      <p:sp>
        <p:nvSpPr>
          <p:cNvPr id="138" name="文本框 137" descr="{&quot;isTemplate&quot;:true,&quot;type&quot;:&quot;text&quot;}"/>
          <p:cNvSpPr txBox="1"/>
          <p:nvPr/>
        </p:nvSpPr>
        <p:spPr>
          <a:xfrm>
            <a:off x="6400800" y="3343275"/>
            <a:ext cx="495300" cy="152400"/>
          </a:xfrm>
          <a:prstGeom prst="rect">
            <a:avLst/>
          </a:prstGeom>
        </p:spPr>
        <p:txBody>
          <a:bodyPr wrap="none" lIns="0" tIns="0" rIns="0" bIns="0"/>
          <a:lstStyle/>
          <a:p>
            <a:pPr>
              <a:lnSpc>
                <a:spcPct val="100000"/>
              </a:lnSpc>
            </a:pPr>
            <a:r>
              <a:rPr lang="zh-CN" sz="975" b="1">
                <a:solidFill>
                  <a:srgbClr val="1E4FA8"/>
                </a:solidFill>
                <a:latin typeface="Microsoft YaHei"/>
                <a:ea typeface="Microsoft YaHei"/>
              </a:rPr>
              <a:t>最优窗口</a:t>
            </a:r>
            <a:endParaRPr/>
          </a:p>
        </p:txBody>
      </p:sp>
      <p:sp>
        <p:nvSpPr>
          <p:cNvPr id="139" name="文本框 138" descr="{&quot;isTemplate&quot;:true,&quot;type&quot;:&quot;text&quot;}"/>
          <p:cNvSpPr txBox="1"/>
          <p:nvPr/>
        </p:nvSpPr>
        <p:spPr>
          <a:xfrm>
            <a:off x="7086600" y="3305175"/>
            <a:ext cx="4724400" cy="533400"/>
          </a:xfrm>
          <a:prstGeom prst="rect">
            <a:avLst/>
          </a:prstGeom>
        </p:spPr>
        <p:txBody>
          <a:bodyPr wrap="square" lIns="0" tIns="0" rIns="0" bIns="0">
            <a:normAutofit/>
          </a:bodyPr>
          <a:lstStyle/>
          <a:p>
            <a:pPr>
              <a:lnSpc>
                <a:spcPct val="165000"/>
              </a:lnSpc>
            </a:pPr>
            <a:r>
              <a:rPr lang="zh-CN" sz="1050">
                <a:solidFill>
                  <a:srgbClr val="4A5568"/>
                </a:solidFill>
                <a:latin typeface="Microsoft YaHei"/>
                <a:ea typeface="Microsoft YaHei"/>
              </a:rPr>
              <a:t>连分数收敛子</a:t>
            </a:r>
            <a:r>
              <a:rPr lang="en-US" sz="1050">
                <a:solidFill>
                  <a:srgbClr val="4A5568"/>
                </a:solidFill>
                <a:latin typeface="Microsoft YaHei"/>
                <a:ea typeface="Microsoft YaHei"/>
              </a:rPr>
              <a:t> p</a:t>
            </a:r>
            <a:r>
              <a:rPr lang="en-US" sz="1050" baseline="-25000">
                <a:solidFill>
                  <a:srgbClr val="4A5568"/>
                </a:solidFill>
                <a:latin typeface="Microsoft YaHei"/>
                <a:ea typeface="Microsoft YaHei"/>
              </a:rPr>
              <a:t>j</a:t>
            </a:r>
            <a:r>
              <a:rPr lang="en-US" sz="1050">
                <a:solidFill>
                  <a:srgbClr val="4A5568"/>
                </a:solidFill>
                <a:latin typeface="Microsoft YaHei"/>
                <a:ea typeface="Microsoft YaHei"/>
              </a:rPr>
              <a:t>/q</a:t>
            </a:r>
            <a:r>
              <a:rPr lang="en-US" sz="1050" baseline="-25000">
                <a:solidFill>
                  <a:srgbClr val="4A5568"/>
                </a:solidFill>
                <a:latin typeface="Microsoft YaHei"/>
                <a:ea typeface="Microsoft YaHei"/>
              </a:rPr>
              <a:t>j</a:t>
            </a:r>
            <a:r>
              <a:rPr lang="en-US" sz="1050">
                <a:solidFill>
                  <a:srgbClr val="4A5568"/>
                </a:solidFill>
                <a:latin typeface="Microsoft YaHei"/>
                <a:ea typeface="Microsoft YaHei"/>
              </a:rPr>
              <a:t> </a:t>
            </a:r>
            <a:r>
              <a:rPr lang="zh-CN" sz="1050">
                <a:solidFill>
                  <a:srgbClr val="4A5568"/>
                </a:solidFill>
                <a:latin typeface="Microsoft YaHei"/>
                <a:ea typeface="Microsoft YaHei"/>
              </a:rPr>
              <a:t>给出实数的最佳有理逼近——窗口不是凑出来的，是可算出来的</a:t>
            </a:r>
            <a:endParaRPr/>
          </a:p>
        </p:txBody>
      </p:sp>
      <p:sp>
        <p:nvSpPr>
          <p:cNvPr id="140" name="矩形: 圆角 139"/>
          <p:cNvSpPr/>
          <p:nvPr/>
        </p:nvSpPr>
        <p:spPr>
          <a:xfrm>
            <a:off x="6324600" y="3933825"/>
            <a:ext cx="647700" cy="228600"/>
          </a:xfrm>
          <a:prstGeom prst="roundRect">
            <a:avLst>
              <a:gd name="adj" fmla="val 12500"/>
            </a:avLst>
          </a:prstGeom>
          <a:solidFill>
            <a:srgbClr val="E8EFF8"/>
          </a:solidFill>
          <a:ln/>
        </p:spPr>
        <p:txBody>
          <a:bodyPr/>
          <a:lstStyle/>
          <a:p>
            <a:endParaRPr/>
          </a:p>
        </p:txBody>
      </p:sp>
      <p:sp>
        <p:nvSpPr>
          <p:cNvPr id="141" name="文本框 140" descr="{&quot;isTemplate&quot;:true,&quot;type&quot;:&quot;text&quot;}"/>
          <p:cNvSpPr txBox="1"/>
          <p:nvPr/>
        </p:nvSpPr>
        <p:spPr>
          <a:xfrm>
            <a:off x="6400800" y="3971925"/>
            <a:ext cx="495300" cy="152400"/>
          </a:xfrm>
          <a:prstGeom prst="rect">
            <a:avLst/>
          </a:prstGeom>
        </p:spPr>
        <p:txBody>
          <a:bodyPr wrap="none" lIns="0" tIns="0" rIns="0" bIns="0"/>
          <a:lstStyle/>
          <a:p>
            <a:pPr>
              <a:lnSpc>
                <a:spcPct val="100000"/>
              </a:lnSpc>
            </a:pPr>
            <a:r>
              <a:rPr lang="zh-CN" sz="975" b="1">
                <a:solidFill>
                  <a:srgbClr val="1E4FA8"/>
                </a:solidFill>
                <a:latin typeface="Microsoft YaHei"/>
                <a:ea typeface="Microsoft YaHei"/>
              </a:rPr>
              <a:t>泄漏上界</a:t>
            </a:r>
            <a:endParaRPr/>
          </a:p>
        </p:txBody>
      </p:sp>
      <p:sp>
        <p:nvSpPr>
          <p:cNvPr id="142" name="文本框 141" descr="{&quot;isTemplate&quot;:true,&quot;type&quot;:&quot;text&quot;}"/>
          <p:cNvSpPr txBox="1"/>
          <p:nvPr/>
        </p:nvSpPr>
        <p:spPr>
          <a:xfrm>
            <a:off x="7086600" y="3933825"/>
            <a:ext cx="4724400" cy="266700"/>
          </a:xfrm>
          <a:prstGeom prst="rect">
            <a:avLst/>
          </a:prstGeom>
        </p:spPr>
        <p:txBody>
          <a:bodyPr wrap="none" lIns="0" tIns="0" rIns="0" bIns="0"/>
          <a:lstStyle/>
          <a:p>
            <a:pPr>
              <a:lnSpc>
                <a:spcPct val="165000"/>
              </a:lnSpc>
            </a:pPr>
            <a:r>
              <a:rPr lang="en-US" sz="1050">
                <a:solidFill>
                  <a:srgbClr val="4A5568"/>
                </a:solidFill>
                <a:latin typeface="Microsoft YaHei"/>
                <a:ea typeface="Microsoft YaHei"/>
              </a:rPr>
              <a:t>|F[k] − c</a:t>
            </a:r>
            <a:r>
              <a:rPr lang="en-US" sz="1050" baseline="-25000">
                <a:solidFill>
                  <a:srgbClr val="4A5568"/>
                </a:solidFill>
                <a:latin typeface="Microsoft YaHei"/>
                <a:ea typeface="Microsoft YaHei"/>
              </a:rPr>
              <a:t>k/M</a:t>
            </a:r>
            <a:r>
              <a:rPr lang="en-US" sz="1050">
                <a:solidFill>
                  <a:srgbClr val="4A5568"/>
                </a:solidFill>
                <a:latin typeface="Microsoft YaHei"/>
                <a:ea typeface="Microsoft YaHei"/>
              </a:rPr>
              <a:t>| ≤ C·(|E</a:t>
            </a:r>
            <a:r>
              <a:rPr lang="en-US" sz="1050" baseline="-25000">
                <a:solidFill>
                  <a:srgbClr val="4A5568"/>
                </a:solidFill>
                <a:latin typeface="Microsoft YaHei"/>
                <a:ea typeface="Microsoft YaHei"/>
              </a:rPr>
              <a:t>M</a:t>
            </a:r>
            <a:r>
              <a:rPr lang="en-US" sz="1050">
                <a:solidFill>
                  <a:srgbClr val="4A5568"/>
                </a:solidFill>
                <a:latin typeface="Microsoft YaHei"/>
                <a:ea typeface="Microsoft YaHei"/>
              </a:rPr>
              <a:t>|/T)·Σ|c</a:t>
            </a:r>
            <a:r>
              <a:rPr lang="en-US" sz="1050" baseline="-25000">
                <a:solidFill>
                  <a:srgbClr val="4A5568"/>
                </a:solidFill>
                <a:latin typeface="Microsoft YaHei"/>
                <a:ea typeface="Microsoft YaHei"/>
              </a:rPr>
              <a:t>m</a:t>
            </a:r>
            <a:r>
              <a:rPr lang="en-US" sz="1050">
                <a:solidFill>
                  <a:srgbClr val="4A5568"/>
                </a:solidFill>
                <a:latin typeface="Microsoft YaHei"/>
                <a:ea typeface="Microsoft YaHei"/>
              </a:rPr>
              <a:t>|</a:t>
            </a:r>
            <a:r>
              <a:rPr lang="zh-CN" sz="1050">
                <a:solidFill>
                  <a:srgbClr val="4A5568"/>
                </a:solidFill>
                <a:latin typeface="Microsoft YaHei"/>
                <a:ea typeface="Microsoft YaHei"/>
              </a:rPr>
              <a:t>，且随收敛窗口序列趋于零</a:t>
            </a:r>
            <a:endParaRPr/>
          </a:p>
        </p:txBody>
      </p:sp>
      <p:sp>
        <p:nvSpPr>
          <p:cNvPr id="143" name="矩形: 圆角 142"/>
          <p:cNvSpPr/>
          <p:nvPr/>
        </p:nvSpPr>
        <p:spPr>
          <a:xfrm>
            <a:off x="6362700" y="5619750"/>
            <a:ext cx="5486400" cy="781050"/>
          </a:xfrm>
          <a:prstGeom prst="roundRect">
            <a:avLst>
              <a:gd name="adj" fmla="val 7317"/>
            </a:avLst>
          </a:prstGeom>
          <a:solidFill>
            <a:srgbClr val="F7F9FC"/>
          </a:solidFill>
          <a:ln/>
        </p:spPr>
        <p:txBody>
          <a:bodyPr/>
          <a:lstStyle/>
          <a:p>
            <a:endParaRPr/>
          </a:p>
        </p:txBody>
      </p:sp>
      <p:sp>
        <p:nvSpPr>
          <p:cNvPr id="144" name="任意多边形: 形状 143"/>
          <p:cNvSpPr/>
          <p:nvPr/>
        </p:nvSpPr>
        <p:spPr>
          <a:xfrm>
            <a:off x="6362700" y="5619750"/>
            <a:ext cx="5486400" cy="781050"/>
          </a:xfrm>
          <a:custGeom>
            <a:avLst/>
            <a:gdLst/>
            <a:ahLst/>
            <a:cxnLst/>
            <a:rect l="0" t="0" r="0" b="0"/>
            <a:pathLst>
              <a:path w="576" h="82">
                <a:moveTo>
                  <a:pt x="6" y="0"/>
                </a:moveTo>
                <a:cubicBezTo>
                  <a:pt x="5" y="0"/>
                  <a:pt x="4" y="1"/>
                  <a:pt x="4" y="2"/>
                </a:cubicBezTo>
                <a:lnTo>
                  <a:pt x="4" y="80"/>
                </a:lnTo>
                <a:cubicBezTo>
                  <a:pt x="4" y="81"/>
                  <a:pt x="5" y="82"/>
                  <a:pt x="6" y="82"/>
                </a:cubicBezTo>
                <a:cubicBezTo>
                  <a:pt x="3" y="82"/>
                  <a:pt x="0" y="79"/>
                  <a:pt x="0" y="76"/>
                </a:cubicBezTo>
                <a:lnTo>
                  <a:pt x="0" y="6"/>
                </a:lnTo>
                <a:cubicBezTo>
                  <a:pt x="0" y="3"/>
                  <a:pt x="3" y="0"/>
                  <a:pt x="6" y="0"/>
                </a:cubicBezTo>
                <a:close/>
              </a:path>
            </a:pathLst>
          </a:custGeom>
          <a:solidFill>
            <a:srgbClr val="FFC107"/>
          </a:solidFill>
          <a:ln/>
        </p:spPr>
        <p:txBody>
          <a:bodyPr/>
          <a:lstStyle/>
          <a:p>
            <a:endParaRPr/>
          </a:p>
        </p:txBody>
      </p:sp>
      <p:sp>
        <p:nvSpPr>
          <p:cNvPr id="145" name="文本框 144" descr="{&quot;isTemplate&quot;:true,&quot;type&quot;:&quot;text&quot;}"/>
          <p:cNvSpPr txBox="1"/>
          <p:nvPr/>
        </p:nvSpPr>
        <p:spPr>
          <a:xfrm>
            <a:off x="6486525" y="5743575"/>
            <a:ext cx="5200650" cy="533400"/>
          </a:xfrm>
          <a:prstGeom prst="rect">
            <a:avLst/>
          </a:prstGeom>
        </p:spPr>
        <p:txBody>
          <a:bodyPr wrap="square" lIns="0" tIns="0" rIns="0" bIns="0">
            <a:normAutofit/>
          </a:bodyPr>
          <a:lstStyle/>
          <a:p>
            <a:pPr>
              <a:lnSpc>
                <a:spcPct val="165000"/>
              </a:lnSpc>
            </a:pPr>
            <a:r>
              <a:rPr lang="zh-CN" sz="1050">
                <a:solidFill>
                  <a:srgbClr val="1A2230"/>
                </a:solidFill>
                <a:latin typeface="Microsoft YaHei"/>
                <a:ea typeface="Microsoft YaHei"/>
              </a:rPr>
              <a:t>置闰</a:t>
            </a:r>
            <a:r>
              <a:rPr lang="zh-CN" sz="1050" b="1">
                <a:solidFill>
                  <a:srgbClr val="D9534F"/>
                </a:solidFill>
                <a:latin typeface="Microsoft YaHei"/>
                <a:ea typeface="Microsoft YaHei"/>
              </a:rPr>
              <a:t>不消除泄漏</a:t>
            </a:r>
            <a:r>
              <a:rPr lang="zh-CN" sz="1050">
                <a:solidFill>
                  <a:srgbClr val="1A2230"/>
                </a:solidFill>
                <a:latin typeface="Microsoft YaHei"/>
                <a:ea typeface="Microsoft YaHei"/>
              </a:rPr>
              <a:t>，而是把它从</a:t>
            </a:r>
            <a:r>
              <a:rPr lang="en-US" sz="1050">
                <a:solidFill>
                  <a:srgbClr val="1A2230"/>
                </a:solidFill>
                <a:latin typeface="Microsoft YaHei"/>
                <a:ea typeface="Microsoft YaHei"/>
              </a:rPr>
              <a:t>"</a:t>
            </a:r>
            <a:r>
              <a:rPr lang="zh-CN" sz="1050">
                <a:solidFill>
                  <a:srgbClr val="1A2230"/>
                </a:solidFill>
                <a:latin typeface="Microsoft YaHei"/>
                <a:ea typeface="Microsoft YaHei"/>
              </a:rPr>
              <a:t>不可控</a:t>
            </a:r>
            <a:r>
              <a:rPr lang="en-US" sz="1050">
                <a:solidFill>
                  <a:srgbClr val="1A2230"/>
                </a:solidFill>
                <a:latin typeface="Microsoft YaHei"/>
                <a:ea typeface="Microsoft YaHei"/>
              </a:rPr>
              <a:t>"</a:t>
            </a:r>
            <a:r>
              <a:rPr lang="zh-CN" sz="1050">
                <a:solidFill>
                  <a:srgbClr val="1A2230"/>
                </a:solidFill>
                <a:latin typeface="Microsoft YaHei"/>
                <a:ea typeface="Microsoft YaHei"/>
              </a:rPr>
              <a:t>降为</a:t>
            </a:r>
            <a:r>
              <a:rPr lang="en-US" sz="1050">
                <a:solidFill>
                  <a:srgbClr val="1A2230"/>
                </a:solidFill>
                <a:latin typeface="Microsoft YaHei"/>
                <a:ea typeface="Microsoft YaHei"/>
              </a:rPr>
              <a:t>"</a:t>
            </a:r>
            <a:r>
              <a:rPr lang="zh-CN" sz="1050">
                <a:solidFill>
                  <a:srgbClr val="1A2230"/>
                </a:solidFill>
                <a:latin typeface="Microsoft YaHei"/>
                <a:ea typeface="Microsoft YaHei"/>
              </a:rPr>
              <a:t>有界</a:t>
            </a:r>
            <a:r>
              <a:rPr lang="en-US" sz="1050">
                <a:solidFill>
                  <a:srgbClr val="1A2230"/>
                </a:solidFill>
                <a:latin typeface="Microsoft YaHei"/>
                <a:ea typeface="Microsoft YaHei"/>
              </a:rPr>
              <a:t>"——</a:t>
            </a:r>
            <a:r>
              <a:rPr lang="zh-CN" sz="1050">
                <a:solidFill>
                  <a:srgbClr val="1A2230"/>
                </a:solidFill>
                <a:latin typeface="Microsoft YaHei"/>
                <a:ea typeface="Microsoft YaHei"/>
              </a:rPr>
              <a:t>这是不可公度性的内在代价，置闰的价值在于给出它的定量刻画。</a:t>
            </a:r>
            <a:endParaRPr/>
          </a:p>
        </p:txBody>
      </p:sp>
      <p:sp>
        <p:nvSpPr>
          <p:cNvPr id="146" name="文本框 145"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147" name="文本框 146"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14 / 22</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3 方法工具与价值&lt;/Text&gt;&#10;    &lt;/Box&gt;&#10;&#10;    &lt;Box style={{ width: '100%', height: 78, paddingLeft: 40, paddingRight: 40, justifyContent: 'center' }}&gt;&#10;        &lt;Text style={{ fontSize: 32, fontWeight: 'bold', color: '#0E3F8C' }}&gt;用方向而不是幅度，判断趋势何时转向&lt;/Text&gt;&#10;    &lt;/Box&gt;&#10;&#10;    &lt;Box style={{ width: '100%', flex: 1, flexDirection: 'column', gap: 12, paddingLeft: 40, paddingRight: 40, paddingBottom: 16 }}&gt;&#10;&#10;        &lt;Box style={{ width: '100%', borderRadius: 6, background: '#F7F9FC', border: '1px solid #E5E7EB', justifyContent: 'center', alignItems: 'center' }}&gt;&#10;            &lt;svg width={1140} height={285} viewBox='0 0 1200 300'&gt;&#10;                &lt;line x1='55' y1='15' x2='55' y2='195' stroke='#D6DCE5' strokeWidth='1.5' /&gt;&#10;                &lt;line x1='55' y1='195' x2='1160' y2='195' stroke='#D6DCE5' strokeWidth='1.5' /&gt;&#10;&#10;                &lt;polyline points='60,185 100,171.5 140,157.9 180,141 220,124 260,107.1 300,88.4 340,73.2 380,59.6 420,49.5 460,41 500,34.2 540,30.8 580,30 620,32.5 660,37.6 700,46.1 740,56.3 780,69.8 820,83.4 860,98.6 900,113 940,127.4 980,140.1 1020,151.1 1060,160.4 1100,168 1140,174.8'&#10;                    fill='none' stroke='#1E4FA8' strokeWidth='3' strokeLinejoin='round' /&gt;&#10;&#10;                &lt;line x1='165' y1='147.9' x2='275' y2='100.1' stroke='#3D7BD9' strokeWidth='2' strokeDasharray='6 4' /&gt;&#10;                &lt;line x1='405' y1='50.9' x2='515' y2='31.1' stroke='#3D7BD9' strokeWidth='2' strokeDasharray='6 4' /&gt;&#10;                &lt;line x1='565' y1='27.3' x2='675' y2='37.8' stroke='#3D7BD9' strokeWidth='2' strokeDasharray='6 4' /&gt;&#10;                &lt;line x1='805' y1='78.8' x2='915' y2='118.4' stroke='#3D7BD9' strokeWidth='2' strokeDasharray='6 4' /&gt;&#10;&#10;                &lt;circle cx='220' cy='124' r='5' fill='#3D7BD9' /&gt;&#10;                &lt;circle cx='460' cy='41' r='5' fill='#3D7BD9' /&gt;&#10;                &lt;circle cx='620' cy='32.5' r='5' fill='#3D7BD9' /&gt;&#10;                &lt;circle cx='860' cy='98.6' r='5' fill='#3D7BD9' /&gt;&#10;&#10;                &lt;text x='238' y='152' fontSize='13' fill='#1A2230'&gt;θ₁&lt;/text&gt;&#10;                &lt;text x='478' y='24' fontSize='13' fill='#1A2230'&gt;θ₂&lt;/text&gt;&#10;                &lt;text x='642' y='16' fontSize='13' fill='#1A2230'&gt;θ₃&lt;/text&gt;&#10;                &lt;text x='876' y='140' fontSize='13' fill='#1A2230'&gt;θ₄&lt;/text&gt;&#10;&#10;                &lt;circle cx='540' cy='31' r='13' fill='none' stroke='#D9534F' strokeWidth='2.5' /&gt;&#10;                &lt;line x1='546' y1='44' x2='576' y2='62' stroke='#D9534F' strokeWidth='1.5' /&gt;&#10;                &lt;text x='582' y='66' fontSize='13' fill='#D9534F' fontWeight='bold'&gt;拐点：方向变化最快处&lt;/text&gt;&#10;&#10;                &lt;text x='8' y='26' fontSize='12' fill='#8B97A8'&gt;X̃&lt;/text&gt;&#10;                &lt;text x='1152' y='212' textAnchor='end' fontSize='12' fill='#8B97A8'&gt;t&lt;/text&gt;&#10;&#10;                &lt;line x1='55' y1='214' x2='1160' y2='214' stroke='#E5E7EB' strokeWidth='1.5' /&gt;&#10;                &lt;text x='70' y='246' fontSize='13' fill='#1A2230'&gt;瞬时极限角 θ_t = arctan(∇X̃_t)&lt;/text&gt;&#10;                &lt;text x='420' y='246' fontSize='13' fill='#1A2230'&gt;拐点判据：cos(θ_t − θ_t₋₁) &amp;lt; cos τ　⟺　|θ_t − θ_t₋₁| &amp;gt; τ&lt;/text&gt;&#10;                &lt;text x='70' y='278' fontSize='13' fill='#1A2230'&gt;倍角方向相似度 sin 2(θ_t − θ_t₋₁)：符号给出转向，绝对值给出强度&lt;/text&gt;&#10;            &lt;/svg&gt;&#10;        &lt;/Box&gt;&#10;&#10;        &lt;Box style={{ flex: 1, flexDirection: 'row', gap: 22 }}&gt;&#10;&#10;            &lt;Box style={{ flex: 1, flexDirection: 'column', borderRadius: 6, border: '1px solid #D6DCE5', padding: 18 }}&gt;&#10;                &lt;Text style={{ fontSize: 18, fontWeight: 'bold', color: '#0E3F8C', marginBottom: 10 }}&gt;窗函数与折射率：拐点诊断工具链&lt;/Text&gt;&#10;                &lt;Text style={{ fontSize: 14, color: '#4A5568', lineHeight: 1.75 }}&gt;&#10;                    {`窗函数做多尺度平滑提取趋势分量，经瞬时极限角得到方向序列。转折率 R_turn = |sinθ₁ − sinθ₂| 度量拐点两侧正弦趋势之差；折射率比 η = sinθ₁/sinθ₂ 作为斯涅尔定律的形式类比。`}&#10;                &lt;/Text&gt;&#10;                &lt;Box style={{ flex: 1 }} /&gt;&#10;                &lt;Text style={{ fontSize: 13, color: '#D9534F', lineHeight: 1.6, marginTop: 8 }}&gt;&#10;                    {`注意：时序中不存在物理折射率，η 仅在类比意义下使用；方向反转对应&quot;全反射&quot;类比。`}&#10;                &lt;/Text&gt;&#10;            &lt;/Box&gt;&#10;&#10;            &lt;Box style={{ flex: 1, flexDirection: 'column', borderRadius: 6, border: '1px solid #D6DCE5', padding: 18, background: '#F7F9FC' }}&gt;&#10;                &lt;Text style={{ fontSize: 18, fontWeight: 'bold', color: '#0E3F8C', marginBottom: 10 }}&gt;周期感知的可学习非线性与优化&lt;/Text&gt;&#10;                &lt;Text style={{ fontSize: 14, color: '#4A5568', lineHeight: 1.75 }}&gt;&#10;                    {`复指数激活函数把嵌套周转系统作为可学习激活：E(x) = Σ A_k e^{i(ω_k x + φ_k)}，复值输出天然保留相位信息，导数在全实轴上不恒为零。核平滑导-积下降同时利用 N 阶导数与 N 阶积分信息，让优化器本身具备多尺度结构。`}&#10;                &lt;/Text&gt;&#10;                &lt;Box style={{ flex: 1 }} /&gt;&#10;                &lt;Text style={{ fontSize: 13, color: '#8B97A8', lineHeight: 1.6, marginTop: 8 }}&gt;&#10;                    {`两项均为已建立的方法框架，其规模化效果尚待对照实验验证。`}&#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15 / 22&lt;/Text&gt;&#10;    &lt;/Box&gt;&#10;&lt;/Slide&gt;&#10;"/>
        <p:cNvGrpSpPr/>
        <p:nvPr/>
      </p:nvGrpSpPr>
      <p:grpSpPr>
        <a:xfrm>
          <a:off x="0" y="0"/>
          <a:ext cx="0" cy="0"/>
          <a:chOff x="0" y="0"/>
          <a:chExt cx="0" cy="0"/>
        </a:xfrm>
      </p:grpSpPr>
      <p:sp>
        <p:nvSpPr>
          <p:cNvPr id="149" name="矩形 148"/>
          <p:cNvSpPr/>
          <p:nvPr/>
        </p:nvSpPr>
        <p:spPr>
          <a:xfrm>
            <a:off x="0" y="0"/>
            <a:ext cx="12192000" cy="6858000"/>
          </a:xfrm>
          <a:prstGeom prst="rect">
            <a:avLst/>
          </a:prstGeom>
          <a:solidFill>
            <a:srgbClr val="FFFFFF"/>
          </a:solidFill>
          <a:ln/>
        </p:spPr>
        <p:txBody>
          <a:bodyPr/>
          <a:lstStyle/>
          <a:p>
            <a:endParaRPr/>
          </a:p>
        </p:txBody>
      </p:sp>
      <p:sp>
        <p:nvSpPr>
          <p:cNvPr id="150" name="矩形 149"/>
          <p:cNvSpPr/>
          <p:nvPr/>
        </p:nvSpPr>
        <p:spPr>
          <a:xfrm>
            <a:off x="0" y="0"/>
            <a:ext cx="12192000" cy="76200"/>
          </a:xfrm>
          <a:prstGeom prst="rect">
            <a:avLst/>
          </a:prstGeom>
          <a:solidFill>
            <a:srgbClr val="1E4FA8"/>
          </a:solidFill>
          <a:ln/>
        </p:spPr>
        <p:txBody>
          <a:bodyPr/>
          <a:lstStyle/>
          <a:p>
            <a:endParaRPr/>
          </a:p>
        </p:txBody>
      </p:sp>
      <p:sp>
        <p:nvSpPr>
          <p:cNvPr id="151" name="任意多边形: 形状 150"/>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152" name="文本框 151"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153" name="文本框 152"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03 </a:t>
            </a:r>
            <a:r>
              <a:rPr lang="zh-CN" sz="1050" spc="75">
                <a:solidFill>
                  <a:srgbClr val="1E4FA8"/>
                </a:solidFill>
                <a:latin typeface="Microsoft YaHei"/>
                <a:ea typeface="Microsoft YaHei"/>
              </a:rPr>
              <a:t>方法工具与价值</a:t>
            </a:r>
            <a:endParaRPr/>
          </a:p>
        </p:txBody>
      </p:sp>
      <p:sp>
        <p:nvSpPr>
          <p:cNvPr id="154" name="文本框 153"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用方向而不是幅度，判断趋势何时转向</a:t>
            </a:r>
            <a:endParaRPr/>
          </a:p>
        </p:txBody>
      </p:sp>
      <p:sp>
        <p:nvSpPr>
          <p:cNvPr id="6" name="任意多边形: 形状 5">
            <a:extLst>
              <a:ext uri="{FF2B5EF4-FFF2-40B4-BE49-F238E27FC236}">
                <a16:creationId xmlns:a16="http://schemas.microsoft.com/office/drawing/2014/main" id="{4B0C6DBA-E77A-50D0-B5D6-23FC56F36F10}"/>
              </a:ext>
            </a:extLst>
          </p:cNvPr>
          <p:cNvSpPr/>
          <p:nvPr/>
        </p:nvSpPr>
        <p:spPr>
          <a:xfrm>
            <a:off x="2159793" y="2258329"/>
            <a:ext cx="995362" cy="432530"/>
          </a:xfrm>
          <a:custGeom>
            <a:avLst/>
            <a:gdLst>
              <a:gd name="connsiteX0" fmla="*/ 0 w 995362"/>
              <a:gd name="connsiteY0" fmla="*/ 432530 h 432530"/>
              <a:gd name="connsiteX1" fmla="*/ 995363 w 995362"/>
              <a:gd name="connsiteY1" fmla="*/ 0 h 432530"/>
            </a:gdLst>
            <a:ahLst/>
            <a:cxnLst>
              <a:cxn ang="0">
                <a:pos x="connsiteX0" y="connsiteY0"/>
              </a:cxn>
              <a:cxn ang="0">
                <a:pos x="connsiteX1" y="connsiteY1"/>
              </a:cxn>
            </a:cxnLst>
            <a:rect l="l" t="t" r="r" b="b"/>
            <a:pathLst>
              <a:path w="995362" h="432530">
                <a:moveTo>
                  <a:pt x="0" y="432530"/>
                </a:moveTo>
                <a:lnTo>
                  <a:pt x="995363" y="0"/>
                </a:lnTo>
              </a:path>
            </a:pathLst>
          </a:custGeom>
          <a:ln w="18098" cap="flat">
            <a:solidFill>
              <a:srgbClr val="3D7BD9"/>
            </a:solidFill>
            <a:custDash>
              <a:ds d="450000" sp="300000"/>
            </a:custDash>
            <a:miter/>
          </a:ln>
        </p:spPr>
        <p:txBody>
          <a:bodyPr rtlCol="0" anchor="ctr"/>
          <a:lstStyle/>
          <a:p>
            <a:endParaRPr lang="zh-CN" altLang="en-US"/>
          </a:p>
        </p:txBody>
      </p:sp>
      <p:sp>
        <p:nvSpPr>
          <p:cNvPr id="7" name="任意多边形: 形状 6">
            <a:extLst>
              <a:ext uri="{FF2B5EF4-FFF2-40B4-BE49-F238E27FC236}">
                <a16:creationId xmlns:a16="http://schemas.microsoft.com/office/drawing/2014/main" id="{17DB21C5-BCFF-163F-D6F0-4C0D57E21731}"/>
              </a:ext>
            </a:extLst>
          </p:cNvPr>
          <p:cNvSpPr/>
          <p:nvPr/>
        </p:nvSpPr>
        <p:spPr>
          <a:xfrm>
            <a:off x="4331493" y="1633966"/>
            <a:ext cx="995362" cy="179165"/>
          </a:xfrm>
          <a:custGeom>
            <a:avLst/>
            <a:gdLst>
              <a:gd name="connsiteX0" fmla="*/ 0 w 995362"/>
              <a:gd name="connsiteY0" fmla="*/ 179165 h 179165"/>
              <a:gd name="connsiteX1" fmla="*/ 995363 w 995362"/>
              <a:gd name="connsiteY1" fmla="*/ 0 h 179165"/>
            </a:gdLst>
            <a:ahLst/>
            <a:cxnLst>
              <a:cxn ang="0">
                <a:pos x="connsiteX0" y="connsiteY0"/>
              </a:cxn>
              <a:cxn ang="0">
                <a:pos x="connsiteX1" y="connsiteY1"/>
              </a:cxn>
            </a:cxnLst>
            <a:rect l="l" t="t" r="r" b="b"/>
            <a:pathLst>
              <a:path w="995362" h="179165">
                <a:moveTo>
                  <a:pt x="0" y="179165"/>
                </a:moveTo>
                <a:lnTo>
                  <a:pt x="995363" y="0"/>
                </a:lnTo>
              </a:path>
            </a:pathLst>
          </a:custGeom>
          <a:ln w="18098" cap="flat">
            <a:solidFill>
              <a:srgbClr val="3D7BD9"/>
            </a:solidFill>
            <a:custDash>
              <a:ds d="450000" sp="300000"/>
            </a:custDash>
            <a:miter/>
          </a:ln>
        </p:spPr>
        <p:txBody>
          <a:bodyPr rtlCol="0" anchor="ctr"/>
          <a:lstStyle/>
          <a:p>
            <a:endParaRPr lang="zh-CN" altLang="en-US"/>
          </a:p>
        </p:txBody>
      </p:sp>
      <p:sp>
        <p:nvSpPr>
          <p:cNvPr id="8" name="任意多边形: 形状 7">
            <a:extLst>
              <a:ext uri="{FF2B5EF4-FFF2-40B4-BE49-F238E27FC236}">
                <a16:creationId xmlns:a16="http://schemas.microsoft.com/office/drawing/2014/main" id="{AB8C0703-1DDA-956E-B0D3-8482DE996039}"/>
              </a:ext>
            </a:extLst>
          </p:cNvPr>
          <p:cNvSpPr/>
          <p:nvPr/>
        </p:nvSpPr>
        <p:spPr>
          <a:xfrm>
            <a:off x="5779293" y="1599580"/>
            <a:ext cx="995362" cy="95011"/>
          </a:xfrm>
          <a:custGeom>
            <a:avLst/>
            <a:gdLst>
              <a:gd name="connsiteX0" fmla="*/ 0 w 995362"/>
              <a:gd name="connsiteY0" fmla="*/ 0 h 95011"/>
              <a:gd name="connsiteX1" fmla="*/ 995363 w 995362"/>
              <a:gd name="connsiteY1" fmla="*/ 95012 h 95011"/>
            </a:gdLst>
            <a:ahLst/>
            <a:cxnLst>
              <a:cxn ang="0">
                <a:pos x="connsiteX0" y="connsiteY0"/>
              </a:cxn>
              <a:cxn ang="0">
                <a:pos x="connsiteX1" y="connsiteY1"/>
              </a:cxn>
            </a:cxnLst>
            <a:rect l="l" t="t" r="r" b="b"/>
            <a:pathLst>
              <a:path w="995362" h="95011">
                <a:moveTo>
                  <a:pt x="0" y="0"/>
                </a:moveTo>
                <a:lnTo>
                  <a:pt x="995363" y="95012"/>
                </a:lnTo>
              </a:path>
            </a:pathLst>
          </a:custGeom>
          <a:ln w="18098" cap="flat">
            <a:solidFill>
              <a:srgbClr val="3D7BD9"/>
            </a:solidFill>
            <a:custDash>
              <a:ds d="450000" sp="300000"/>
            </a:custDash>
            <a:miter/>
          </a:ln>
        </p:spPr>
        <p:txBody>
          <a:bodyPr rtlCol="0" anchor="ctr"/>
          <a:lstStyle/>
          <a:p>
            <a:endParaRPr lang="zh-CN" altLang="en-US"/>
          </a:p>
        </p:txBody>
      </p:sp>
      <p:sp>
        <p:nvSpPr>
          <p:cNvPr id="9" name="任意多边形: 形状 8">
            <a:extLst>
              <a:ext uri="{FF2B5EF4-FFF2-40B4-BE49-F238E27FC236}">
                <a16:creationId xmlns:a16="http://schemas.microsoft.com/office/drawing/2014/main" id="{1E522F96-9F42-18C6-09E8-F2B274ABC5C8}"/>
              </a:ext>
            </a:extLst>
          </p:cNvPr>
          <p:cNvSpPr/>
          <p:nvPr/>
        </p:nvSpPr>
        <p:spPr>
          <a:xfrm>
            <a:off x="7950993" y="2065591"/>
            <a:ext cx="995362" cy="358330"/>
          </a:xfrm>
          <a:custGeom>
            <a:avLst/>
            <a:gdLst>
              <a:gd name="connsiteX0" fmla="*/ 0 w 995362"/>
              <a:gd name="connsiteY0" fmla="*/ 0 h 358330"/>
              <a:gd name="connsiteX1" fmla="*/ 995363 w 995362"/>
              <a:gd name="connsiteY1" fmla="*/ 358331 h 358330"/>
            </a:gdLst>
            <a:ahLst/>
            <a:cxnLst>
              <a:cxn ang="0">
                <a:pos x="connsiteX0" y="connsiteY0"/>
              </a:cxn>
              <a:cxn ang="0">
                <a:pos x="connsiteX1" y="connsiteY1"/>
              </a:cxn>
            </a:cxnLst>
            <a:rect l="l" t="t" r="r" b="b"/>
            <a:pathLst>
              <a:path w="995362" h="358330">
                <a:moveTo>
                  <a:pt x="0" y="0"/>
                </a:moveTo>
                <a:lnTo>
                  <a:pt x="995363" y="358331"/>
                </a:lnTo>
              </a:path>
            </a:pathLst>
          </a:custGeom>
          <a:ln w="18098" cap="flat">
            <a:solidFill>
              <a:srgbClr val="3D7BD9"/>
            </a:solidFill>
            <a:custDash>
              <a:ds d="450000" sp="300000"/>
            </a:custDash>
            <a:miter/>
          </a:ln>
        </p:spPr>
        <p:txBody>
          <a:bodyPr rtlCol="0" anchor="ctr"/>
          <a:lstStyle/>
          <a:p>
            <a:endParaRPr lang="zh-CN" altLang="en-US"/>
          </a:p>
        </p:txBody>
      </p:sp>
      <p:sp>
        <p:nvSpPr>
          <p:cNvPr id="16" name="文本框 15">
            <a:extLst>
              <a:ext uri="{FF2B5EF4-FFF2-40B4-BE49-F238E27FC236}">
                <a16:creationId xmlns:a16="http://schemas.microsoft.com/office/drawing/2014/main" id="{FE974C44-17BA-5A44-C7FA-46E449953569}"/>
              </a:ext>
            </a:extLst>
          </p:cNvPr>
          <p:cNvSpPr txBox="1"/>
          <p:nvPr/>
        </p:nvSpPr>
        <p:spPr>
          <a:xfrm>
            <a:off x="6384607" y="1343025"/>
            <a:ext cx="291465" cy="227171"/>
          </a:xfrm>
          <a:prstGeom prst="rect">
            <a:avLst/>
          </a:prstGeom>
          <a:noFill/>
        </p:spPr>
        <p:txBody>
          <a:bodyPr wrap="none" rtlCol="0">
            <a:spAutoFit/>
          </a:bodyPr>
          <a:lstStyle/>
          <a:p>
            <a:pPr algn="l"/>
            <a:r>
              <a:rPr lang="zh-CN" altLang="en-US" sz="975" spc="0" baseline="0">
                <a:ln/>
                <a:solidFill>
                  <a:srgbClr val="1A2230"/>
                </a:solidFill>
                <a:latin typeface="Arial"/>
                <a:cs typeface="Arial"/>
                <a:sym typeface="Arial"/>
                <a:rtl val="0"/>
              </a:rPr>
              <a:t>θ</a:t>
            </a:r>
            <a:r>
              <a:rPr lang="zh-CN" altLang="en-US" sz="975" spc="0" baseline="0">
                <a:ln/>
                <a:solidFill>
                  <a:srgbClr val="1A2230"/>
                </a:solidFill>
                <a:latin typeface="Cambria Math"/>
                <a:cs typeface="Arial"/>
                <a:sym typeface="Cambria Math"/>
                <a:rtl val="0"/>
              </a:rPr>
              <a:t>₃</a:t>
            </a:r>
          </a:p>
        </p:txBody>
      </p:sp>
      <p:sp>
        <p:nvSpPr>
          <p:cNvPr id="23" name="任意多边形: 形状 22">
            <a:extLst>
              <a:ext uri="{FF2B5EF4-FFF2-40B4-BE49-F238E27FC236}">
                <a16:creationId xmlns:a16="http://schemas.microsoft.com/office/drawing/2014/main" id="{A39EFA17-CED7-25A6-C25E-7CFB529CCBFC}"/>
              </a:ext>
            </a:extLst>
          </p:cNvPr>
          <p:cNvSpPr/>
          <p:nvPr/>
        </p:nvSpPr>
        <p:spPr>
          <a:xfrm>
            <a:off x="1164431" y="3288982"/>
            <a:ext cx="9998868" cy="9048"/>
          </a:xfrm>
          <a:custGeom>
            <a:avLst/>
            <a:gdLst>
              <a:gd name="connsiteX0" fmla="*/ 0 w 9998868"/>
              <a:gd name="connsiteY0" fmla="*/ 0 h 9048"/>
              <a:gd name="connsiteX1" fmla="*/ 9998869 w 9998868"/>
              <a:gd name="connsiteY1" fmla="*/ 0 h 9048"/>
            </a:gdLst>
            <a:ahLst/>
            <a:cxnLst>
              <a:cxn ang="0">
                <a:pos x="connsiteX0" y="connsiteY0"/>
              </a:cxn>
              <a:cxn ang="0">
                <a:pos x="connsiteX1" y="connsiteY1"/>
              </a:cxn>
            </a:cxnLst>
            <a:rect l="l" t="t" r="r" b="b"/>
            <a:pathLst>
              <a:path w="9998868" h="9048">
                <a:moveTo>
                  <a:pt x="0" y="0"/>
                </a:moveTo>
                <a:lnTo>
                  <a:pt x="9998869" y="0"/>
                </a:lnTo>
              </a:path>
            </a:pathLst>
          </a:custGeom>
          <a:ln w="13573" cap="flat">
            <a:solidFill>
              <a:srgbClr val="E5E7EB"/>
            </a:solidFill>
            <a:prstDash val="solid"/>
            <a:miter/>
          </a:ln>
        </p:spPr>
        <p:txBody>
          <a:bodyPr rtlCol="0" anchor="ctr"/>
          <a:lstStyle/>
          <a:p>
            <a:endParaRPr lang="zh-CN" altLang="en-US"/>
          </a:p>
        </p:txBody>
      </p:sp>
      <p:grpSp>
        <p:nvGrpSpPr>
          <p:cNvPr id="33" name="组合 32">
            <a:extLst>
              <a:ext uri="{FF2B5EF4-FFF2-40B4-BE49-F238E27FC236}">
                <a16:creationId xmlns:a16="http://schemas.microsoft.com/office/drawing/2014/main" id="{843699C3-4690-DF26-1AE3-DA8784D4AEB1}"/>
              </a:ext>
            </a:extLst>
          </p:cNvPr>
          <p:cNvGrpSpPr/>
          <p:nvPr/>
        </p:nvGrpSpPr>
        <p:grpSpPr>
          <a:xfrm>
            <a:off x="381000" y="1352550"/>
            <a:ext cx="11430000" cy="2714625"/>
            <a:chOff x="381000" y="1352550"/>
            <a:chExt cx="11430000" cy="2714625"/>
          </a:xfrm>
        </p:grpSpPr>
        <p:sp>
          <p:nvSpPr>
            <p:cNvPr id="155" name="矩形: 圆角 154"/>
            <p:cNvSpPr/>
            <p:nvPr/>
          </p:nvSpPr>
          <p:spPr>
            <a:xfrm>
              <a:off x="381000" y="1352550"/>
              <a:ext cx="11430000" cy="2714625"/>
            </a:xfrm>
            <a:prstGeom prst="roundRect">
              <a:avLst>
                <a:gd name="adj" fmla="val 2105"/>
              </a:avLst>
            </a:prstGeom>
            <a:solidFill>
              <a:srgbClr val="F7F9FC"/>
            </a:solidFill>
            <a:ln w="12700">
              <a:solidFill>
                <a:srgbClr val="E5E7EB"/>
              </a:solidFill>
              <a:prstDash val="solid"/>
            </a:ln>
          </p:spPr>
          <p:txBody>
            <a:bodyPr/>
            <a:lstStyle/>
            <a:p>
              <a:endParaRPr/>
            </a:p>
          </p:txBody>
        </p:sp>
        <p:sp>
          <p:nvSpPr>
            <p:cNvPr id="3" name="任意多边形: 形状 2">
              <a:extLst>
                <a:ext uri="{FF2B5EF4-FFF2-40B4-BE49-F238E27FC236}">
                  <a16:creationId xmlns:a16="http://schemas.microsoft.com/office/drawing/2014/main" id="{6FAFA98C-516F-87FE-9AAE-B0D4282EC8C6}"/>
                </a:ext>
              </a:extLst>
            </p:cNvPr>
            <p:cNvSpPr/>
            <p:nvPr/>
          </p:nvSpPr>
          <p:spPr>
            <a:xfrm>
              <a:off x="1164431" y="1488281"/>
              <a:ext cx="9048" cy="1628775"/>
            </a:xfrm>
            <a:custGeom>
              <a:avLst/>
              <a:gdLst>
                <a:gd name="connsiteX0" fmla="*/ 0 w 9048"/>
                <a:gd name="connsiteY0" fmla="*/ 0 h 1628775"/>
                <a:gd name="connsiteX1" fmla="*/ 0 w 9048"/>
                <a:gd name="connsiteY1" fmla="*/ 1628775 h 1628775"/>
              </a:gdLst>
              <a:ahLst/>
              <a:cxnLst>
                <a:cxn ang="0">
                  <a:pos x="connsiteX0" y="connsiteY0"/>
                </a:cxn>
                <a:cxn ang="0">
                  <a:pos x="connsiteX1" y="connsiteY1"/>
                </a:cxn>
              </a:cxnLst>
              <a:rect l="l" t="t" r="r" b="b"/>
              <a:pathLst>
                <a:path w="9048" h="1628775">
                  <a:moveTo>
                    <a:pt x="0" y="0"/>
                  </a:moveTo>
                  <a:lnTo>
                    <a:pt x="0" y="1628775"/>
                  </a:lnTo>
                </a:path>
              </a:pathLst>
            </a:custGeom>
            <a:ln w="13573" cap="flat">
              <a:solidFill>
                <a:srgbClr val="D6DCE5"/>
              </a:solidFill>
              <a:prstDash val="solid"/>
              <a:miter/>
            </a:ln>
          </p:spPr>
          <p:txBody>
            <a:bodyPr rtlCol="0" anchor="ctr"/>
            <a:lstStyle/>
            <a:p>
              <a:endParaRPr lang="zh-CN" altLang="en-US"/>
            </a:p>
          </p:txBody>
        </p:sp>
        <p:sp>
          <p:nvSpPr>
            <p:cNvPr id="4" name="任意多边形: 形状 3">
              <a:extLst>
                <a:ext uri="{FF2B5EF4-FFF2-40B4-BE49-F238E27FC236}">
                  <a16:creationId xmlns:a16="http://schemas.microsoft.com/office/drawing/2014/main" id="{035DA637-2930-1ADE-1757-EB0A75C779ED}"/>
                </a:ext>
              </a:extLst>
            </p:cNvPr>
            <p:cNvSpPr/>
            <p:nvPr/>
          </p:nvSpPr>
          <p:spPr>
            <a:xfrm>
              <a:off x="1164431" y="3117056"/>
              <a:ext cx="9998868" cy="9048"/>
            </a:xfrm>
            <a:custGeom>
              <a:avLst/>
              <a:gdLst>
                <a:gd name="connsiteX0" fmla="*/ 0 w 9998868"/>
                <a:gd name="connsiteY0" fmla="*/ 0 h 9048"/>
                <a:gd name="connsiteX1" fmla="*/ 9998869 w 9998868"/>
                <a:gd name="connsiteY1" fmla="*/ 0 h 9048"/>
              </a:gdLst>
              <a:ahLst/>
              <a:cxnLst>
                <a:cxn ang="0">
                  <a:pos x="connsiteX0" y="connsiteY0"/>
                </a:cxn>
                <a:cxn ang="0">
                  <a:pos x="connsiteX1" y="connsiteY1"/>
                </a:cxn>
              </a:cxnLst>
              <a:rect l="l" t="t" r="r" b="b"/>
              <a:pathLst>
                <a:path w="9998868" h="9048">
                  <a:moveTo>
                    <a:pt x="0" y="0"/>
                  </a:moveTo>
                  <a:lnTo>
                    <a:pt x="9998869" y="0"/>
                  </a:lnTo>
                </a:path>
              </a:pathLst>
            </a:custGeom>
            <a:ln w="13573" cap="flat">
              <a:solidFill>
                <a:srgbClr val="D6DCE5"/>
              </a:solidFill>
              <a:prstDash val="solid"/>
              <a:miter/>
            </a:ln>
          </p:spPr>
          <p:txBody>
            <a:bodyPr rtlCol="0" anchor="ctr"/>
            <a:lstStyle/>
            <a:p>
              <a:endParaRPr lang="zh-CN" altLang="en-US"/>
            </a:p>
          </p:txBody>
        </p:sp>
        <p:sp>
          <p:nvSpPr>
            <p:cNvPr id="5" name="任意多边形: 形状 4">
              <a:extLst>
                <a:ext uri="{FF2B5EF4-FFF2-40B4-BE49-F238E27FC236}">
                  <a16:creationId xmlns:a16="http://schemas.microsoft.com/office/drawing/2014/main" id="{35A7C277-2FCC-126F-8CC1-E5188E552411}"/>
                </a:ext>
              </a:extLst>
            </p:cNvPr>
            <p:cNvSpPr/>
            <p:nvPr/>
          </p:nvSpPr>
          <p:spPr>
            <a:xfrm>
              <a:off x="1209675" y="1624012"/>
              <a:ext cx="9772650" cy="1402556"/>
            </a:xfrm>
            <a:custGeom>
              <a:avLst/>
              <a:gdLst>
                <a:gd name="connsiteX0" fmla="*/ 0 w 9772650"/>
                <a:gd name="connsiteY0" fmla="*/ 1402556 h 1402556"/>
                <a:gd name="connsiteX1" fmla="*/ 361950 w 9772650"/>
                <a:gd name="connsiteY1" fmla="*/ 1280398 h 1402556"/>
                <a:gd name="connsiteX2" fmla="*/ 723900 w 9772650"/>
                <a:gd name="connsiteY2" fmla="*/ 1157335 h 1402556"/>
                <a:gd name="connsiteX3" fmla="*/ 1085850 w 9772650"/>
                <a:gd name="connsiteY3" fmla="*/ 1004411 h 1402556"/>
                <a:gd name="connsiteX4" fmla="*/ 1447800 w 9772650"/>
                <a:gd name="connsiteY4" fmla="*/ 850583 h 1402556"/>
                <a:gd name="connsiteX5" fmla="*/ 1809750 w 9772650"/>
                <a:gd name="connsiteY5" fmla="*/ 697659 h 1402556"/>
                <a:gd name="connsiteX6" fmla="*/ 2171700 w 9772650"/>
                <a:gd name="connsiteY6" fmla="*/ 528447 h 1402556"/>
                <a:gd name="connsiteX7" fmla="*/ 2533650 w 9772650"/>
                <a:gd name="connsiteY7" fmla="*/ 390906 h 1402556"/>
                <a:gd name="connsiteX8" fmla="*/ 2895600 w 9772650"/>
                <a:gd name="connsiteY8" fmla="*/ 267843 h 1402556"/>
                <a:gd name="connsiteX9" fmla="*/ 3257550 w 9772650"/>
                <a:gd name="connsiteY9" fmla="*/ 176451 h 1402556"/>
                <a:gd name="connsiteX10" fmla="*/ 3619500 w 9772650"/>
                <a:gd name="connsiteY10" fmla="*/ 99536 h 1402556"/>
                <a:gd name="connsiteX11" fmla="*/ 3981450 w 9772650"/>
                <a:gd name="connsiteY11" fmla="*/ 38005 h 1402556"/>
                <a:gd name="connsiteX12" fmla="*/ 4343400 w 9772650"/>
                <a:gd name="connsiteY12" fmla="*/ 7239 h 1402556"/>
                <a:gd name="connsiteX13" fmla="*/ 4705350 w 9772650"/>
                <a:gd name="connsiteY13" fmla="*/ 0 h 1402556"/>
                <a:gd name="connsiteX14" fmla="*/ 5067300 w 9772650"/>
                <a:gd name="connsiteY14" fmla="*/ 22622 h 1402556"/>
                <a:gd name="connsiteX15" fmla="*/ 5429250 w 9772650"/>
                <a:gd name="connsiteY15" fmla="*/ 68770 h 1402556"/>
                <a:gd name="connsiteX16" fmla="*/ 5791200 w 9772650"/>
                <a:gd name="connsiteY16" fmla="*/ 145685 h 1402556"/>
                <a:gd name="connsiteX17" fmla="*/ 6153150 w 9772650"/>
                <a:gd name="connsiteY17" fmla="*/ 237982 h 1402556"/>
                <a:gd name="connsiteX18" fmla="*/ 6515100 w 9772650"/>
                <a:gd name="connsiteY18" fmla="*/ 360140 h 1402556"/>
                <a:gd name="connsiteX19" fmla="*/ 6877050 w 9772650"/>
                <a:gd name="connsiteY19" fmla="*/ 483203 h 1402556"/>
                <a:gd name="connsiteX20" fmla="*/ 7239000 w 9772650"/>
                <a:gd name="connsiteY20" fmla="*/ 620744 h 1402556"/>
                <a:gd name="connsiteX21" fmla="*/ 7600950 w 9772650"/>
                <a:gd name="connsiteY21" fmla="*/ 751046 h 1402556"/>
                <a:gd name="connsiteX22" fmla="*/ 7962900 w 9772650"/>
                <a:gd name="connsiteY22" fmla="*/ 881348 h 1402556"/>
                <a:gd name="connsiteX23" fmla="*/ 8324850 w 9772650"/>
                <a:gd name="connsiteY23" fmla="*/ 996267 h 1402556"/>
                <a:gd name="connsiteX24" fmla="*/ 8686800 w 9772650"/>
                <a:gd name="connsiteY24" fmla="*/ 1095804 h 1402556"/>
                <a:gd name="connsiteX25" fmla="*/ 9048750 w 9772650"/>
                <a:gd name="connsiteY25" fmla="*/ 1179957 h 1402556"/>
                <a:gd name="connsiteX26" fmla="*/ 9410700 w 9772650"/>
                <a:gd name="connsiteY26" fmla="*/ 1248728 h 1402556"/>
                <a:gd name="connsiteX27" fmla="*/ 9772650 w 9772650"/>
                <a:gd name="connsiteY27" fmla="*/ 1310259 h 1402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772650" h="1402556">
                  <a:moveTo>
                    <a:pt x="0" y="1402556"/>
                  </a:moveTo>
                  <a:lnTo>
                    <a:pt x="361950" y="1280398"/>
                  </a:lnTo>
                  <a:lnTo>
                    <a:pt x="723900" y="1157335"/>
                  </a:lnTo>
                  <a:lnTo>
                    <a:pt x="1085850" y="1004411"/>
                  </a:lnTo>
                  <a:lnTo>
                    <a:pt x="1447800" y="850583"/>
                  </a:lnTo>
                  <a:lnTo>
                    <a:pt x="1809750" y="697659"/>
                  </a:lnTo>
                  <a:lnTo>
                    <a:pt x="2171700" y="528447"/>
                  </a:lnTo>
                  <a:lnTo>
                    <a:pt x="2533650" y="390906"/>
                  </a:lnTo>
                  <a:lnTo>
                    <a:pt x="2895600" y="267843"/>
                  </a:lnTo>
                  <a:lnTo>
                    <a:pt x="3257550" y="176451"/>
                  </a:lnTo>
                  <a:lnTo>
                    <a:pt x="3619500" y="99536"/>
                  </a:lnTo>
                  <a:lnTo>
                    <a:pt x="3981450" y="38005"/>
                  </a:lnTo>
                  <a:lnTo>
                    <a:pt x="4343400" y="7239"/>
                  </a:lnTo>
                  <a:lnTo>
                    <a:pt x="4705350" y="0"/>
                  </a:lnTo>
                  <a:lnTo>
                    <a:pt x="5067300" y="22622"/>
                  </a:lnTo>
                  <a:lnTo>
                    <a:pt x="5429250" y="68770"/>
                  </a:lnTo>
                  <a:lnTo>
                    <a:pt x="5791200" y="145685"/>
                  </a:lnTo>
                  <a:lnTo>
                    <a:pt x="6153150" y="237982"/>
                  </a:lnTo>
                  <a:lnTo>
                    <a:pt x="6515100" y="360140"/>
                  </a:lnTo>
                  <a:lnTo>
                    <a:pt x="6877050" y="483203"/>
                  </a:lnTo>
                  <a:lnTo>
                    <a:pt x="7239000" y="620744"/>
                  </a:lnTo>
                  <a:lnTo>
                    <a:pt x="7600950" y="751046"/>
                  </a:lnTo>
                  <a:lnTo>
                    <a:pt x="7962900" y="881348"/>
                  </a:lnTo>
                  <a:lnTo>
                    <a:pt x="8324850" y="996267"/>
                  </a:lnTo>
                  <a:lnTo>
                    <a:pt x="8686800" y="1095804"/>
                  </a:lnTo>
                  <a:lnTo>
                    <a:pt x="9048750" y="1179957"/>
                  </a:lnTo>
                  <a:lnTo>
                    <a:pt x="9410700" y="1248728"/>
                  </a:lnTo>
                  <a:lnTo>
                    <a:pt x="9772650" y="1310259"/>
                  </a:lnTo>
                </a:path>
              </a:pathLst>
            </a:custGeom>
            <a:noFill/>
            <a:ln w="27146" cap="flat">
              <a:solidFill>
                <a:srgbClr val="1E4FA8"/>
              </a:solidFill>
              <a:prstDash val="solid"/>
              <a:round/>
            </a:ln>
          </p:spPr>
          <p:txBody>
            <a:bodyPr rtlCol="0" anchor="ctr"/>
            <a:lstStyle/>
            <a:p>
              <a:endParaRPr lang="zh-CN" altLang="en-US"/>
            </a:p>
          </p:txBody>
        </p:sp>
        <p:sp>
          <p:nvSpPr>
            <p:cNvPr id="10" name="任意多边形: 形状 9">
              <a:extLst>
                <a:ext uri="{FF2B5EF4-FFF2-40B4-BE49-F238E27FC236}">
                  <a16:creationId xmlns:a16="http://schemas.microsoft.com/office/drawing/2014/main" id="{78EB25DA-2637-FB87-1A8B-B4DD76F86F36}"/>
                </a:ext>
              </a:extLst>
            </p:cNvPr>
            <p:cNvSpPr/>
            <p:nvPr/>
          </p:nvSpPr>
          <p:spPr>
            <a:xfrm>
              <a:off x="2612231" y="2429351"/>
              <a:ext cx="90487" cy="90487"/>
            </a:xfrm>
            <a:custGeom>
              <a:avLst/>
              <a:gdLst>
                <a:gd name="connsiteX0" fmla="*/ 90488 w 90487"/>
                <a:gd name="connsiteY0" fmla="*/ 45244 h 90487"/>
                <a:gd name="connsiteX1" fmla="*/ 45244 w 90487"/>
                <a:gd name="connsiteY1" fmla="*/ 90488 h 90487"/>
                <a:gd name="connsiteX2" fmla="*/ 0 w 90487"/>
                <a:gd name="connsiteY2" fmla="*/ 45244 h 90487"/>
                <a:gd name="connsiteX3" fmla="*/ 45244 w 90487"/>
                <a:gd name="connsiteY3" fmla="*/ 0 h 90487"/>
                <a:gd name="connsiteX4" fmla="*/ 90488 w 90487"/>
                <a:gd name="connsiteY4" fmla="*/ 45244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87" h="90487">
                  <a:moveTo>
                    <a:pt x="90488" y="45244"/>
                  </a:moveTo>
                  <a:cubicBezTo>
                    <a:pt x="90488" y="70231"/>
                    <a:pt x="70231" y="90488"/>
                    <a:pt x="45244" y="90488"/>
                  </a:cubicBezTo>
                  <a:cubicBezTo>
                    <a:pt x="20256" y="90488"/>
                    <a:pt x="0" y="70231"/>
                    <a:pt x="0" y="45244"/>
                  </a:cubicBezTo>
                  <a:cubicBezTo>
                    <a:pt x="0" y="20256"/>
                    <a:pt x="20256" y="0"/>
                    <a:pt x="45244" y="0"/>
                  </a:cubicBezTo>
                  <a:cubicBezTo>
                    <a:pt x="70231" y="0"/>
                    <a:pt x="90488" y="20256"/>
                    <a:pt x="90488" y="45244"/>
                  </a:cubicBezTo>
                  <a:close/>
                </a:path>
              </a:pathLst>
            </a:custGeom>
            <a:solidFill>
              <a:srgbClr val="3D7BD9"/>
            </a:solidFill>
            <a:ln w="9049"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57211055-7879-FE46-EF3A-285ABA48D462}"/>
                </a:ext>
              </a:extLst>
            </p:cNvPr>
            <p:cNvSpPr/>
            <p:nvPr/>
          </p:nvSpPr>
          <p:spPr>
            <a:xfrm>
              <a:off x="4783931" y="1678305"/>
              <a:ext cx="90487" cy="90487"/>
            </a:xfrm>
            <a:custGeom>
              <a:avLst/>
              <a:gdLst>
                <a:gd name="connsiteX0" fmla="*/ 90488 w 90487"/>
                <a:gd name="connsiteY0" fmla="*/ 45244 h 90487"/>
                <a:gd name="connsiteX1" fmla="*/ 45244 w 90487"/>
                <a:gd name="connsiteY1" fmla="*/ 90488 h 90487"/>
                <a:gd name="connsiteX2" fmla="*/ 0 w 90487"/>
                <a:gd name="connsiteY2" fmla="*/ 45244 h 90487"/>
                <a:gd name="connsiteX3" fmla="*/ 45244 w 90487"/>
                <a:gd name="connsiteY3" fmla="*/ 0 h 90487"/>
                <a:gd name="connsiteX4" fmla="*/ 90488 w 90487"/>
                <a:gd name="connsiteY4" fmla="*/ 45244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87" h="90487">
                  <a:moveTo>
                    <a:pt x="90488" y="45244"/>
                  </a:moveTo>
                  <a:cubicBezTo>
                    <a:pt x="90488" y="70231"/>
                    <a:pt x="70231" y="90488"/>
                    <a:pt x="45244" y="90488"/>
                  </a:cubicBezTo>
                  <a:cubicBezTo>
                    <a:pt x="20256" y="90488"/>
                    <a:pt x="0" y="70231"/>
                    <a:pt x="0" y="45244"/>
                  </a:cubicBezTo>
                  <a:cubicBezTo>
                    <a:pt x="0" y="20256"/>
                    <a:pt x="20256" y="0"/>
                    <a:pt x="45244" y="0"/>
                  </a:cubicBezTo>
                  <a:cubicBezTo>
                    <a:pt x="70231" y="0"/>
                    <a:pt x="90488" y="20256"/>
                    <a:pt x="90488" y="45244"/>
                  </a:cubicBezTo>
                  <a:close/>
                </a:path>
              </a:pathLst>
            </a:custGeom>
            <a:solidFill>
              <a:srgbClr val="3D7BD9"/>
            </a:solidFill>
            <a:ln w="9049"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CE3064AC-2A39-9934-B4E4-75750F3795BF}"/>
                </a:ext>
              </a:extLst>
            </p:cNvPr>
            <p:cNvSpPr/>
            <p:nvPr/>
          </p:nvSpPr>
          <p:spPr>
            <a:xfrm>
              <a:off x="6231731" y="1601390"/>
              <a:ext cx="90487" cy="90487"/>
            </a:xfrm>
            <a:custGeom>
              <a:avLst/>
              <a:gdLst>
                <a:gd name="connsiteX0" fmla="*/ 90488 w 90487"/>
                <a:gd name="connsiteY0" fmla="*/ 45244 h 90487"/>
                <a:gd name="connsiteX1" fmla="*/ 45244 w 90487"/>
                <a:gd name="connsiteY1" fmla="*/ 90488 h 90487"/>
                <a:gd name="connsiteX2" fmla="*/ 0 w 90487"/>
                <a:gd name="connsiteY2" fmla="*/ 45244 h 90487"/>
                <a:gd name="connsiteX3" fmla="*/ 45244 w 90487"/>
                <a:gd name="connsiteY3" fmla="*/ 0 h 90487"/>
                <a:gd name="connsiteX4" fmla="*/ 90488 w 90487"/>
                <a:gd name="connsiteY4" fmla="*/ 45244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87" h="90487">
                  <a:moveTo>
                    <a:pt x="90488" y="45244"/>
                  </a:moveTo>
                  <a:cubicBezTo>
                    <a:pt x="90488" y="70231"/>
                    <a:pt x="70231" y="90488"/>
                    <a:pt x="45244" y="90488"/>
                  </a:cubicBezTo>
                  <a:cubicBezTo>
                    <a:pt x="20256" y="90488"/>
                    <a:pt x="0" y="70231"/>
                    <a:pt x="0" y="45244"/>
                  </a:cubicBezTo>
                  <a:cubicBezTo>
                    <a:pt x="0" y="20256"/>
                    <a:pt x="20256" y="0"/>
                    <a:pt x="45244" y="0"/>
                  </a:cubicBezTo>
                  <a:cubicBezTo>
                    <a:pt x="70231" y="0"/>
                    <a:pt x="90488" y="20256"/>
                    <a:pt x="90488" y="45244"/>
                  </a:cubicBezTo>
                  <a:close/>
                </a:path>
              </a:pathLst>
            </a:custGeom>
            <a:solidFill>
              <a:srgbClr val="3D7BD9"/>
            </a:solidFill>
            <a:ln w="9049"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9308C162-14A7-C1D9-061E-2938E757B0E7}"/>
                </a:ext>
              </a:extLst>
            </p:cNvPr>
            <p:cNvSpPr/>
            <p:nvPr/>
          </p:nvSpPr>
          <p:spPr>
            <a:xfrm>
              <a:off x="8403431" y="2199513"/>
              <a:ext cx="90487" cy="90487"/>
            </a:xfrm>
            <a:custGeom>
              <a:avLst/>
              <a:gdLst>
                <a:gd name="connsiteX0" fmla="*/ 90488 w 90487"/>
                <a:gd name="connsiteY0" fmla="*/ 45244 h 90487"/>
                <a:gd name="connsiteX1" fmla="*/ 45244 w 90487"/>
                <a:gd name="connsiteY1" fmla="*/ 90487 h 90487"/>
                <a:gd name="connsiteX2" fmla="*/ 0 w 90487"/>
                <a:gd name="connsiteY2" fmla="*/ 45244 h 90487"/>
                <a:gd name="connsiteX3" fmla="*/ 45244 w 90487"/>
                <a:gd name="connsiteY3" fmla="*/ 0 h 90487"/>
                <a:gd name="connsiteX4" fmla="*/ 90488 w 90487"/>
                <a:gd name="connsiteY4" fmla="*/ 45244 h 90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87" h="90487">
                  <a:moveTo>
                    <a:pt x="90488" y="45244"/>
                  </a:moveTo>
                  <a:cubicBezTo>
                    <a:pt x="90488" y="70231"/>
                    <a:pt x="70231" y="90487"/>
                    <a:pt x="45244" y="90487"/>
                  </a:cubicBezTo>
                  <a:cubicBezTo>
                    <a:pt x="20256" y="90487"/>
                    <a:pt x="0" y="70231"/>
                    <a:pt x="0" y="45244"/>
                  </a:cubicBezTo>
                  <a:cubicBezTo>
                    <a:pt x="0" y="20256"/>
                    <a:pt x="20256" y="0"/>
                    <a:pt x="45244" y="0"/>
                  </a:cubicBezTo>
                  <a:cubicBezTo>
                    <a:pt x="70231" y="0"/>
                    <a:pt x="90488" y="20256"/>
                    <a:pt x="90488" y="45244"/>
                  </a:cubicBezTo>
                  <a:close/>
                </a:path>
              </a:pathLst>
            </a:custGeom>
            <a:solidFill>
              <a:srgbClr val="3D7BD9"/>
            </a:solidFill>
            <a:ln w="9049" cap="flat">
              <a:noFill/>
              <a:prstDash val="solid"/>
              <a:miter/>
            </a:ln>
          </p:spPr>
          <p:txBody>
            <a:bodyPr rtlCol="0" anchor="ctr"/>
            <a:lstStyle/>
            <a:p>
              <a:endParaRPr lang="zh-CN" altLang="en-US"/>
            </a:p>
          </p:txBody>
        </p:sp>
        <p:sp>
          <p:nvSpPr>
            <p:cNvPr id="14" name="文本框 13">
              <a:extLst>
                <a:ext uri="{FF2B5EF4-FFF2-40B4-BE49-F238E27FC236}">
                  <a16:creationId xmlns:a16="http://schemas.microsoft.com/office/drawing/2014/main" id="{AB78B11A-C740-10C3-86AD-9B16D37BCA5D}"/>
                </a:ext>
              </a:extLst>
            </p:cNvPr>
            <p:cNvSpPr txBox="1"/>
            <p:nvPr/>
          </p:nvSpPr>
          <p:spPr>
            <a:xfrm>
              <a:off x="2728912" y="2573655"/>
              <a:ext cx="291465" cy="227171"/>
            </a:xfrm>
            <a:prstGeom prst="rect">
              <a:avLst/>
            </a:prstGeom>
            <a:noFill/>
          </p:spPr>
          <p:txBody>
            <a:bodyPr wrap="none" rtlCol="0">
              <a:spAutoFit/>
            </a:bodyPr>
            <a:lstStyle/>
            <a:p>
              <a:pPr algn="l"/>
              <a:r>
                <a:rPr lang="zh-CN" altLang="en-US" sz="975" spc="0" baseline="0">
                  <a:ln/>
                  <a:solidFill>
                    <a:srgbClr val="1A2230"/>
                  </a:solidFill>
                  <a:latin typeface="Arial"/>
                  <a:cs typeface="Arial"/>
                  <a:sym typeface="Arial"/>
                  <a:rtl val="0"/>
                </a:rPr>
                <a:t>θ</a:t>
              </a:r>
              <a:r>
                <a:rPr lang="zh-CN" altLang="en-US" sz="975" spc="0" baseline="0">
                  <a:ln/>
                  <a:solidFill>
                    <a:srgbClr val="1A2230"/>
                  </a:solidFill>
                  <a:latin typeface="Cambria Math"/>
                  <a:cs typeface="Arial"/>
                  <a:sym typeface="Cambria Math"/>
                  <a:rtl val="0"/>
                </a:rPr>
                <a:t>₁</a:t>
              </a:r>
            </a:p>
          </p:txBody>
        </p:sp>
        <p:sp>
          <p:nvSpPr>
            <p:cNvPr id="15" name="文本框 14">
              <a:extLst>
                <a:ext uri="{FF2B5EF4-FFF2-40B4-BE49-F238E27FC236}">
                  <a16:creationId xmlns:a16="http://schemas.microsoft.com/office/drawing/2014/main" id="{E01AD373-A662-2C66-AAFB-FB476F3CEDA0}"/>
                </a:ext>
              </a:extLst>
            </p:cNvPr>
            <p:cNvSpPr txBox="1"/>
            <p:nvPr/>
          </p:nvSpPr>
          <p:spPr>
            <a:xfrm>
              <a:off x="4900612" y="1415415"/>
              <a:ext cx="291465" cy="227171"/>
            </a:xfrm>
            <a:prstGeom prst="rect">
              <a:avLst/>
            </a:prstGeom>
            <a:noFill/>
          </p:spPr>
          <p:txBody>
            <a:bodyPr wrap="none" rtlCol="0">
              <a:spAutoFit/>
            </a:bodyPr>
            <a:lstStyle/>
            <a:p>
              <a:pPr algn="l"/>
              <a:r>
                <a:rPr lang="zh-CN" altLang="en-US" sz="975" spc="0" baseline="0">
                  <a:ln/>
                  <a:solidFill>
                    <a:srgbClr val="1A2230"/>
                  </a:solidFill>
                  <a:latin typeface="Arial"/>
                  <a:cs typeface="Arial"/>
                  <a:sym typeface="Arial"/>
                  <a:rtl val="0"/>
                </a:rPr>
                <a:t>θ</a:t>
              </a:r>
              <a:r>
                <a:rPr lang="zh-CN" altLang="en-US" sz="975" spc="0" baseline="0">
                  <a:ln/>
                  <a:solidFill>
                    <a:srgbClr val="1A2230"/>
                  </a:solidFill>
                  <a:latin typeface="Cambria Math"/>
                  <a:cs typeface="Arial"/>
                  <a:sym typeface="Cambria Math"/>
                  <a:rtl val="0"/>
                </a:rPr>
                <a:t>₂</a:t>
              </a:r>
            </a:p>
          </p:txBody>
        </p:sp>
        <p:sp>
          <p:nvSpPr>
            <p:cNvPr id="17" name="文本框 16">
              <a:extLst>
                <a:ext uri="{FF2B5EF4-FFF2-40B4-BE49-F238E27FC236}">
                  <a16:creationId xmlns:a16="http://schemas.microsoft.com/office/drawing/2014/main" id="{0E709D7F-BCD3-C89B-9F7E-D4B0504C8C8F}"/>
                </a:ext>
              </a:extLst>
            </p:cNvPr>
            <p:cNvSpPr txBox="1"/>
            <p:nvPr/>
          </p:nvSpPr>
          <p:spPr>
            <a:xfrm>
              <a:off x="8502015" y="2465070"/>
              <a:ext cx="291465" cy="227171"/>
            </a:xfrm>
            <a:prstGeom prst="rect">
              <a:avLst/>
            </a:prstGeom>
            <a:noFill/>
          </p:spPr>
          <p:txBody>
            <a:bodyPr wrap="none" rtlCol="0">
              <a:spAutoFit/>
            </a:bodyPr>
            <a:lstStyle/>
            <a:p>
              <a:pPr algn="l"/>
              <a:r>
                <a:rPr lang="zh-CN" altLang="en-US" sz="975" spc="0" baseline="0">
                  <a:ln/>
                  <a:solidFill>
                    <a:srgbClr val="1A2230"/>
                  </a:solidFill>
                  <a:latin typeface="Arial"/>
                  <a:cs typeface="Arial"/>
                  <a:sym typeface="Arial"/>
                  <a:rtl val="0"/>
                </a:rPr>
                <a:t>θ</a:t>
              </a:r>
              <a:r>
                <a:rPr lang="zh-CN" altLang="en-US" sz="975" spc="0" baseline="0">
                  <a:ln/>
                  <a:solidFill>
                    <a:srgbClr val="1A2230"/>
                  </a:solidFill>
                  <a:latin typeface="Cambria Math"/>
                  <a:cs typeface="Arial"/>
                  <a:sym typeface="Cambria Math"/>
                  <a:rtl val="0"/>
                </a:rPr>
                <a:t>₄</a:t>
              </a:r>
            </a:p>
          </p:txBody>
        </p:sp>
        <p:sp>
          <p:nvSpPr>
            <p:cNvPr id="18" name="任意多边形: 形状 17">
              <a:extLst>
                <a:ext uri="{FF2B5EF4-FFF2-40B4-BE49-F238E27FC236}">
                  <a16:creationId xmlns:a16="http://schemas.microsoft.com/office/drawing/2014/main" id="{EB2A4DBE-A91E-19BA-A96C-6F8D3371EEE5}"/>
                </a:ext>
              </a:extLst>
            </p:cNvPr>
            <p:cNvSpPr/>
            <p:nvPr/>
          </p:nvSpPr>
          <p:spPr>
            <a:xfrm>
              <a:off x="5435441" y="1515427"/>
              <a:ext cx="235267" cy="235267"/>
            </a:xfrm>
            <a:custGeom>
              <a:avLst/>
              <a:gdLst>
                <a:gd name="connsiteX0" fmla="*/ 235268 w 235267"/>
                <a:gd name="connsiteY0" fmla="*/ 117634 h 235267"/>
                <a:gd name="connsiteX1" fmla="*/ 117634 w 235267"/>
                <a:gd name="connsiteY1" fmla="*/ 235268 h 235267"/>
                <a:gd name="connsiteX2" fmla="*/ 0 w 235267"/>
                <a:gd name="connsiteY2" fmla="*/ 117634 h 235267"/>
                <a:gd name="connsiteX3" fmla="*/ 117634 w 235267"/>
                <a:gd name="connsiteY3" fmla="*/ 0 h 235267"/>
                <a:gd name="connsiteX4" fmla="*/ 235268 w 235267"/>
                <a:gd name="connsiteY4" fmla="*/ 117634 h 235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67" h="235267">
                  <a:moveTo>
                    <a:pt x="235268" y="117634"/>
                  </a:moveTo>
                  <a:cubicBezTo>
                    <a:pt x="235268" y="182601"/>
                    <a:pt x="182601" y="235268"/>
                    <a:pt x="117634" y="235268"/>
                  </a:cubicBezTo>
                  <a:cubicBezTo>
                    <a:pt x="52667" y="235268"/>
                    <a:pt x="0" y="182601"/>
                    <a:pt x="0" y="117634"/>
                  </a:cubicBezTo>
                  <a:cubicBezTo>
                    <a:pt x="0" y="52666"/>
                    <a:pt x="52667" y="0"/>
                    <a:pt x="117634" y="0"/>
                  </a:cubicBezTo>
                  <a:cubicBezTo>
                    <a:pt x="182601" y="0"/>
                    <a:pt x="235268" y="52666"/>
                    <a:pt x="235268" y="117634"/>
                  </a:cubicBezTo>
                  <a:close/>
                </a:path>
              </a:pathLst>
            </a:custGeom>
            <a:noFill/>
            <a:ln w="22622" cap="flat">
              <a:solidFill>
                <a:srgbClr val="D9534F"/>
              </a:solid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D2F284AE-3A47-536A-A450-82FFBABEEF3A}"/>
                </a:ext>
              </a:extLst>
            </p:cNvPr>
            <p:cNvSpPr/>
            <p:nvPr/>
          </p:nvSpPr>
          <p:spPr>
            <a:xfrm>
              <a:off x="5607367" y="1750695"/>
              <a:ext cx="271462" cy="162877"/>
            </a:xfrm>
            <a:custGeom>
              <a:avLst/>
              <a:gdLst>
                <a:gd name="connsiteX0" fmla="*/ 0 w 271462"/>
                <a:gd name="connsiteY0" fmla="*/ 0 h 162877"/>
                <a:gd name="connsiteX1" fmla="*/ 271463 w 271462"/>
                <a:gd name="connsiteY1" fmla="*/ 162878 h 162877"/>
              </a:gdLst>
              <a:ahLst/>
              <a:cxnLst>
                <a:cxn ang="0">
                  <a:pos x="connsiteX0" y="connsiteY0"/>
                </a:cxn>
                <a:cxn ang="0">
                  <a:pos x="connsiteX1" y="connsiteY1"/>
                </a:cxn>
              </a:cxnLst>
              <a:rect l="l" t="t" r="r" b="b"/>
              <a:pathLst>
                <a:path w="271462" h="162877">
                  <a:moveTo>
                    <a:pt x="0" y="0"/>
                  </a:moveTo>
                  <a:lnTo>
                    <a:pt x="271463" y="162878"/>
                  </a:lnTo>
                </a:path>
              </a:pathLst>
            </a:custGeom>
            <a:ln w="13573" cap="flat">
              <a:solidFill>
                <a:srgbClr val="D9534F"/>
              </a:solidFill>
              <a:prstDash val="solid"/>
              <a:miter/>
            </a:ln>
          </p:spPr>
          <p:txBody>
            <a:bodyPr rtlCol="0" anchor="ctr"/>
            <a:lstStyle/>
            <a:p>
              <a:endParaRPr lang="zh-CN" altLang="en-US"/>
            </a:p>
          </p:txBody>
        </p:sp>
        <p:sp>
          <p:nvSpPr>
            <p:cNvPr id="20" name="文本框 19">
              <a:extLst>
                <a:ext uri="{FF2B5EF4-FFF2-40B4-BE49-F238E27FC236}">
                  <a16:creationId xmlns:a16="http://schemas.microsoft.com/office/drawing/2014/main" id="{4DE83E74-7053-588B-40C1-3F4A8D739FD1}"/>
                </a:ext>
              </a:extLst>
            </p:cNvPr>
            <p:cNvSpPr txBox="1"/>
            <p:nvPr/>
          </p:nvSpPr>
          <p:spPr>
            <a:xfrm>
              <a:off x="5841682" y="1777365"/>
              <a:ext cx="1359217" cy="245268"/>
            </a:xfrm>
            <a:prstGeom prst="rect">
              <a:avLst/>
            </a:prstGeom>
            <a:noFill/>
          </p:spPr>
          <p:txBody>
            <a:bodyPr wrap="none" rtlCol="0">
              <a:spAutoFit/>
            </a:bodyPr>
            <a:lstStyle/>
            <a:p>
              <a:pPr algn="l"/>
              <a:r>
                <a:rPr lang="zh-CN" altLang="en-US" sz="975" b="1" spc="0" baseline="0" dirty="0">
                  <a:ln/>
                  <a:solidFill>
                    <a:srgbClr val="D9534F"/>
                  </a:solidFill>
                  <a:latin typeface="微软雅黑"/>
                  <a:ea typeface="微软雅黑"/>
                  <a:sym typeface="微软雅黑"/>
                  <a:rtl val="0"/>
                </a:rPr>
                <a:t>拐点：方向变化最快处</a:t>
              </a:r>
            </a:p>
          </p:txBody>
        </p:sp>
        <p:sp>
          <p:nvSpPr>
            <p:cNvPr id="21" name="文本框 20">
              <a:extLst>
                <a:ext uri="{FF2B5EF4-FFF2-40B4-BE49-F238E27FC236}">
                  <a16:creationId xmlns:a16="http://schemas.microsoft.com/office/drawing/2014/main" id="{1E685CA0-7E20-3BE8-B2C2-82F805ABA585}"/>
                </a:ext>
              </a:extLst>
            </p:cNvPr>
            <p:cNvSpPr txBox="1"/>
            <p:nvPr/>
          </p:nvSpPr>
          <p:spPr>
            <a:xfrm>
              <a:off x="647700" y="1442561"/>
              <a:ext cx="246221" cy="218122"/>
            </a:xfrm>
            <a:prstGeom prst="rect">
              <a:avLst/>
            </a:prstGeom>
            <a:noFill/>
          </p:spPr>
          <p:txBody>
            <a:bodyPr wrap="none" rtlCol="0">
              <a:spAutoFit/>
            </a:bodyPr>
            <a:lstStyle/>
            <a:p>
              <a:pPr algn="l"/>
              <a:r>
                <a:rPr lang="zh-CN" altLang="en-US" sz="900" spc="0" baseline="0">
                  <a:ln/>
                  <a:solidFill>
                    <a:srgbClr val="8B97A8"/>
                  </a:solidFill>
                  <a:latin typeface="Arial"/>
                  <a:cs typeface="Arial"/>
                  <a:sym typeface="Arial"/>
                  <a:rtl val="0"/>
                </a:rPr>
                <a:t>X̃</a:t>
              </a:r>
            </a:p>
          </p:txBody>
        </p:sp>
        <p:sp>
          <p:nvSpPr>
            <p:cNvPr id="22" name="文本框 21">
              <a:extLst>
                <a:ext uri="{FF2B5EF4-FFF2-40B4-BE49-F238E27FC236}">
                  <a16:creationId xmlns:a16="http://schemas.microsoft.com/office/drawing/2014/main" id="{50E1B57E-CA72-32E4-434D-7A6A68DC9A38}"/>
                </a:ext>
              </a:extLst>
            </p:cNvPr>
            <p:cNvSpPr txBox="1"/>
            <p:nvPr/>
          </p:nvSpPr>
          <p:spPr>
            <a:xfrm>
              <a:off x="10972323" y="3125628"/>
              <a:ext cx="210026" cy="218122"/>
            </a:xfrm>
            <a:prstGeom prst="rect">
              <a:avLst/>
            </a:prstGeom>
            <a:noFill/>
          </p:spPr>
          <p:txBody>
            <a:bodyPr wrap="none" rtlCol="0">
              <a:spAutoFit/>
            </a:bodyPr>
            <a:lstStyle/>
            <a:p>
              <a:pPr algn="l"/>
              <a:r>
                <a:rPr lang="zh-CN" altLang="en-US" sz="900" spc="0" baseline="0">
                  <a:ln/>
                  <a:solidFill>
                    <a:srgbClr val="8B97A8"/>
                  </a:solidFill>
                  <a:latin typeface="Arial"/>
                  <a:cs typeface="Arial"/>
                  <a:sym typeface="Arial"/>
                  <a:rtl val="0"/>
                </a:rPr>
                <a:t>t</a:t>
              </a:r>
            </a:p>
          </p:txBody>
        </p:sp>
        <p:sp>
          <p:nvSpPr>
            <p:cNvPr id="24" name="文本框 23">
              <a:extLst>
                <a:ext uri="{FF2B5EF4-FFF2-40B4-BE49-F238E27FC236}">
                  <a16:creationId xmlns:a16="http://schemas.microsoft.com/office/drawing/2014/main" id="{C68812D3-7411-29E9-4361-C1ABFE4FB668}"/>
                </a:ext>
              </a:extLst>
            </p:cNvPr>
            <p:cNvSpPr txBox="1"/>
            <p:nvPr/>
          </p:nvSpPr>
          <p:spPr>
            <a:xfrm>
              <a:off x="1208722" y="3406140"/>
              <a:ext cx="1935145" cy="242374"/>
            </a:xfrm>
            <a:prstGeom prst="rect">
              <a:avLst/>
            </a:prstGeom>
            <a:noFill/>
          </p:spPr>
          <p:txBody>
            <a:bodyPr wrap="none" rtlCol="0" anchor="t">
              <a:spAutoFit/>
            </a:bodyPr>
            <a:lstStyle/>
            <a:p>
              <a:pPr algn="l"/>
              <a:r>
                <a:rPr lang="zh-CN" altLang="en-US" sz="975" spc="0" baseline="0" dirty="0">
                  <a:ln/>
                  <a:solidFill>
                    <a:srgbClr val="1A2230"/>
                  </a:solidFill>
                  <a:latin typeface="微软雅黑"/>
                  <a:ea typeface="微软雅黑"/>
                  <a:sym typeface="微软雅黑"/>
                  <a:rtl val="0"/>
                </a:rPr>
                <a:t>瞬时极限角</a:t>
              </a:r>
              <a:r>
                <a:rPr lang="zh-CN" altLang="en-US" sz="975" spc="0" baseline="0" dirty="0">
                  <a:ln/>
                  <a:solidFill>
                    <a:srgbClr val="1A2230"/>
                  </a:solidFill>
                  <a:latin typeface="Arial"/>
                  <a:ea typeface="微软雅黑"/>
                  <a:cs typeface="Arial"/>
                  <a:sym typeface="Arial"/>
                  <a:rtl val="0"/>
                </a:rPr>
                <a:t> θ</a:t>
              </a:r>
              <a:r>
                <a:rPr lang="zh-CN" altLang="en-US" sz="1013" spc="0" baseline="-37037" dirty="0">
                  <a:ln/>
                  <a:solidFill>
                    <a:srgbClr val="1A2230"/>
                  </a:solidFill>
                  <a:latin typeface="Arial"/>
                  <a:ea typeface="微软雅黑"/>
                  <a:cs typeface="Arial"/>
                  <a:sym typeface="Arial"/>
                  <a:rtl val="0"/>
                </a:rPr>
                <a:t>t</a:t>
              </a:r>
              <a:r>
                <a:rPr lang="zh-CN" altLang="en-US" sz="975" spc="0" baseline="0" dirty="0">
                  <a:ln/>
                  <a:solidFill>
                    <a:srgbClr val="1A2230"/>
                  </a:solidFill>
                  <a:latin typeface="Arial"/>
                  <a:ea typeface="微软雅黑"/>
                  <a:cs typeface="Arial"/>
                  <a:sym typeface="Arial"/>
                  <a:rtl val="0"/>
                </a:rPr>
                <a:t> = arctan</a:t>
              </a:r>
              <a:r>
                <a:rPr lang="en-US" altLang="zh-CN" sz="975" spc="0" baseline="0" dirty="0">
                  <a:ln/>
                  <a:solidFill>
                    <a:srgbClr val="1A2230"/>
                  </a:solidFill>
                  <a:latin typeface="Arial"/>
                  <a:ea typeface="微软雅黑"/>
                  <a:cs typeface="Arial"/>
                  <a:sym typeface="Arial"/>
                  <a:rtl val="0"/>
                </a:rPr>
                <a:t>gent</a:t>
              </a:r>
              <a:r>
                <a:rPr lang="zh-CN" altLang="en-US" sz="975" spc="0" baseline="0" dirty="0">
                  <a:ln/>
                  <a:solidFill>
                    <a:srgbClr val="1A2230"/>
                  </a:solidFill>
                  <a:latin typeface="Arial"/>
                  <a:ea typeface="微软雅黑"/>
                  <a:cs typeface="Arial"/>
                  <a:sym typeface="Arial"/>
                  <a:rtl val="0"/>
                </a:rPr>
                <a:t>(</a:t>
              </a:r>
              <a:r>
                <a:rPr lang="zh-CN" altLang="en-US" sz="975" spc="0" baseline="0" dirty="0">
                  <a:ln/>
                  <a:solidFill>
                    <a:srgbClr val="1A2230"/>
                  </a:solidFill>
                  <a:latin typeface="Cambria Math"/>
                  <a:ea typeface="微软雅黑"/>
                  <a:cs typeface="Arial"/>
                  <a:sym typeface="Cambria Math"/>
                  <a:rtl val="0"/>
                </a:rPr>
                <a:t>∇</a:t>
              </a:r>
              <a:r>
                <a:rPr lang="zh-CN" altLang="en-US" sz="975" spc="0" baseline="0" dirty="0">
                  <a:ln/>
                  <a:solidFill>
                    <a:srgbClr val="1A2230"/>
                  </a:solidFill>
                  <a:latin typeface="Arial"/>
                  <a:ea typeface="微软雅黑"/>
                  <a:cs typeface="Arial"/>
                  <a:sym typeface="Arial"/>
                  <a:rtl val="0"/>
                </a:rPr>
                <a:t>X̃</a:t>
              </a:r>
              <a:r>
                <a:rPr lang="zh-CN" altLang="en-US" sz="1013" spc="0" baseline="-37037" dirty="0">
                  <a:ln/>
                  <a:solidFill>
                    <a:srgbClr val="1A2230"/>
                  </a:solidFill>
                  <a:latin typeface="Arial"/>
                  <a:ea typeface="微软雅黑"/>
                  <a:cs typeface="Arial"/>
                  <a:sym typeface="Arial"/>
                  <a:rtl val="0"/>
                </a:rPr>
                <a:t>t</a:t>
              </a:r>
              <a:r>
                <a:rPr lang="zh-CN" altLang="en-US" sz="975" spc="0" baseline="0" dirty="0">
                  <a:ln/>
                  <a:solidFill>
                    <a:srgbClr val="1A2230"/>
                  </a:solidFill>
                  <a:latin typeface="Arial"/>
                  <a:ea typeface="微软雅黑"/>
                  <a:cs typeface="Arial"/>
                  <a:sym typeface="Arial"/>
                  <a:rtl val="0"/>
                </a:rPr>
                <a:t>)</a:t>
              </a:r>
            </a:p>
          </p:txBody>
        </p:sp>
        <p:sp>
          <p:nvSpPr>
            <p:cNvPr id="25" name="文本框 24">
              <a:extLst>
                <a:ext uri="{FF2B5EF4-FFF2-40B4-BE49-F238E27FC236}">
                  <a16:creationId xmlns:a16="http://schemas.microsoft.com/office/drawing/2014/main" id="{A2239352-880A-05A3-DF06-5F0FE7934552}"/>
                </a:ext>
              </a:extLst>
            </p:cNvPr>
            <p:cNvSpPr txBox="1"/>
            <p:nvPr/>
          </p:nvSpPr>
          <p:spPr>
            <a:xfrm>
              <a:off x="4375785" y="3406140"/>
              <a:ext cx="2861310" cy="285988"/>
            </a:xfrm>
            <a:prstGeom prst="rect">
              <a:avLst/>
            </a:prstGeom>
            <a:noFill/>
          </p:spPr>
          <p:txBody>
            <a:bodyPr wrap="none" rtlCol="0" anchor="t">
              <a:spAutoFit/>
            </a:bodyPr>
            <a:lstStyle/>
            <a:p>
              <a:pPr algn="l"/>
              <a:r>
                <a:rPr lang="zh-CN" altLang="en-US" sz="975" spc="0" baseline="0" dirty="0">
                  <a:ln/>
                  <a:solidFill>
                    <a:srgbClr val="1A2230"/>
                  </a:solidFill>
                  <a:latin typeface="微软雅黑"/>
                  <a:ea typeface="微软雅黑"/>
                  <a:sym typeface="微软雅黑"/>
                  <a:rtl val="0"/>
                </a:rPr>
                <a:t>拐点判据：</a:t>
              </a:r>
              <a:r>
                <a:rPr lang="zh-CN" altLang="en-US" sz="975" spc="0" baseline="0" dirty="0">
                  <a:ln/>
                  <a:solidFill>
                    <a:srgbClr val="1A2230"/>
                  </a:solidFill>
                  <a:latin typeface="Arial"/>
                  <a:ea typeface="微软雅黑"/>
                  <a:cs typeface="Arial"/>
                  <a:sym typeface="Arial"/>
                  <a:rtl val="0"/>
                </a:rPr>
                <a:t>cos(θ</a:t>
              </a:r>
              <a:r>
                <a:rPr lang="zh-CN" altLang="en-US" sz="1013" spc="0" baseline="-37037" dirty="0">
                  <a:ln/>
                  <a:solidFill>
                    <a:srgbClr val="1A2230"/>
                  </a:solidFill>
                  <a:latin typeface="Arial"/>
                  <a:ea typeface="微软雅黑"/>
                  <a:cs typeface="Arial"/>
                  <a:sym typeface="Arial"/>
                  <a:rtl val="0"/>
                </a:rPr>
                <a:t>t</a:t>
              </a:r>
              <a:r>
                <a:rPr lang="zh-CN" altLang="en-US" sz="975" spc="0" baseline="0" dirty="0">
                  <a:ln/>
                  <a:solidFill>
                    <a:srgbClr val="1A2230"/>
                  </a:solidFill>
                  <a:latin typeface="Arial"/>
                  <a:ea typeface="微软雅黑"/>
                  <a:cs typeface="Arial"/>
                  <a:sym typeface="Arial"/>
                  <a:rtl val="0"/>
                </a:rPr>
                <a:t> − θ</a:t>
              </a:r>
              <a:r>
                <a:rPr lang="zh-CN" altLang="en-US" sz="1013" spc="0" baseline="-37037" dirty="0">
                  <a:ln/>
                  <a:solidFill>
                    <a:srgbClr val="1A2230"/>
                  </a:solidFill>
                  <a:latin typeface="Arial"/>
                  <a:ea typeface="微软雅黑"/>
                  <a:cs typeface="Arial"/>
                  <a:sym typeface="Arial"/>
                  <a:rtl val="0"/>
                </a:rPr>
                <a:t>t</a:t>
              </a:r>
              <a:r>
                <a:rPr lang="zh-CN" altLang="en-US" sz="1013" spc="0" baseline="-40741" dirty="0">
                  <a:ln/>
                  <a:solidFill>
                    <a:srgbClr val="1A2230"/>
                  </a:solidFill>
                  <a:latin typeface="Cambria Math"/>
                  <a:ea typeface="微软雅黑"/>
                  <a:cs typeface="Arial"/>
                  <a:sym typeface="Cambria Math"/>
                  <a:rtl val="0"/>
                </a:rPr>
                <a:t>₋₁</a:t>
              </a:r>
              <a:r>
                <a:rPr lang="zh-CN" altLang="en-US" sz="975" spc="0" baseline="0" dirty="0">
                  <a:ln/>
                  <a:solidFill>
                    <a:srgbClr val="1A2230"/>
                  </a:solidFill>
                  <a:latin typeface="Arial"/>
                  <a:ea typeface="微软雅黑"/>
                  <a:cs typeface="Arial"/>
                  <a:sym typeface="Arial"/>
                  <a:rtl val="0"/>
                </a:rPr>
                <a:t>) &lt; cos τ</a:t>
              </a:r>
              <a:r>
                <a:rPr lang="zh-CN" altLang="en-US" sz="975" spc="0" baseline="0" dirty="0">
                  <a:ln/>
                  <a:solidFill>
                    <a:srgbClr val="1A2230"/>
                  </a:solidFill>
                  <a:latin typeface="微软雅黑"/>
                  <a:ea typeface="微软雅黑"/>
                  <a:cs typeface="Arial"/>
                  <a:sym typeface="微软雅黑"/>
                  <a:rtl val="0"/>
                </a:rPr>
                <a:t>　</a:t>
              </a:r>
              <a:r>
                <a:rPr lang="zh-CN" altLang="en-US" sz="975" spc="0" baseline="0" dirty="0">
                  <a:ln/>
                  <a:solidFill>
                    <a:srgbClr val="1A2230"/>
                  </a:solidFill>
                  <a:latin typeface="Cambria Math"/>
                  <a:ea typeface="微软雅黑"/>
                  <a:cs typeface="Arial"/>
                  <a:sym typeface="Cambria Math"/>
                  <a:rtl val="0"/>
                </a:rPr>
                <a:t>⟺</a:t>
              </a:r>
              <a:r>
                <a:rPr lang="zh-CN" altLang="en-US" sz="975" spc="0" baseline="0" dirty="0">
                  <a:ln/>
                  <a:solidFill>
                    <a:srgbClr val="1A2230"/>
                  </a:solidFill>
                  <a:latin typeface="微软雅黑"/>
                  <a:ea typeface="微软雅黑"/>
                  <a:cs typeface="Arial"/>
                  <a:sym typeface="微软雅黑"/>
                  <a:rtl val="0"/>
                </a:rPr>
                <a:t>　</a:t>
              </a:r>
              <a:r>
                <a:rPr lang="zh-CN" altLang="en-US" sz="975" spc="0" baseline="0" dirty="0">
                  <a:ln/>
                  <a:solidFill>
                    <a:srgbClr val="1A2230"/>
                  </a:solidFill>
                  <a:latin typeface="Arial"/>
                  <a:ea typeface="微软雅黑"/>
                  <a:cs typeface="Arial"/>
                  <a:sym typeface="Arial"/>
                  <a:rtl val="0"/>
                </a:rPr>
                <a:t>|θ</a:t>
              </a:r>
              <a:r>
                <a:rPr lang="zh-CN" altLang="en-US" sz="1013" spc="0" baseline="-37037" dirty="0">
                  <a:ln/>
                  <a:solidFill>
                    <a:srgbClr val="1A2230"/>
                  </a:solidFill>
                  <a:latin typeface="Arial"/>
                  <a:ea typeface="微软雅黑"/>
                  <a:cs typeface="Arial"/>
                  <a:sym typeface="Arial"/>
                  <a:rtl val="0"/>
                </a:rPr>
                <a:t>t</a:t>
              </a:r>
              <a:r>
                <a:rPr lang="zh-CN" altLang="en-US" sz="975" spc="0" baseline="0" dirty="0">
                  <a:ln/>
                  <a:solidFill>
                    <a:srgbClr val="1A2230"/>
                  </a:solidFill>
                  <a:latin typeface="Arial"/>
                  <a:ea typeface="微软雅黑"/>
                  <a:cs typeface="Arial"/>
                  <a:sym typeface="Arial"/>
                  <a:rtl val="0"/>
                </a:rPr>
                <a:t> − θ</a:t>
              </a:r>
              <a:r>
                <a:rPr lang="zh-CN" altLang="en-US" sz="1013" spc="0" baseline="-37037" dirty="0">
                  <a:ln/>
                  <a:solidFill>
                    <a:srgbClr val="1A2230"/>
                  </a:solidFill>
                  <a:latin typeface="Arial"/>
                  <a:ea typeface="微软雅黑"/>
                  <a:cs typeface="Arial"/>
                  <a:sym typeface="Arial"/>
                  <a:rtl val="0"/>
                </a:rPr>
                <a:t>t</a:t>
              </a:r>
              <a:r>
                <a:rPr lang="zh-CN" altLang="en-US" sz="1013" spc="0" baseline="-40741" dirty="0">
                  <a:ln/>
                  <a:solidFill>
                    <a:srgbClr val="1A2230"/>
                  </a:solidFill>
                  <a:latin typeface="Cambria Math"/>
                  <a:ea typeface="微软雅黑"/>
                  <a:cs typeface="Arial"/>
                  <a:sym typeface="Cambria Math"/>
                  <a:rtl val="0"/>
                </a:rPr>
                <a:t>₋₁</a:t>
              </a:r>
              <a:r>
                <a:rPr lang="zh-CN" altLang="en-US" sz="975" spc="0" baseline="0" dirty="0">
                  <a:ln/>
                  <a:solidFill>
                    <a:srgbClr val="1A2230"/>
                  </a:solidFill>
                  <a:latin typeface="Arial"/>
                  <a:ea typeface="微软雅黑"/>
                  <a:cs typeface="Arial"/>
                  <a:sym typeface="Arial"/>
                  <a:rtl val="0"/>
                </a:rPr>
                <a:t>| &gt; τ</a:t>
              </a:r>
            </a:p>
          </p:txBody>
        </p:sp>
        <p:sp>
          <p:nvSpPr>
            <p:cNvPr id="26" name="文本框 25">
              <a:extLst>
                <a:ext uri="{FF2B5EF4-FFF2-40B4-BE49-F238E27FC236}">
                  <a16:creationId xmlns:a16="http://schemas.microsoft.com/office/drawing/2014/main" id="{A4B93DBD-82D7-5A9F-2C58-A51EDFFCC453}"/>
                </a:ext>
              </a:extLst>
            </p:cNvPr>
            <p:cNvSpPr txBox="1"/>
            <p:nvPr/>
          </p:nvSpPr>
          <p:spPr>
            <a:xfrm>
              <a:off x="1208722" y="3695700"/>
              <a:ext cx="3752950" cy="242374"/>
            </a:xfrm>
            <a:prstGeom prst="rect">
              <a:avLst/>
            </a:prstGeom>
            <a:noFill/>
          </p:spPr>
          <p:txBody>
            <a:bodyPr wrap="none" rtlCol="0" anchor="t">
              <a:spAutoFit/>
            </a:bodyPr>
            <a:lstStyle/>
            <a:p>
              <a:pPr algn="l"/>
              <a:r>
                <a:rPr lang="zh-CN" altLang="en-US" sz="975" spc="0" baseline="0" dirty="0">
                  <a:ln/>
                  <a:solidFill>
                    <a:srgbClr val="1A2230"/>
                  </a:solidFill>
                  <a:latin typeface="微软雅黑"/>
                  <a:ea typeface="微软雅黑"/>
                  <a:sym typeface="微软雅黑"/>
                  <a:rtl val="0"/>
                </a:rPr>
                <a:t>倍角方向相似度</a:t>
              </a:r>
              <a:r>
                <a:rPr lang="zh-CN" altLang="en-US" sz="975" spc="0" baseline="0" dirty="0">
                  <a:ln/>
                  <a:solidFill>
                    <a:srgbClr val="1A2230"/>
                  </a:solidFill>
                  <a:latin typeface="Arial"/>
                  <a:ea typeface="微软雅黑"/>
                  <a:cs typeface="Arial"/>
                  <a:sym typeface="Arial"/>
                  <a:rtl val="0"/>
                </a:rPr>
                <a:t> sin</a:t>
              </a:r>
              <a:r>
                <a:rPr lang="en-US" altLang="zh-CN" sz="975" spc="0" baseline="0" dirty="0">
                  <a:ln/>
                  <a:solidFill>
                    <a:srgbClr val="1A2230"/>
                  </a:solidFill>
                  <a:latin typeface="Arial"/>
                  <a:ea typeface="微软雅黑"/>
                  <a:cs typeface="Arial"/>
                  <a:sym typeface="Arial"/>
                  <a:rtl val="0"/>
                </a:rPr>
                <a:t>[</a:t>
              </a:r>
              <a:r>
                <a:rPr lang="zh-CN" altLang="en-US" sz="975" spc="0" baseline="0" dirty="0">
                  <a:ln/>
                  <a:solidFill>
                    <a:srgbClr val="1A2230"/>
                  </a:solidFill>
                  <a:latin typeface="Arial"/>
                  <a:ea typeface="微软雅黑"/>
                  <a:cs typeface="Arial"/>
                  <a:sym typeface="Arial"/>
                  <a:rtl val="0"/>
                </a:rPr>
                <a:t>2(θ</a:t>
              </a:r>
              <a:r>
                <a:rPr lang="zh-CN" altLang="en-US" sz="1013" spc="0" baseline="-37037" dirty="0">
                  <a:ln/>
                  <a:solidFill>
                    <a:srgbClr val="1A2230"/>
                  </a:solidFill>
                  <a:latin typeface="Arial"/>
                  <a:ea typeface="微软雅黑"/>
                  <a:cs typeface="Arial"/>
                  <a:sym typeface="Arial"/>
                  <a:rtl val="0"/>
                </a:rPr>
                <a:t>t</a:t>
              </a:r>
              <a:r>
                <a:rPr lang="zh-CN" altLang="en-US" sz="975" spc="0" baseline="0" dirty="0">
                  <a:ln/>
                  <a:solidFill>
                    <a:srgbClr val="1A2230"/>
                  </a:solidFill>
                  <a:latin typeface="Arial"/>
                  <a:ea typeface="微软雅黑"/>
                  <a:cs typeface="Arial"/>
                  <a:sym typeface="Arial"/>
                  <a:rtl val="0"/>
                </a:rPr>
                <a:t> − θ</a:t>
              </a:r>
              <a:r>
                <a:rPr lang="zh-CN" altLang="en-US" sz="1013" spc="0" baseline="-37037" dirty="0">
                  <a:ln/>
                  <a:solidFill>
                    <a:srgbClr val="1A2230"/>
                  </a:solidFill>
                  <a:latin typeface="Arial"/>
                  <a:ea typeface="微软雅黑"/>
                  <a:cs typeface="Arial"/>
                  <a:sym typeface="Arial"/>
                  <a:rtl val="0"/>
                </a:rPr>
                <a:t>t</a:t>
              </a:r>
              <a:r>
                <a:rPr lang="zh-CN" altLang="en-US" sz="1013" spc="0" baseline="-40741" dirty="0">
                  <a:ln/>
                  <a:solidFill>
                    <a:srgbClr val="1A2230"/>
                  </a:solidFill>
                  <a:latin typeface="Cambria Math"/>
                  <a:ea typeface="微软雅黑"/>
                  <a:cs typeface="Arial"/>
                  <a:sym typeface="Cambria Math"/>
                  <a:rtl val="0"/>
                </a:rPr>
                <a:t>₋₁</a:t>
              </a:r>
              <a:r>
                <a:rPr lang="zh-CN" altLang="en-US" sz="975" spc="0" baseline="0" dirty="0">
                  <a:ln/>
                  <a:solidFill>
                    <a:srgbClr val="1A2230"/>
                  </a:solidFill>
                  <a:latin typeface="Arial"/>
                  <a:ea typeface="微软雅黑"/>
                  <a:cs typeface="Arial"/>
                  <a:sym typeface="Arial"/>
                  <a:rtl val="0"/>
                </a:rPr>
                <a:t>)</a:t>
              </a:r>
              <a:r>
                <a:rPr lang="en-US" altLang="zh-CN" sz="975" spc="0" baseline="0" dirty="0">
                  <a:ln/>
                  <a:solidFill>
                    <a:srgbClr val="1A2230"/>
                  </a:solidFill>
                  <a:latin typeface="Arial"/>
                  <a:ea typeface="微软雅黑"/>
                  <a:cs typeface="Arial"/>
                  <a:sym typeface="Arial"/>
                  <a:rtl val="0"/>
                </a:rPr>
                <a:t>]</a:t>
              </a:r>
              <a:r>
                <a:rPr lang="zh-CN" altLang="en-US" sz="975" spc="0" baseline="0" dirty="0">
                  <a:ln/>
                  <a:solidFill>
                    <a:srgbClr val="1A2230"/>
                  </a:solidFill>
                  <a:latin typeface="微软雅黑"/>
                  <a:ea typeface="微软雅黑"/>
                  <a:cs typeface="Arial"/>
                  <a:sym typeface="微软雅黑"/>
                  <a:rtl val="0"/>
                </a:rPr>
                <a:t>：符号给出转向，绝对值给出强度</a:t>
              </a:r>
            </a:p>
          </p:txBody>
        </p:sp>
      </p:grpSp>
      <p:sp>
        <p:nvSpPr>
          <p:cNvPr id="157" name="矩形: 圆角 156"/>
          <p:cNvSpPr/>
          <p:nvPr/>
        </p:nvSpPr>
        <p:spPr>
          <a:xfrm>
            <a:off x="381000" y="4181475"/>
            <a:ext cx="5610225" cy="2200275"/>
          </a:xfrm>
          <a:prstGeom prst="roundRect">
            <a:avLst>
              <a:gd name="adj" fmla="val 2597"/>
            </a:avLst>
          </a:prstGeom>
          <a:ln w="12700">
            <a:solidFill>
              <a:srgbClr val="D6DCE5"/>
            </a:solidFill>
            <a:prstDash val="solid"/>
          </a:ln>
        </p:spPr>
        <p:txBody>
          <a:bodyPr/>
          <a:lstStyle/>
          <a:p>
            <a:endParaRPr/>
          </a:p>
        </p:txBody>
      </p:sp>
      <p:sp>
        <p:nvSpPr>
          <p:cNvPr id="158" name="文本框 157" descr="{&quot;isTemplate&quot;:true,&quot;type&quot;:&quot;text&quot;}"/>
          <p:cNvSpPr txBox="1"/>
          <p:nvPr/>
        </p:nvSpPr>
        <p:spPr>
          <a:xfrm>
            <a:off x="552450" y="4352925"/>
            <a:ext cx="5267325" cy="209550"/>
          </a:xfrm>
          <a:prstGeom prst="rect">
            <a:avLst/>
          </a:prstGeom>
        </p:spPr>
        <p:txBody>
          <a:bodyPr wrap="none" lIns="0" tIns="0" rIns="0" bIns="0"/>
          <a:lstStyle/>
          <a:p>
            <a:pPr>
              <a:lnSpc>
                <a:spcPct val="100000"/>
              </a:lnSpc>
            </a:pPr>
            <a:r>
              <a:rPr lang="zh-CN" sz="1350" b="1" dirty="0">
                <a:solidFill>
                  <a:srgbClr val="0E3F8C"/>
                </a:solidFill>
                <a:latin typeface="Microsoft YaHei"/>
                <a:ea typeface="Microsoft YaHei"/>
              </a:rPr>
              <a:t>窗函数与折射率：拐点诊断工具链</a:t>
            </a:r>
            <a:endParaRPr dirty="0"/>
          </a:p>
        </p:txBody>
      </p:sp>
      <p:sp>
        <p:nvSpPr>
          <p:cNvPr id="159" name="文本框 158" descr="{&quot;isTemplate&quot;:true,&quot;type&quot;:&quot;text&quot;}"/>
          <p:cNvSpPr txBox="1"/>
          <p:nvPr/>
        </p:nvSpPr>
        <p:spPr>
          <a:xfrm>
            <a:off x="552450" y="4657725"/>
            <a:ext cx="5267325" cy="847725"/>
          </a:xfrm>
          <a:prstGeom prst="rect">
            <a:avLst/>
          </a:prstGeom>
        </p:spPr>
        <p:txBody>
          <a:bodyPr wrap="square" lIns="0" tIns="0" rIns="0" bIns="0">
            <a:normAutofit/>
          </a:bodyPr>
          <a:lstStyle/>
          <a:p>
            <a:pPr>
              <a:lnSpc>
                <a:spcPct val="175000"/>
              </a:lnSpc>
            </a:pPr>
            <a:r>
              <a:rPr lang="zh-CN" sz="1050">
                <a:solidFill>
                  <a:srgbClr val="4A5568"/>
                </a:solidFill>
                <a:latin typeface="Microsoft YaHei"/>
                <a:ea typeface="Microsoft YaHei"/>
              </a:rPr>
              <a:t>窗函数做多尺度平滑提取趋势分量，经瞬时极限角得到方向序列。转折率</a:t>
            </a:r>
            <a:r>
              <a:rPr lang="en-US" sz="1050">
                <a:solidFill>
                  <a:srgbClr val="4A5568"/>
                </a:solidFill>
                <a:latin typeface="Microsoft YaHei"/>
                <a:ea typeface="Microsoft YaHei"/>
              </a:rPr>
              <a:t> R</a:t>
            </a:r>
            <a:r>
              <a:rPr lang="en-US" sz="1050" baseline="-25000">
                <a:solidFill>
                  <a:srgbClr val="4A5568"/>
                </a:solidFill>
                <a:latin typeface="Microsoft YaHei"/>
                <a:ea typeface="Microsoft YaHei"/>
              </a:rPr>
              <a:t>turn</a:t>
            </a:r>
            <a:r>
              <a:rPr lang="en-US" sz="1050">
                <a:solidFill>
                  <a:srgbClr val="4A5568"/>
                </a:solidFill>
                <a:latin typeface="Microsoft YaHei"/>
                <a:ea typeface="Microsoft YaHei"/>
              </a:rPr>
              <a:t> = |sinθ₁ − sinθ₂| </a:t>
            </a:r>
            <a:r>
              <a:rPr lang="zh-CN" sz="1050">
                <a:solidFill>
                  <a:srgbClr val="4A5568"/>
                </a:solidFill>
                <a:latin typeface="Microsoft YaHei"/>
                <a:ea typeface="Microsoft YaHei"/>
              </a:rPr>
              <a:t>度量拐点两侧正弦趋势之差；折射率比</a:t>
            </a:r>
            <a:r>
              <a:rPr lang="en-US" sz="1050">
                <a:solidFill>
                  <a:srgbClr val="4A5568"/>
                </a:solidFill>
                <a:latin typeface="Microsoft YaHei"/>
                <a:ea typeface="Microsoft YaHei"/>
              </a:rPr>
              <a:t> η = sinθ₁/sinθ₂ </a:t>
            </a:r>
            <a:r>
              <a:rPr lang="zh-CN" sz="1050">
                <a:solidFill>
                  <a:srgbClr val="4A5568"/>
                </a:solidFill>
                <a:latin typeface="Microsoft YaHei"/>
                <a:ea typeface="Microsoft YaHei"/>
              </a:rPr>
              <a:t>作为斯涅尔定律的形式类比。</a:t>
            </a:r>
            <a:endParaRPr/>
          </a:p>
        </p:txBody>
      </p:sp>
      <p:sp>
        <p:nvSpPr>
          <p:cNvPr id="160" name="文本框 159" descr="{&quot;isTemplate&quot;:true,&quot;type&quot;:&quot;text&quot;}"/>
          <p:cNvSpPr txBox="1"/>
          <p:nvPr/>
        </p:nvSpPr>
        <p:spPr>
          <a:xfrm>
            <a:off x="552450" y="5972175"/>
            <a:ext cx="5267325" cy="238125"/>
          </a:xfrm>
          <a:prstGeom prst="rect">
            <a:avLst/>
          </a:prstGeom>
        </p:spPr>
        <p:txBody>
          <a:bodyPr wrap="none" lIns="0" tIns="0" rIns="0" bIns="0"/>
          <a:lstStyle/>
          <a:p>
            <a:pPr>
              <a:lnSpc>
                <a:spcPct val="160000"/>
              </a:lnSpc>
            </a:pPr>
            <a:r>
              <a:rPr lang="zh-CN" sz="975">
                <a:solidFill>
                  <a:srgbClr val="D9534F"/>
                </a:solidFill>
                <a:latin typeface="Microsoft YaHei"/>
                <a:ea typeface="Microsoft YaHei"/>
              </a:rPr>
              <a:t>注意：时序中不存在物理折射率，η</a:t>
            </a:r>
            <a:r>
              <a:rPr lang="en-US" sz="975">
                <a:solidFill>
                  <a:srgbClr val="D9534F"/>
                </a:solidFill>
                <a:latin typeface="Microsoft YaHei"/>
                <a:ea typeface="Microsoft YaHei"/>
              </a:rPr>
              <a:t> </a:t>
            </a:r>
            <a:r>
              <a:rPr lang="zh-CN" sz="975">
                <a:solidFill>
                  <a:srgbClr val="D9534F"/>
                </a:solidFill>
                <a:latin typeface="Microsoft YaHei"/>
                <a:ea typeface="Microsoft YaHei"/>
              </a:rPr>
              <a:t>仅在类比意义下使用；方向反转对应</a:t>
            </a:r>
            <a:r>
              <a:rPr lang="en-US" sz="975">
                <a:solidFill>
                  <a:srgbClr val="D9534F"/>
                </a:solidFill>
                <a:latin typeface="Microsoft YaHei"/>
                <a:ea typeface="Microsoft YaHei"/>
              </a:rPr>
              <a:t>"</a:t>
            </a:r>
            <a:r>
              <a:rPr lang="zh-CN" sz="975">
                <a:solidFill>
                  <a:srgbClr val="D9534F"/>
                </a:solidFill>
                <a:latin typeface="Microsoft YaHei"/>
                <a:ea typeface="Microsoft YaHei"/>
              </a:rPr>
              <a:t>全反射</a:t>
            </a:r>
            <a:r>
              <a:rPr lang="en-US" sz="975">
                <a:solidFill>
                  <a:srgbClr val="D9534F"/>
                </a:solidFill>
                <a:latin typeface="Microsoft YaHei"/>
                <a:ea typeface="Microsoft YaHei"/>
              </a:rPr>
              <a:t>"</a:t>
            </a:r>
            <a:r>
              <a:rPr lang="zh-CN" sz="975">
                <a:solidFill>
                  <a:srgbClr val="D9534F"/>
                </a:solidFill>
                <a:latin typeface="Microsoft YaHei"/>
                <a:ea typeface="Microsoft YaHei"/>
              </a:rPr>
              <a:t>类比。</a:t>
            </a:r>
            <a:endParaRPr/>
          </a:p>
        </p:txBody>
      </p:sp>
      <p:sp>
        <p:nvSpPr>
          <p:cNvPr id="161" name="矩形: 圆角 160"/>
          <p:cNvSpPr/>
          <p:nvPr/>
        </p:nvSpPr>
        <p:spPr>
          <a:xfrm>
            <a:off x="6200775" y="4181475"/>
            <a:ext cx="5610225" cy="2200275"/>
          </a:xfrm>
          <a:prstGeom prst="roundRect">
            <a:avLst>
              <a:gd name="adj" fmla="val 2597"/>
            </a:avLst>
          </a:prstGeom>
          <a:solidFill>
            <a:srgbClr val="F7F9FC"/>
          </a:solidFill>
          <a:ln w="12700">
            <a:solidFill>
              <a:srgbClr val="D6DCE5"/>
            </a:solidFill>
            <a:prstDash val="solid"/>
          </a:ln>
        </p:spPr>
        <p:txBody>
          <a:bodyPr/>
          <a:lstStyle/>
          <a:p>
            <a:endParaRPr/>
          </a:p>
        </p:txBody>
      </p:sp>
      <p:sp>
        <p:nvSpPr>
          <p:cNvPr id="162" name="文本框 161" descr="{&quot;isTemplate&quot;:true,&quot;type&quot;:&quot;text&quot;}"/>
          <p:cNvSpPr txBox="1"/>
          <p:nvPr/>
        </p:nvSpPr>
        <p:spPr>
          <a:xfrm>
            <a:off x="6372225" y="4352925"/>
            <a:ext cx="5267325" cy="209550"/>
          </a:xfrm>
          <a:prstGeom prst="rect">
            <a:avLst/>
          </a:prstGeom>
        </p:spPr>
        <p:txBody>
          <a:bodyPr wrap="none" lIns="0" tIns="0" rIns="0" bIns="0"/>
          <a:lstStyle/>
          <a:p>
            <a:pPr>
              <a:lnSpc>
                <a:spcPct val="100000"/>
              </a:lnSpc>
            </a:pPr>
            <a:r>
              <a:rPr lang="zh-CN" sz="1350" b="1">
                <a:solidFill>
                  <a:srgbClr val="0E3F8C"/>
                </a:solidFill>
                <a:latin typeface="Microsoft YaHei"/>
                <a:ea typeface="Microsoft YaHei"/>
              </a:rPr>
              <a:t>周期感知的可学习非线性与优化</a:t>
            </a:r>
            <a:endParaRPr/>
          </a:p>
        </p:txBody>
      </p:sp>
      <p:sp>
        <p:nvSpPr>
          <p:cNvPr id="163" name="文本框 162" descr="{&quot;isTemplate&quot;:true,&quot;type&quot;:&quot;text&quot;}"/>
          <p:cNvSpPr txBox="1"/>
          <p:nvPr/>
        </p:nvSpPr>
        <p:spPr>
          <a:xfrm>
            <a:off x="6372225" y="4657725"/>
            <a:ext cx="5267325" cy="847725"/>
          </a:xfrm>
          <a:prstGeom prst="rect">
            <a:avLst/>
          </a:prstGeom>
        </p:spPr>
        <p:txBody>
          <a:bodyPr wrap="square" lIns="0" tIns="0" rIns="0" bIns="0">
            <a:normAutofit/>
          </a:bodyPr>
          <a:lstStyle/>
          <a:p>
            <a:pPr>
              <a:lnSpc>
                <a:spcPct val="175000"/>
              </a:lnSpc>
            </a:pPr>
            <a:r>
              <a:rPr lang="zh-CN" sz="1050" dirty="0">
                <a:solidFill>
                  <a:srgbClr val="4A5568"/>
                </a:solidFill>
                <a:latin typeface="Microsoft YaHei"/>
                <a:ea typeface="Microsoft YaHei"/>
              </a:rPr>
              <a:t>复指数激活函数把嵌套周转系统作为可学习激活：</a:t>
            </a:r>
            <a:r>
              <a:rPr lang="en-US" sz="1050" dirty="0">
                <a:solidFill>
                  <a:srgbClr val="4A5568"/>
                </a:solidFill>
                <a:latin typeface="Microsoft YaHei"/>
                <a:ea typeface="Microsoft YaHei"/>
              </a:rPr>
              <a:t>E(x) = Σ A</a:t>
            </a:r>
            <a:r>
              <a:rPr lang="en-US" sz="1050" baseline="-25000" dirty="0">
                <a:solidFill>
                  <a:srgbClr val="4A5568"/>
                </a:solidFill>
                <a:latin typeface="Microsoft YaHei"/>
                <a:ea typeface="Microsoft YaHei"/>
              </a:rPr>
              <a:t>k</a:t>
            </a:r>
            <a:r>
              <a:rPr lang="en-US" sz="1050" dirty="0">
                <a:solidFill>
                  <a:srgbClr val="4A5568"/>
                </a:solidFill>
                <a:latin typeface="Microsoft YaHei"/>
                <a:ea typeface="Microsoft YaHei"/>
              </a:rPr>
              <a:t> exp(</a:t>
            </a:r>
            <a:r>
              <a:rPr lang="en-US" sz="1050" dirty="0" err="1">
                <a:solidFill>
                  <a:srgbClr val="4A5568"/>
                </a:solidFill>
                <a:latin typeface="Microsoft YaHei"/>
                <a:ea typeface="Microsoft YaHei"/>
              </a:rPr>
              <a:t>i</a:t>
            </a:r>
            <a:r>
              <a:rPr lang="en-US" sz="1050" dirty="0">
                <a:solidFill>
                  <a:srgbClr val="4A5568"/>
                </a:solidFill>
                <a:latin typeface="Microsoft YaHei"/>
                <a:ea typeface="Microsoft YaHei"/>
              </a:rPr>
              <a:t>(</a:t>
            </a:r>
            <a:r>
              <a:rPr lang="en-US" sz="1050" dirty="0" err="1">
                <a:solidFill>
                  <a:srgbClr val="4A5568"/>
                </a:solidFill>
                <a:latin typeface="Microsoft YaHei"/>
                <a:ea typeface="Microsoft YaHei"/>
              </a:rPr>
              <a:t>ω</a:t>
            </a:r>
            <a:r>
              <a:rPr lang="en-US" sz="1050" baseline="-25000" dirty="0" err="1">
                <a:solidFill>
                  <a:srgbClr val="4A5568"/>
                </a:solidFill>
                <a:latin typeface="Microsoft YaHei"/>
                <a:ea typeface="Microsoft YaHei"/>
              </a:rPr>
              <a:t>k</a:t>
            </a:r>
            <a:r>
              <a:rPr lang="en-US" sz="1050" dirty="0">
                <a:solidFill>
                  <a:srgbClr val="4A5568"/>
                </a:solidFill>
                <a:latin typeface="Microsoft YaHei"/>
                <a:ea typeface="Microsoft YaHei"/>
              </a:rPr>
              <a:t> x + </a:t>
            </a:r>
            <a:r>
              <a:rPr lang="en-US" sz="1050" dirty="0" err="1">
                <a:solidFill>
                  <a:srgbClr val="4A5568"/>
                </a:solidFill>
                <a:latin typeface="Microsoft YaHei"/>
                <a:ea typeface="Microsoft YaHei"/>
              </a:rPr>
              <a:t>φ</a:t>
            </a:r>
            <a:r>
              <a:rPr lang="en-US" sz="1050" baseline="-25000" dirty="0" err="1">
                <a:solidFill>
                  <a:srgbClr val="4A5568"/>
                </a:solidFill>
                <a:latin typeface="Microsoft YaHei"/>
                <a:ea typeface="Microsoft YaHei"/>
              </a:rPr>
              <a:t>k</a:t>
            </a:r>
            <a:r>
              <a:rPr lang="en-US" sz="1050" dirty="0">
                <a:solidFill>
                  <a:srgbClr val="4A5568"/>
                </a:solidFill>
                <a:latin typeface="Microsoft YaHei"/>
                <a:ea typeface="Microsoft YaHei"/>
              </a:rPr>
              <a:t>))</a:t>
            </a:r>
            <a:r>
              <a:rPr lang="zh-CN" sz="1050" dirty="0">
                <a:solidFill>
                  <a:srgbClr val="4A5568"/>
                </a:solidFill>
                <a:latin typeface="Microsoft YaHei"/>
                <a:ea typeface="Microsoft YaHei"/>
              </a:rPr>
              <a:t>，复值输出天然保留相位信息，导数在全实轴上不恒为零。核平滑导</a:t>
            </a:r>
            <a:r>
              <a:rPr lang="en-US" sz="1050" dirty="0">
                <a:solidFill>
                  <a:srgbClr val="4A5568"/>
                </a:solidFill>
                <a:latin typeface="Microsoft YaHei"/>
                <a:ea typeface="Microsoft YaHei"/>
              </a:rPr>
              <a:t>-</a:t>
            </a:r>
            <a:r>
              <a:rPr lang="zh-CN" sz="1050" dirty="0">
                <a:solidFill>
                  <a:srgbClr val="4A5568"/>
                </a:solidFill>
                <a:latin typeface="Microsoft YaHei"/>
                <a:ea typeface="Microsoft YaHei"/>
              </a:rPr>
              <a:t>积下降同时利用</a:t>
            </a:r>
            <a:r>
              <a:rPr lang="en-US" sz="1050" dirty="0">
                <a:solidFill>
                  <a:srgbClr val="4A5568"/>
                </a:solidFill>
                <a:latin typeface="Microsoft YaHei"/>
                <a:ea typeface="Microsoft YaHei"/>
              </a:rPr>
              <a:t> N </a:t>
            </a:r>
            <a:r>
              <a:rPr lang="zh-CN" sz="1050" dirty="0">
                <a:solidFill>
                  <a:srgbClr val="4A5568"/>
                </a:solidFill>
                <a:latin typeface="Microsoft YaHei"/>
                <a:ea typeface="Microsoft YaHei"/>
              </a:rPr>
              <a:t>阶导数与</a:t>
            </a:r>
            <a:r>
              <a:rPr lang="en-US" sz="1050" dirty="0">
                <a:solidFill>
                  <a:srgbClr val="4A5568"/>
                </a:solidFill>
                <a:latin typeface="Microsoft YaHei"/>
                <a:ea typeface="Microsoft YaHei"/>
              </a:rPr>
              <a:t> N </a:t>
            </a:r>
            <a:r>
              <a:rPr lang="zh-CN" sz="1050" dirty="0">
                <a:solidFill>
                  <a:srgbClr val="4A5568"/>
                </a:solidFill>
                <a:latin typeface="Microsoft YaHei"/>
                <a:ea typeface="Microsoft YaHei"/>
              </a:rPr>
              <a:t>阶积分信息，让优化器本身具备多尺度结构。</a:t>
            </a:r>
            <a:endParaRPr dirty="0"/>
          </a:p>
        </p:txBody>
      </p:sp>
      <p:sp>
        <p:nvSpPr>
          <p:cNvPr id="164" name="文本框 163" descr="{&quot;isTemplate&quot;:true,&quot;type&quot;:&quot;text&quot;}"/>
          <p:cNvSpPr txBox="1"/>
          <p:nvPr/>
        </p:nvSpPr>
        <p:spPr>
          <a:xfrm>
            <a:off x="6372225" y="5972175"/>
            <a:ext cx="5267325" cy="238125"/>
          </a:xfrm>
          <a:prstGeom prst="rect">
            <a:avLst/>
          </a:prstGeom>
        </p:spPr>
        <p:txBody>
          <a:bodyPr wrap="none" lIns="0" tIns="0" rIns="0" bIns="0"/>
          <a:lstStyle/>
          <a:p>
            <a:pPr>
              <a:lnSpc>
                <a:spcPct val="160000"/>
              </a:lnSpc>
            </a:pPr>
            <a:r>
              <a:rPr lang="zh-CN" sz="975">
                <a:solidFill>
                  <a:srgbClr val="8B97A8"/>
                </a:solidFill>
                <a:latin typeface="Microsoft YaHei"/>
                <a:ea typeface="Microsoft YaHei"/>
              </a:rPr>
              <a:t>两项均为已建立的方法框架，其规模化效果尚待对照实验验证。</a:t>
            </a:r>
            <a:endParaRPr/>
          </a:p>
        </p:txBody>
      </p:sp>
      <p:sp>
        <p:nvSpPr>
          <p:cNvPr id="165" name="文本框 164"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166" name="文本框 165"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15 / 22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3 方法工具与价值&lt;/Text&gt;&#10;    &lt;/Box&gt;&#10;&#10;    &lt;Box style={{ width: '100%', height: 78, paddingLeft: 40, paddingRight: 40, justifyContent: 'center' }}&gt;&#10;        &lt;Text style={{ fontSize: 32, fontWeight: 'bold', color: '#0E3F8C' }}&gt;二十一章应用：同一套诊断语法，落在四个方向上&lt;/Text&gt;&#10;    &lt;/Box&gt;&#10;&#10;    &lt;Box style={{ width: '100%', flex: 1, flexDirection: 'row', gap: 26, paddingLeft: 40, paddingRight: 40, paddingBottom: 16 }}&gt;&#10;&#10;        &lt;Box style={{ width: 620, borderRadius: 6, background: '#FFFFFF', border: '1px solid #E5E7EB', justifyContent: 'center', alignItems: 'center' }}&gt;&#10;            &lt;svg width={616} height={458} viewBox='0 0 700 520'&gt;&#10;&#10;                &lt;rect x='8' y='8' width='336' height='240' rx='6' fill='#E8EFF8' /&gt;&#10;                &lt;text x='24' y='38' fontSize='14' fontWeight='bold' fill='#0E3F8C'&gt;自然与宇宙&lt;/text&gt;&#10;                {['天文', '历法', '地理', '气候', '电磁'].map((t, i) =&gt; (&#10;                    &lt;g key={t}&gt;&#10;                        &lt;rect x={i % 2 === 0 ? 24 : 176} y={54 + Math.floor(i / 2) * 40} width='144' height='32' rx='4' fill='#FFFFFF' stroke='#D6DCE5' /&gt;&#10;                        &lt;text x={(i % 2 === 0 ? 24 : 176) + 72} y={75 + Math.floor(i / 2) * 40} textAnchor='middle' fontSize='13' fill='#1A2230'&gt;{t}&lt;/text&gt;&#10;                    &lt;/g&gt;&#10;                ))}&#10;                &lt;text x='24' y='224' fontSize='11' fill='#4A5568'&gt;开普勒轨道 · 节气朔望 · 米兰科维奇旋回 · ENSO · 麦克斯韦方程组&lt;/text&gt;&#10;&#10;                &lt;rect x='356' y='8' width='336' height='240' rx='6' fill='#F0F5FC' /&gt;&#10;                &lt;text x='372' y='38' fontSize='14' fontWeight='bold' fill='#1E4FA8'&gt;工程与算法&lt;/text&gt;&#10;                {['音频', '机械', '电路与芯片', '周转圆激活函数', '算法系统'].map((t, i) =&gt; (&#10;                    &lt;g key={t}&gt;&#10;                        &lt;rect x={i % 2 === 0 ? 372 : 524} y={54 + Math.floor(i / 2) * 40} width='144' height='32' rx='4' fill='#FFFFFF' stroke='#D6DCE5' /&gt;&#10;                        &lt;text x={(i % 2 === 0 ? 372 : 524) + 72} y={75 + Math.floor(i / 2) * 40} textAnchor='middle' fontSize={t.length &gt; 6 ? 11 : 13} fill='#1A2230'&gt;{t}&lt;/text&gt;&#10;                    &lt;/g&gt;&#10;                ))}&#10;                &lt;text x='372' y='224' fontSize='11' fill='#4A5568'&gt;音律 · 单摆 · 晶振主周转圆 · CEAF · 迭代收敛周期&lt;/text&gt;&#10;&#10;                &lt;rect x='8' y='264' width='336' height='248' rx='6' fill='#F0F5FC' /&gt;&#10;                &lt;text x='24' y='294' fontSize='14' fontWeight='bold' fill='#1E4FA8'&gt;生命与社会&lt;/text&gt;&#10;                {['生物', '心理', '社交', '经济', '政治', '智能体'].map((t, i) =&gt; (&#10;                    &lt;g key={t}&gt;&#10;                        &lt;rect x={i % 2 === 0 ? 24 : 176} y={310 + Math.floor(i / 2) * 40} width='144' height='32' rx='4' fill='#FFFFFF' stroke='#D6DCE5' /&gt;&#10;                        &lt;text x={(i % 2 === 0 ? 24 : 176) + 72} y={331 + Math.floor(i / 2) * 40} textAnchor='middle' fontSize='13' fill='#1A2230'&gt;{t}&lt;/text&gt;&#10;                    &lt;/g&gt;&#10;                ))}&#10;                &lt;text x='24' y='486' fontSize='11' fill='#4A5568'&gt;昼夜节律 · 情绪周期 · 时尚周期 · 康波 · 王朝更迭 · 相位同步&lt;/text&gt;&#10;&#10;                &lt;rect x='356' y='264' width='336' height='248' rx='6' fill='#E8EFF8' /&gt;&#10;                &lt;text x='372' y='294' fontSize='14' fontWeight='bold' fill='#0E3F8C'&gt;符号与数据&lt;/text&gt;&#10;                {['易经', '概率系统', '密码系统', '数据分析', '建模与分析'].map((t, i) =&gt; (&#10;                    &lt;g key={t}&gt;&#10;                        &lt;rect x={i % 2 === 0 ? 372 : 524} y={310 + Math.floor(i / 2) * 40} width='144' height='32' rx='4' fill='#FFFFFF' stroke='#D6DCE5' /&gt;&#10;                        &lt;text x={(i % 2 === 0 ? 372 : 524) + 72} y={331 + Math.floor(i / 2) * 40} textAnchor='middle' fontSize='13' fill='#1A2230'&gt;{t}&lt;/text&gt;&#10;                    &lt;/g&gt;&#10;                ))}&#10;                &lt;text x='372' y='486' fontSize='11' fill='#4A5568'&gt;十三符号相位算子 · 贝叶斯更新 · LFSR 状态周期 · 相位耦合网络&lt;/text&gt;&#10;            &lt;/svg&gt;&#10;        &lt;/Box&gt;&#10;&#10;        &lt;Box style={{ flex: 1, flexDirection: 'column' }}&gt;&#10;            &lt;Text style={{ fontSize: 20, fontWeight: 'bold', color: '#0E3F8C', marginBottom: 12 }}&gt;每章都按同一套模板展开&lt;/Text&gt;&#10;            &lt;Text style={{ fontSize: 15, color: '#4A5568', lineHeight: 1.85 }}&gt;&#10;                {`覆盖 21 个领域本身不构成价值——把同一本书的目录铺开，也可以看起来很宽。真正需要检验的是：这些章节是否在回答同一组问题。`}&#10;            &lt;/Text&gt;&#10;&#10;            &lt;Box style={{ marginTop: 16 }}&gt;&#10;                {[&#10;                    ['对称群', '这个系统在什么变换群下保持内禀结构？'],&#10;                    ['守恒量', '是否存在在该变换下不变的量，把轨道约束在低维子集上？'],&#10;                    ['周期结构', '轨道是否闭合？闭合到什么程度？'],&#10;                    ['守恒律', '周期在什么条件下生成、维持、破缺？'],&#10;                ].map((it, i) =&gt; (&#10;                    &lt;Box key={i} style={{ flexDirection: 'row', alignItems: 'flex-start', gap: 14, paddingTop: 11, paddingBottom: 11, borderTop: '1px solid #E5E7EB' }}&gt;&#10;                        &lt;Text style={{ fontSize: 15, fontWeight: 'bold', color: '#1E4FA8', width: 72 }}&gt;{it[0]}&lt;/Text&gt;&#10;                        &lt;Text style={{ flex: 1, fontSize: 14, color: '#4A5568', lineHeight: 1.65 }}&gt;{it[1]}&lt;/Text&gt;&#10;                    &lt;/Box&gt;&#10;                ))}&#10;            &lt;/Box&gt;&#10;&#10;            &lt;Box style={{ flex: 1 }} /&gt;&#10;&#10;            &lt;Box style={{ padding: 16, borderRadius: 6, background: '#0E3F8C' }}&gt;&#10;                &lt;Text style={{ fontSize: 15, color: '#DCE7F7', lineHeight: 1.7 }}&gt;&#10;                    {`对于满足条件的系统，给出严格的周期结构描述；对于部分满足的，`}&#10;                    &lt;span style={{ fontWeight: 'bold', color: '#FFFFFF' }}&gt;精确测量其偏离闭合轨道的程度&lt;/span&gt;&#10;                    {`；对于不满足的，明确承认它的&quot;周期性&quot;只是隐喻。`}&#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16 / 22&lt;/Text&gt;&#10;    &lt;/Box&gt;&#10;&lt;/Slide&gt;&#10;"/>
        <p:cNvGrpSpPr/>
        <p:nvPr/>
      </p:nvGrpSpPr>
      <p:grpSpPr>
        <a:xfrm>
          <a:off x="0" y="0"/>
          <a:ext cx="0" cy="0"/>
          <a:chOff x="0" y="0"/>
          <a:chExt cx="0" cy="0"/>
        </a:xfrm>
      </p:grpSpPr>
      <p:sp>
        <p:nvSpPr>
          <p:cNvPr id="168" name="矩形 167"/>
          <p:cNvSpPr/>
          <p:nvPr/>
        </p:nvSpPr>
        <p:spPr>
          <a:xfrm>
            <a:off x="0" y="0"/>
            <a:ext cx="12192000" cy="6858000"/>
          </a:xfrm>
          <a:prstGeom prst="rect">
            <a:avLst/>
          </a:prstGeom>
          <a:solidFill>
            <a:srgbClr val="FFFFFF"/>
          </a:solidFill>
          <a:ln/>
        </p:spPr>
        <p:txBody>
          <a:bodyPr/>
          <a:lstStyle/>
          <a:p>
            <a:endParaRPr/>
          </a:p>
        </p:txBody>
      </p:sp>
      <p:sp>
        <p:nvSpPr>
          <p:cNvPr id="169" name="矩形 168"/>
          <p:cNvSpPr/>
          <p:nvPr/>
        </p:nvSpPr>
        <p:spPr>
          <a:xfrm>
            <a:off x="0" y="0"/>
            <a:ext cx="12192000" cy="76200"/>
          </a:xfrm>
          <a:prstGeom prst="rect">
            <a:avLst/>
          </a:prstGeom>
          <a:solidFill>
            <a:srgbClr val="1E4FA8"/>
          </a:solidFill>
          <a:ln/>
        </p:spPr>
        <p:txBody>
          <a:bodyPr/>
          <a:lstStyle/>
          <a:p>
            <a:endParaRPr/>
          </a:p>
        </p:txBody>
      </p:sp>
      <p:sp>
        <p:nvSpPr>
          <p:cNvPr id="170" name="任意多边形: 形状 169"/>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171" name="文本框 170"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172" name="文本框 171"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03 </a:t>
            </a:r>
            <a:r>
              <a:rPr lang="zh-CN" sz="1050" spc="75">
                <a:solidFill>
                  <a:srgbClr val="1E4FA8"/>
                </a:solidFill>
                <a:latin typeface="Microsoft YaHei"/>
                <a:ea typeface="Microsoft YaHei"/>
              </a:rPr>
              <a:t>方法工具与价值</a:t>
            </a:r>
            <a:endParaRPr/>
          </a:p>
        </p:txBody>
      </p:sp>
      <p:sp>
        <p:nvSpPr>
          <p:cNvPr id="173" name="文本框 172"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二十一章应用：同一套诊断语法，落在四个方向上</a:t>
            </a:r>
            <a:endParaRPr/>
          </a:p>
        </p:txBody>
      </p:sp>
      <p:grpSp>
        <p:nvGrpSpPr>
          <p:cNvPr id="149" name="组合 148">
            <a:extLst>
              <a:ext uri="{FF2B5EF4-FFF2-40B4-BE49-F238E27FC236}">
                <a16:creationId xmlns:a16="http://schemas.microsoft.com/office/drawing/2014/main" id="{48461E3B-E2F1-670B-5778-FDC9DAC4F736}"/>
              </a:ext>
            </a:extLst>
          </p:cNvPr>
          <p:cNvGrpSpPr/>
          <p:nvPr/>
        </p:nvGrpSpPr>
        <p:grpSpPr>
          <a:xfrm>
            <a:off x="381000" y="1352550"/>
            <a:ext cx="5905500" cy="5029200"/>
            <a:chOff x="381000" y="1352550"/>
            <a:chExt cx="5905500" cy="5029200"/>
          </a:xfrm>
        </p:grpSpPr>
        <p:sp>
          <p:nvSpPr>
            <p:cNvPr id="174" name="矩形: 圆角 173"/>
            <p:cNvSpPr/>
            <p:nvPr/>
          </p:nvSpPr>
          <p:spPr>
            <a:xfrm>
              <a:off x="381000" y="1352550"/>
              <a:ext cx="5905500" cy="5029200"/>
            </a:xfrm>
            <a:prstGeom prst="roundRect">
              <a:avLst>
                <a:gd name="adj" fmla="val 1136"/>
              </a:avLst>
            </a:prstGeom>
            <a:solidFill>
              <a:srgbClr val="FFFFFF"/>
            </a:solidFill>
            <a:ln w="12700">
              <a:solidFill>
                <a:srgbClr val="E5E7EB"/>
              </a:solidFill>
              <a:prstDash val="solid"/>
            </a:ln>
          </p:spPr>
          <p:txBody>
            <a:bodyPr/>
            <a:lstStyle/>
            <a:p>
              <a:endParaRPr/>
            </a:p>
          </p:txBody>
        </p:sp>
        <p:grpSp>
          <p:nvGrpSpPr>
            <p:cNvPr id="142" name="组合 141">
              <a:extLst>
                <a:ext uri="{FF2B5EF4-FFF2-40B4-BE49-F238E27FC236}">
                  <a16:creationId xmlns:a16="http://schemas.microsoft.com/office/drawing/2014/main" id="{5EE98E92-1DA9-C8CB-C0E5-D2D2E28F5DAA}"/>
                </a:ext>
              </a:extLst>
            </p:cNvPr>
            <p:cNvGrpSpPr/>
            <p:nvPr/>
          </p:nvGrpSpPr>
          <p:grpSpPr>
            <a:xfrm>
              <a:off x="467106" y="1753039"/>
              <a:ext cx="2816352" cy="2013438"/>
              <a:chOff x="467106" y="1753039"/>
              <a:chExt cx="2816352" cy="2013438"/>
            </a:xfrm>
          </p:grpSpPr>
          <p:sp>
            <p:nvSpPr>
              <p:cNvPr id="3" name="任意多边形: 形状 2">
                <a:extLst>
                  <a:ext uri="{FF2B5EF4-FFF2-40B4-BE49-F238E27FC236}">
                    <a16:creationId xmlns:a16="http://schemas.microsoft.com/office/drawing/2014/main" id="{6F54AB90-7127-2BDC-8FD2-27427ADEF351}"/>
                  </a:ext>
                </a:extLst>
              </p:cNvPr>
              <p:cNvSpPr/>
              <p:nvPr/>
            </p:nvSpPr>
            <p:spPr>
              <a:xfrm>
                <a:off x="467106" y="1753039"/>
                <a:ext cx="2816352" cy="2013438"/>
              </a:xfrm>
              <a:custGeom>
                <a:avLst/>
                <a:gdLst>
                  <a:gd name="connsiteX0" fmla="*/ 2766060 w 2816352"/>
                  <a:gd name="connsiteY0" fmla="*/ 0 h 2013438"/>
                  <a:gd name="connsiteX1" fmla="*/ 2816352 w 2816352"/>
                  <a:gd name="connsiteY1" fmla="*/ 0 h 2013438"/>
                  <a:gd name="connsiteX2" fmla="*/ 2816352 w 2816352"/>
                  <a:gd name="connsiteY2" fmla="*/ 2013439 h 2013438"/>
                  <a:gd name="connsiteX3" fmla="*/ 2766060 w 2816352"/>
                  <a:gd name="connsiteY3" fmla="*/ 2013439 h 2013438"/>
                  <a:gd name="connsiteX4" fmla="*/ 50292 w 2816352"/>
                  <a:gd name="connsiteY4" fmla="*/ 2013439 h 2013438"/>
                  <a:gd name="connsiteX5" fmla="*/ 0 w 2816352"/>
                  <a:gd name="connsiteY5" fmla="*/ 2013439 h 2013438"/>
                  <a:gd name="connsiteX6" fmla="*/ 0 w 2816352"/>
                  <a:gd name="connsiteY6" fmla="*/ 0 h 2013438"/>
                  <a:gd name="connsiteX7" fmla="*/ 50292 w 2816352"/>
                  <a:gd name="connsiteY7" fmla="*/ 0 h 2013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6352" h="2013438">
                    <a:moveTo>
                      <a:pt x="2766060" y="0"/>
                    </a:moveTo>
                    <a:cubicBezTo>
                      <a:pt x="2793836" y="0"/>
                      <a:pt x="2816352" y="0"/>
                      <a:pt x="2816352" y="0"/>
                    </a:cubicBezTo>
                    <a:lnTo>
                      <a:pt x="2816352" y="2013439"/>
                    </a:lnTo>
                    <a:cubicBezTo>
                      <a:pt x="2816352" y="2013439"/>
                      <a:pt x="2793836" y="2013439"/>
                      <a:pt x="2766060" y="2013439"/>
                    </a:cubicBezTo>
                    <a:lnTo>
                      <a:pt x="50292" y="2013439"/>
                    </a:lnTo>
                    <a:cubicBezTo>
                      <a:pt x="22516" y="2013439"/>
                      <a:pt x="0" y="2013439"/>
                      <a:pt x="0" y="2013439"/>
                    </a:cubicBezTo>
                    <a:lnTo>
                      <a:pt x="0" y="0"/>
                    </a:lnTo>
                    <a:cubicBezTo>
                      <a:pt x="0" y="0"/>
                      <a:pt x="22516" y="0"/>
                      <a:pt x="50292" y="0"/>
                    </a:cubicBezTo>
                    <a:close/>
                  </a:path>
                </a:pathLst>
              </a:custGeom>
              <a:solidFill>
                <a:srgbClr val="E8EFF8"/>
              </a:solidFill>
              <a:ln w="8382" cap="flat">
                <a:noFill/>
                <a:prstDash val="solid"/>
                <a:miter/>
              </a:ln>
            </p:spPr>
            <p:txBody>
              <a:bodyPr rtlCol="0" anchor="ctr"/>
              <a:lstStyle/>
              <a:p>
                <a:endParaRPr lang="zh-CN" altLang="en-US"/>
              </a:p>
            </p:txBody>
          </p:sp>
          <p:sp>
            <p:nvSpPr>
              <p:cNvPr id="4" name="文本框 3">
                <a:extLst>
                  <a:ext uri="{FF2B5EF4-FFF2-40B4-BE49-F238E27FC236}">
                    <a16:creationId xmlns:a16="http://schemas.microsoft.com/office/drawing/2014/main" id="{CF736545-3B05-2DFD-684A-FA27327A807A}"/>
                  </a:ext>
                </a:extLst>
              </p:cNvPr>
              <p:cNvSpPr txBox="1"/>
              <p:nvPr/>
            </p:nvSpPr>
            <p:spPr>
              <a:xfrm>
                <a:off x="509778" y="1833159"/>
                <a:ext cx="769620" cy="250837"/>
              </a:xfrm>
              <a:prstGeom prst="rect">
                <a:avLst/>
              </a:prstGeom>
              <a:noFill/>
            </p:spPr>
            <p:txBody>
              <a:bodyPr wrap="none" rtlCol="0">
                <a:spAutoFit/>
              </a:bodyPr>
              <a:lstStyle/>
              <a:p>
                <a:pPr algn="l"/>
                <a:r>
                  <a:rPr lang="zh-CN" altLang="en-US" sz="1050" b="1" spc="0" baseline="0">
                    <a:ln/>
                    <a:solidFill>
                      <a:srgbClr val="0E3F8C"/>
                    </a:solidFill>
                    <a:latin typeface="微软雅黑"/>
                    <a:ea typeface="微软雅黑"/>
                    <a:sym typeface="微软雅黑"/>
                    <a:rtl val="0"/>
                  </a:rPr>
                  <a:t>自然与宇宙</a:t>
                </a:r>
              </a:p>
            </p:txBody>
          </p:sp>
          <p:grpSp>
            <p:nvGrpSpPr>
              <p:cNvPr id="5" name="图形 174">
                <a:extLst>
                  <a:ext uri="{FF2B5EF4-FFF2-40B4-BE49-F238E27FC236}">
                    <a16:creationId xmlns:a16="http://schemas.microsoft.com/office/drawing/2014/main" id="{252B2A51-E613-B16B-8A89-2CC9C3B5A124}"/>
                  </a:ext>
                </a:extLst>
              </p:cNvPr>
              <p:cNvGrpSpPr/>
              <p:nvPr/>
            </p:nvGrpSpPr>
            <p:grpSpPr>
              <a:xfrm>
                <a:off x="601218" y="2138948"/>
                <a:ext cx="1207008" cy="268458"/>
                <a:chOff x="601218" y="2138948"/>
                <a:chExt cx="1207008" cy="268458"/>
              </a:xfrm>
            </p:grpSpPr>
            <p:sp>
              <p:nvSpPr>
                <p:cNvPr id="6" name="任意多边形: 形状 5">
                  <a:extLst>
                    <a:ext uri="{FF2B5EF4-FFF2-40B4-BE49-F238E27FC236}">
                      <a16:creationId xmlns:a16="http://schemas.microsoft.com/office/drawing/2014/main" id="{8A947EBF-2BCE-BEEE-9743-D454374F01B7}"/>
                    </a:ext>
                  </a:extLst>
                </p:cNvPr>
                <p:cNvSpPr/>
                <p:nvPr/>
              </p:nvSpPr>
              <p:spPr>
                <a:xfrm>
                  <a:off x="601218" y="2138948"/>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7" name="文本框 6">
                  <a:extLst>
                    <a:ext uri="{FF2B5EF4-FFF2-40B4-BE49-F238E27FC236}">
                      <a16:creationId xmlns:a16="http://schemas.microsoft.com/office/drawing/2014/main" id="{05F71EB0-E6CF-DAE5-CC43-CB26B75170BB}"/>
                    </a:ext>
                  </a:extLst>
                </p:cNvPr>
                <p:cNvSpPr txBox="1"/>
                <p:nvPr/>
              </p:nvSpPr>
              <p:spPr>
                <a:xfrm>
                  <a:off x="1004316" y="2151953"/>
                  <a:ext cx="400812"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天文</a:t>
                  </a:r>
                </a:p>
              </p:txBody>
            </p:sp>
          </p:grpSp>
          <p:grpSp>
            <p:nvGrpSpPr>
              <p:cNvPr id="8" name="图形 174">
                <a:extLst>
                  <a:ext uri="{FF2B5EF4-FFF2-40B4-BE49-F238E27FC236}">
                    <a16:creationId xmlns:a16="http://schemas.microsoft.com/office/drawing/2014/main" id="{14A75ABD-A58B-D7D7-7116-1DA1FAD4A270}"/>
                  </a:ext>
                </a:extLst>
              </p:cNvPr>
              <p:cNvGrpSpPr/>
              <p:nvPr/>
            </p:nvGrpSpPr>
            <p:grpSpPr>
              <a:xfrm>
                <a:off x="1875282" y="2138948"/>
                <a:ext cx="1207008" cy="268458"/>
                <a:chOff x="1875282" y="2138948"/>
                <a:chExt cx="1207008" cy="268458"/>
              </a:xfrm>
            </p:grpSpPr>
            <p:sp>
              <p:nvSpPr>
                <p:cNvPr id="9" name="任意多边形: 形状 8">
                  <a:extLst>
                    <a:ext uri="{FF2B5EF4-FFF2-40B4-BE49-F238E27FC236}">
                      <a16:creationId xmlns:a16="http://schemas.microsoft.com/office/drawing/2014/main" id="{547E997F-4556-3D8A-F166-9E2A6F55EE3F}"/>
                    </a:ext>
                  </a:extLst>
                </p:cNvPr>
                <p:cNvSpPr/>
                <p:nvPr/>
              </p:nvSpPr>
              <p:spPr>
                <a:xfrm>
                  <a:off x="1875282" y="2138948"/>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0" name="文本框 9">
                  <a:extLst>
                    <a:ext uri="{FF2B5EF4-FFF2-40B4-BE49-F238E27FC236}">
                      <a16:creationId xmlns:a16="http://schemas.microsoft.com/office/drawing/2014/main" id="{32386068-D6B2-9A20-1CAC-51049B7520F3}"/>
                    </a:ext>
                  </a:extLst>
                </p:cNvPr>
                <p:cNvSpPr txBox="1"/>
                <p:nvPr/>
              </p:nvSpPr>
              <p:spPr>
                <a:xfrm>
                  <a:off x="2278380" y="2151953"/>
                  <a:ext cx="400812"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历法</a:t>
                  </a:r>
                </a:p>
              </p:txBody>
            </p:sp>
          </p:grpSp>
          <p:grpSp>
            <p:nvGrpSpPr>
              <p:cNvPr id="11" name="图形 174">
                <a:extLst>
                  <a:ext uri="{FF2B5EF4-FFF2-40B4-BE49-F238E27FC236}">
                    <a16:creationId xmlns:a16="http://schemas.microsoft.com/office/drawing/2014/main" id="{24CD2FD5-8487-A059-EEDE-079A94B8BCA8}"/>
                  </a:ext>
                </a:extLst>
              </p:cNvPr>
              <p:cNvGrpSpPr/>
              <p:nvPr/>
            </p:nvGrpSpPr>
            <p:grpSpPr>
              <a:xfrm>
                <a:off x="601218" y="2474521"/>
                <a:ext cx="1207008" cy="268458"/>
                <a:chOff x="601218" y="2474521"/>
                <a:chExt cx="1207008" cy="268458"/>
              </a:xfrm>
            </p:grpSpPr>
            <p:sp>
              <p:nvSpPr>
                <p:cNvPr id="12" name="任意多边形: 形状 11">
                  <a:extLst>
                    <a:ext uri="{FF2B5EF4-FFF2-40B4-BE49-F238E27FC236}">
                      <a16:creationId xmlns:a16="http://schemas.microsoft.com/office/drawing/2014/main" id="{33C7BD88-F2F2-5FA1-A1C3-6152BED3CF7B}"/>
                    </a:ext>
                  </a:extLst>
                </p:cNvPr>
                <p:cNvSpPr/>
                <p:nvPr/>
              </p:nvSpPr>
              <p:spPr>
                <a:xfrm>
                  <a:off x="601218" y="2474521"/>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3" name="文本框 12">
                  <a:extLst>
                    <a:ext uri="{FF2B5EF4-FFF2-40B4-BE49-F238E27FC236}">
                      <a16:creationId xmlns:a16="http://schemas.microsoft.com/office/drawing/2014/main" id="{01801651-D649-043E-E737-9BC19BB2B0B9}"/>
                    </a:ext>
                  </a:extLst>
                </p:cNvPr>
                <p:cNvSpPr txBox="1"/>
                <p:nvPr/>
              </p:nvSpPr>
              <p:spPr>
                <a:xfrm>
                  <a:off x="1004316" y="2487527"/>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地理</a:t>
                  </a:r>
                </a:p>
              </p:txBody>
            </p:sp>
          </p:grpSp>
          <p:grpSp>
            <p:nvGrpSpPr>
              <p:cNvPr id="14" name="图形 174">
                <a:extLst>
                  <a:ext uri="{FF2B5EF4-FFF2-40B4-BE49-F238E27FC236}">
                    <a16:creationId xmlns:a16="http://schemas.microsoft.com/office/drawing/2014/main" id="{FC08E896-6698-54D3-0F20-18EFE0B5608C}"/>
                  </a:ext>
                </a:extLst>
              </p:cNvPr>
              <p:cNvGrpSpPr/>
              <p:nvPr/>
            </p:nvGrpSpPr>
            <p:grpSpPr>
              <a:xfrm>
                <a:off x="1875282" y="2474521"/>
                <a:ext cx="1207008" cy="268458"/>
                <a:chOff x="1875282" y="2474521"/>
                <a:chExt cx="1207008" cy="268458"/>
              </a:xfrm>
            </p:grpSpPr>
            <p:sp>
              <p:nvSpPr>
                <p:cNvPr id="15" name="任意多边形: 形状 14">
                  <a:extLst>
                    <a:ext uri="{FF2B5EF4-FFF2-40B4-BE49-F238E27FC236}">
                      <a16:creationId xmlns:a16="http://schemas.microsoft.com/office/drawing/2014/main" id="{1113AF5E-695E-58AE-1DA5-3961EE312CBA}"/>
                    </a:ext>
                  </a:extLst>
                </p:cNvPr>
                <p:cNvSpPr/>
                <p:nvPr/>
              </p:nvSpPr>
              <p:spPr>
                <a:xfrm>
                  <a:off x="1875282" y="2474521"/>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6" name="文本框 15">
                  <a:extLst>
                    <a:ext uri="{FF2B5EF4-FFF2-40B4-BE49-F238E27FC236}">
                      <a16:creationId xmlns:a16="http://schemas.microsoft.com/office/drawing/2014/main" id="{ABF72422-9D33-1377-7B8A-3EB3A09DEF70}"/>
                    </a:ext>
                  </a:extLst>
                </p:cNvPr>
                <p:cNvSpPr txBox="1"/>
                <p:nvPr/>
              </p:nvSpPr>
              <p:spPr>
                <a:xfrm>
                  <a:off x="2278380" y="2487527"/>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气候</a:t>
                  </a:r>
                </a:p>
              </p:txBody>
            </p:sp>
          </p:grpSp>
          <p:grpSp>
            <p:nvGrpSpPr>
              <p:cNvPr id="17" name="图形 174">
                <a:extLst>
                  <a:ext uri="{FF2B5EF4-FFF2-40B4-BE49-F238E27FC236}">
                    <a16:creationId xmlns:a16="http://schemas.microsoft.com/office/drawing/2014/main" id="{FD145DAD-C5BF-243E-8C58-A48EC5A8A68A}"/>
                  </a:ext>
                </a:extLst>
              </p:cNvPr>
              <p:cNvGrpSpPr/>
              <p:nvPr/>
            </p:nvGrpSpPr>
            <p:grpSpPr>
              <a:xfrm>
                <a:off x="601218" y="2810094"/>
                <a:ext cx="1207008" cy="268458"/>
                <a:chOff x="601218" y="2810094"/>
                <a:chExt cx="1207008" cy="268458"/>
              </a:xfrm>
            </p:grpSpPr>
            <p:sp>
              <p:nvSpPr>
                <p:cNvPr id="18" name="任意多边形: 形状 17">
                  <a:extLst>
                    <a:ext uri="{FF2B5EF4-FFF2-40B4-BE49-F238E27FC236}">
                      <a16:creationId xmlns:a16="http://schemas.microsoft.com/office/drawing/2014/main" id="{EB7401D9-BD87-90CB-1C4E-9CB4D05EF3AA}"/>
                    </a:ext>
                  </a:extLst>
                </p:cNvPr>
                <p:cNvSpPr/>
                <p:nvPr/>
              </p:nvSpPr>
              <p:spPr>
                <a:xfrm>
                  <a:off x="601218" y="2810094"/>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9" name="文本框 18">
                  <a:extLst>
                    <a:ext uri="{FF2B5EF4-FFF2-40B4-BE49-F238E27FC236}">
                      <a16:creationId xmlns:a16="http://schemas.microsoft.com/office/drawing/2014/main" id="{D4885BCA-70D3-5F5C-A0FB-2B3AE3D8C803}"/>
                    </a:ext>
                  </a:extLst>
                </p:cNvPr>
                <p:cNvSpPr txBox="1"/>
                <p:nvPr/>
              </p:nvSpPr>
              <p:spPr>
                <a:xfrm>
                  <a:off x="1004316" y="2823100"/>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电磁</a:t>
                  </a:r>
                </a:p>
              </p:txBody>
            </p:sp>
          </p:grpSp>
          <p:sp>
            <p:nvSpPr>
              <p:cNvPr id="20" name="文本框 19">
                <a:extLst>
                  <a:ext uri="{FF2B5EF4-FFF2-40B4-BE49-F238E27FC236}">
                    <a16:creationId xmlns:a16="http://schemas.microsoft.com/office/drawing/2014/main" id="{06B1FCE0-110B-D470-1CD9-D465CA177F87}"/>
                  </a:ext>
                </a:extLst>
              </p:cNvPr>
              <p:cNvSpPr txBox="1"/>
              <p:nvPr/>
            </p:nvSpPr>
            <p:spPr>
              <a:xfrm>
                <a:off x="685162" y="3306649"/>
                <a:ext cx="2246128" cy="369332"/>
              </a:xfrm>
              <a:prstGeom prst="rect">
                <a:avLst/>
              </a:prstGeom>
              <a:noFill/>
            </p:spPr>
            <p:txBody>
              <a:bodyPr wrap="square" rtlCol="0">
                <a:spAutoFit/>
              </a:bodyPr>
              <a:lstStyle/>
              <a:p>
                <a:pPr algn="l"/>
                <a:r>
                  <a:rPr lang="zh-CN" altLang="en-US" sz="900" spc="0" baseline="0" dirty="0">
                    <a:ln/>
                    <a:solidFill>
                      <a:srgbClr val="4A5568"/>
                    </a:solidFill>
                    <a:latin typeface="微软雅黑"/>
                    <a:ea typeface="微软雅黑"/>
                    <a:sym typeface="微软雅黑"/>
                    <a:rtl val="0"/>
                  </a:rPr>
                  <a:t>开普勒轨道</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节气朔望</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米兰科维奇旋回</a:t>
                </a:r>
                <a:r>
                  <a:rPr lang="zh-CN" altLang="en-US" sz="825" spc="0" baseline="0" dirty="0">
                    <a:ln/>
                    <a:solidFill>
                      <a:srgbClr val="4A5568"/>
                    </a:solidFill>
                    <a:latin typeface="Arial"/>
                    <a:ea typeface="微软雅黑"/>
                    <a:cs typeface="Arial"/>
                    <a:sym typeface="Arial"/>
                    <a:rtl val="0"/>
                  </a:rPr>
                  <a:t> </a:t>
                </a:r>
                <a:endParaRPr lang="en-US" altLang="zh-CN" sz="825" spc="0" baseline="0" dirty="0">
                  <a:ln/>
                  <a:solidFill>
                    <a:srgbClr val="4A5568"/>
                  </a:solidFill>
                  <a:latin typeface="Arial"/>
                  <a:ea typeface="微软雅黑"/>
                  <a:cs typeface="Arial"/>
                  <a:sym typeface="Arial"/>
                  <a:rtl val="0"/>
                </a:endParaRPr>
              </a:p>
              <a:p>
                <a:pPr algn="l"/>
                <a:r>
                  <a:rPr lang="zh-CN" altLang="en-US" sz="825" spc="0" baseline="0" dirty="0">
                    <a:ln/>
                    <a:solidFill>
                      <a:srgbClr val="4A5568"/>
                    </a:solidFill>
                    <a:latin typeface="Arial"/>
                    <a:ea typeface="微软雅黑"/>
                    <a:cs typeface="Arial"/>
                    <a:sym typeface="Arial"/>
                    <a:rtl val="0"/>
                  </a:rPr>
                  <a:t>· ENSO · </a:t>
                </a:r>
                <a:r>
                  <a:rPr lang="zh-CN" altLang="en-US" sz="900" spc="0" baseline="0" dirty="0">
                    <a:ln/>
                    <a:solidFill>
                      <a:srgbClr val="4A5568"/>
                    </a:solidFill>
                    <a:latin typeface="微软雅黑"/>
                    <a:ea typeface="微软雅黑"/>
                    <a:cs typeface="Arial"/>
                    <a:sym typeface="微软雅黑"/>
                    <a:rtl val="0"/>
                  </a:rPr>
                  <a:t>麦克斯韦方程组</a:t>
                </a:r>
              </a:p>
            </p:txBody>
          </p:sp>
        </p:grpSp>
        <p:grpSp>
          <p:nvGrpSpPr>
            <p:cNvPr id="146" name="组合 145">
              <a:extLst>
                <a:ext uri="{FF2B5EF4-FFF2-40B4-BE49-F238E27FC236}">
                  <a16:creationId xmlns:a16="http://schemas.microsoft.com/office/drawing/2014/main" id="{7ABB5E7A-93A0-F099-DD5A-B32ABADBBD0D}"/>
                </a:ext>
              </a:extLst>
            </p:cNvPr>
            <p:cNvGrpSpPr/>
            <p:nvPr/>
          </p:nvGrpSpPr>
          <p:grpSpPr>
            <a:xfrm>
              <a:off x="3384042" y="1753039"/>
              <a:ext cx="2816352" cy="2013438"/>
              <a:chOff x="3384042" y="1753039"/>
              <a:chExt cx="2816352" cy="2013438"/>
            </a:xfrm>
          </p:grpSpPr>
          <p:sp>
            <p:nvSpPr>
              <p:cNvPr id="21" name="任意多边形: 形状 20">
                <a:extLst>
                  <a:ext uri="{FF2B5EF4-FFF2-40B4-BE49-F238E27FC236}">
                    <a16:creationId xmlns:a16="http://schemas.microsoft.com/office/drawing/2014/main" id="{7303E324-FECA-0954-8BB4-F51ECACE8BE3}"/>
                  </a:ext>
                </a:extLst>
              </p:cNvPr>
              <p:cNvSpPr/>
              <p:nvPr/>
            </p:nvSpPr>
            <p:spPr>
              <a:xfrm>
                <a:off x="3384042" y="1753039"/>
                <a:ext cx="2816352" cy="2013438"/>
              </a:xfrm>
              <a:custGeom>
                <a:avLst/>
                <a:gdLst>
                  <a:gd name="connsiteX0" fmla="*/ 2766060 w 2816352"/>
                  <a:gd name="connsiteY0" fmla="*/ 0 h 2013438"/>
                  <a:gd name="connsiteX1" fmla="*/ 2816352 w 2816352"/>
                  <a:gd name="connsiteY1" fmla="*/ 0 h 2013438"/>
                  <a:gd name="connsiteX2" fmla="*/ 2816352 w 2816352"/>
                  <a:gd name="connsiteY2" fmla="*/ 2013439 h 2013438"/>
                  <a:gd name="connsiteX3" fmla="*/ 2766060 w 2816352"/>
                  <a:gd name="connsiteY3" fmla="*/ 2013439 h 2013438"/>
                  <a:gd name="connsiteX4" fmla="*/ 50292 w 2816352"/>
                  <a:gd name="connsiteY4" fmla="*/ 2013439 h 2013438"/>
                  <a:gd name="connsiteX5" fmla="*/ 0 w 2816352"/>
                  <a:gd name="connsiteY5" fmla="*/ 2013439 h 2013438"/>
                  <a:gd name="connsiteX6" fmla="*/ 0 w 2816352"/>
                  <a:gd name="connsiteY6" fmla="*/ 0 h 2013438"/>
                  <a:gd name="connsiteX7" fmla="*/ 50292 w 2816352"/>
                  <a:gd name="connsiteY7" fmla="*/ 0 h 2013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6352" h="2013438">
                    <a:moveTo>
                      <a:pt x="2766060" y="0"/>
                    </a:moveTo>
                    <a:cubicBezTo>
                      <a:pt x="2793836" y="0"/>
                      <a:pt x="2816352" y="0"/>
                      <a:pt x="2816352" y="0"/>
                    </a:cubicBezTo>
                    <a:lnTo>
                      <a:pt x="2816352" y="2013439"/>
                    </a:lnTo>
                    <a:cubicBezTo>
                      <a:pt x="2816352" y="2013439"/>
                      <a:pt x="2793836" y="2013439"/>
                      <a:pt x="2766060" y="2013439"/>
                    </a:cubicBezTo>
                    <a:lnTo>
                      <a:pt x="50292" y="2013439"/>
                    </a:lnTo>
                    <a:cubicBezTo>
                      <a:pt x="22516" y="2013439"/>
                      <a:pt x="0" y="2013439"/>
                      <a:pt x="0" y="2013439"/>
                    </a:cubicBezTo>
                    <a:lnTo>
                      <a:pt x="0" y="0"/>
                    </a:lnTo>
                    <a:cubicBezTo>
                      <a:pt x="0" y="0"/>
                      <a:pt x="22516" y="0"/>
                      <a:pt x="50292" y="0"/>
                    </a:cubicBezTo>
                    <a:close/>
                  </a:path>
                </a:pathLst>
              </a:custGeom>
              <a:solidFill>
                <a:srgbClr val="F0F5FC"/>
              </a:solidFill>
              <a:ln w="8382" cap="flat">
                <a:noFill/>
                <a:prstDash val="solid"/>
                <a:miter/>
              </a:ln>
            </p:spPr>
            <p:txBody>
              <a:bodyPr rtlCol="0" anchor="ctr"/>
              <a:lstStyle/>
              <a:p>
                <a:endParaRPr lang="zh-CN" altLang="en-US"/>
              </a:p>
            </p:txBody>
          </p:sp>
          <p:sp>
            <p:nvSpPr>
              <p:cNvPr id="22" name="文本框 21">
                <a:extLst>
                  <a:ext uri="{FF2B5EF4-FFF2-40B4-BE49-F238E27FC236}">
                    <a16:creationId xmlns:a16="http://schemas.microsoft.com/office/drawing/2014/main" id="{2F0C0CE8-68B7-045D-3B57-C3B73B10C4F0}"/>
                  </a:ext>
                </a:extLst>
              </p:cNvPr>
              <p:cNvSpPr txBox="1"/>
              <p:nvPr/>
            </p:nvSpPr>
            <p:spPr>
              <a:xfrm>
                <a:off x="3426714" y="1833159"/>
                <a:ext cx="769620" cy="250837"/>
              </a:xfrm>
              <a:prstGeom prst="rect">
                <a:avLst/>
              </a:prstGeom>
              <a:noFill/>
            </p:spPr>
            <p:txBody>
              <a:bodyPr wrap="none" rtlCol="0">
                <a:spAutoFit/>
              </a:bodyPr>
              <a:lstStyle/>
              <a:p>
                <a:pPr algn="l"/>
                <a:r>
                  <a:rPr lang="zh-CN" altLang="en-US" sz="1050" b="1" spc="0" baseline="0" dirty="0">
                    <a:ln/>
                    <a:solidFill>
                      <a:srgbClr val="1E4FA8"/>
                    </a:solidFill>
                    <a:latin typeface="微软雅黑"/>
                    <a:ea typeface="微软雅黑"/>
                    <a:sym typeface="微软雅黑"/>
                    <a:rtl val="0"/>
                  </a:rPr>
                  <a:t>工程与算法</a:t>
                </a:r>
              </a:p>
            </p:txBody>
          </p:sp>
          <p:grpSp>
            <p:nvGrpSpPr>
              <p:cNvPr id="23" name="图形 174">
                <a:extLst>
                  <a:ext uri="{FF2B5EF4-FFF2-40B4-BE49-F238E27FC236}">
                    <a16:creationId xmlns:a16="http://schemas.microsoft.com/office/drawing/2014/main" id="{22F69100-D4B9-E0B2-AC3F-73AE5E4490A8}"/>
                  </a:ext>
                </a:extLst>
              </p:cNvPr>
              <p:cNvGrpSpPr/>
              <p:nvPr/>
            </p:nvGrpSpPr>
            <p:grpSpPr>
              <a:xfrm>
                <a:off x="3518154" y="2138948"/>
                <a:ext cx="1207008" cy="268458"/>
                <a:chOff x="3518154" y="2138948"/>
                <a:chExt cx="1207008" cy="268458"/>
              </a:xfrm>
            </p:grpSpPr>
            <p:sp>
              <p:nvSpPr>
                <p:cNvPr id="24" name="任意多边形: 形状 23">
                  <a:extLst>
                    <a:ext uri="{FF2B5EF4-FFF2-40B4-BE49-F238E27FC236}">
                      <a16:creationId xmlns:a16="http://schemas.microsoft.com/office/drawing/2014/main" id="{D2E31AE1-F173-8AE4-6E3B-6EEB0F1AA013}"/>
                    </a:ext>
                  </a:extLst>
                </p:cNvPr>
                <p:cNvSpPr/>
                <p:nvPr/>
              </p:nvSpPr>
              <p:spPr>
                <a:xfrm>
                  <a:off x="3518154" y="2138948"/>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25" name="文本框 24">
                  <a:extLst>
                    <a:ext uri="{FF2B5EF4-FFF2-40B4-BE49-F238E27FC236}">
                      <a16:creationId xmlns:a16="http://schemas.microsoft.com/office/drawing/2014/main" id="{E3136794-1BFD-52D7-03E9-D71361B79BCF}"/>
                    </a:ext>
                  </a:extLst>
                </p:cNvPr>
                <p:cNvSpPr txBox="1"/>
                <p:nvPr/>
              </p:nvSpPr>
              <p:spPr>
                <a:xfrm>
                  <a:off x="3921252" y="2151953"/>
                  <a:ext cx="400812"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音频</a:t>
                  </a:r>
                </a:p>
              </p:txBody>
            </p:sp>
          </p:grpSp>
          <p:grpSp>
            <p:nvGrpSpPr>
              <p:cNvPr id="26" name="图形 174">
                <a:extLst>
                  <a:ext uri="{FF2B5EF4-FFF2-40B4-BE49-F238E27FC236}">
                    <a16:creationId xmlns:a16="http://schemas.microsoft.com/office/drawing/2014/main" id="{233BFC17-7DC8-5734-E484-EFF55974E026}"/>
                  </a:ext>
                </a:extLst>
              </p:cNvPr>
              <p:cNvGrpSpPr/>
              <p:nvPr/>
            </p:nvGrpSpPr>
            <p:grpSpPr>
              <a:xfrm>
                <a:off x="4792218" y="2138948"/>
                <a:ext cx="1207008" cy="268458"/>
                <a:chOff x="4792218" y="2138948"/>
                <a:chExt cx="1207008" cy="268458"/>
              </a:xfrm>
            </p:grpSpPr>
            <p:sp>
              <p:nvSpPr>
                <p:cNvPr id="27" name="任意多边形: 形状 26">
                  <a:extLst>
                    <a:ext uri="{FF2B5EF4-FFF2-40B4-BE49-F238E27FC236}">
                      <a16:creationId xmlns:a16="http://schemas.microsoft.com/office/drawing/2014/main" id="{79A42B2D-215B-5C5E-44AF-8E68D5599013}"/>
                    </a:ext>
                  </a:extLst>
                </p:cNvPr>
                <p:cNvSpPr/>
                <p:nvPr/>
              </p:nvSpPr>
              <p:spPr>
                <a:xfrm>
                  <a:off x="4792218" y="2138948"/>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28" name="文本框 27">
                  <a:extLst>
                    <a:ext uri="{FF2B5EF4-FFF2-40B4-BE49-F238E27FC236}">
                      <a16:creationId xmlns:a16="http://schemas.microsoft.com/office/drawing/2014/main" id="{EBDC93AC-829A-2B98-17E1-335D78B8AAED}"/>
                    </a:ext>
                  </a:extLst>
                </p:cNvPr>
                <p:cNvSpPr txBox="1"/>
                <p:nvPr/>
              </p:nvSpPr>
              <p:spPr>
                <a:xfrm>
                  <a:off x="5195316" y="2151953"/>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机械</a:t>
                  </a:r>
                </a:p>
              </p:txBody>
            </p:sp>
          </p:grpSp>
          <p:grpSp>
            <p:nvGrpSpPr>
              <p:cNvPr id="29" name="图形 174">
                <a:extLst>
                  <a:ext uri="{FF2B5EF4-FFF2-40B4-BE49-F238E27FC236}">
                    <a16:creationId xmlns:a16="http://schemas.microsoft.com/office/drawing/2014/main" id="{5D603E4F-E974-EBC9-B822-F19768E056BE}"/>
                  </a:ext>
                </a:extLst>
              </p:cNvPr>
              <p:cNvGrpSpPr/>
              <p:nvPr/>
            </p:nvGrpSpPr>
            <p:grpSpPr>
              <a:xfrm>
                <a:off x="3518154" y="2474521"/>
                <a:ext cx="1207008" cy="268458"/>
                <a:chOff x="3518154" y="2474521"/>
                <a:chExt cx="1207008" cy="268458"/>
              </a:xfrm>
            </p:grpSpPr>
            <p:sp>
              <p:nvSpPr>
                <p:cNvPr id="30" name="任意多边形: 形状 29">
                  <a:extLst>
                    <a:ext uri="{FF2B5EF4-FFF2-40B4-BE49-F238E27FC236}">
                      <a16:creationId xmlns:a16="http://schemas.microsoft.com/office/drawing/2014/main" id="{DF0B4CBF-1816-20D3-89B5-77DFDC74E49E}"/>
                    </a:ext>
                  </a:extLst>
                </p:cNvPr>
                <p:cNvSpPr/>
                <p:nvPr/>
              </p:nvSpPr>
              <p:spPr>
                <a:xfrm>
                  <a:off x="3518154" y="2474521"/>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31" name="文本框 30">
                  <a:extLst>
                    <a:ext uri="{FF2B5EF4-FFF2-40B4-BE49-F238E27FC236}">
                      <a16:creationId xmlns:a16="http://schemas.microsoft.com/office/drawing/2014/main" id="{8323CB8C-7A59-DD5E-2AC3-7A5C58C390B5}"/>
                    </a:ext>
                  </a:extLst>
                </p:cNvPr>
                <p:cNvSpPr txBox="1"/>
                <p:nvPr/>
              </p:nvSpPr>
              <p:spPr>
                <a:xfrm>
                  <a:off x="3757803" y="2487527"/>
                  <a:ext cx="727710"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电路与芯片</a:t>
                  </a:r>
                </a:p>
              </p:txBody>
            </p:sp>
          </p:grpSp>
          <p:grpSp>
            <p:nvGrpSpPr>
              <p:cNvPr id="32" name="图形 174">
                <a:extLst>
                  <a:ext uri="{FF2B5EF4-FFF2-40B4-BE49-F238E27FC236}">
                    <a16:creationId xmlns:a16="http://schemas.microsoft.com/office/drawing/2014/main" id="{FD8BC86A-9BBE-F370-79D7-F9FB9374511E}"/>
                  </a:ext>
                </a:extLst>
              </p:cNvPr>
              <p:cNvGrpSpPr/>
              <p:nvPr/>
            </p:nvGrpSpPr>
            <p:grpSpPr>
              <a:xfrm>
                <a:off x="4792218" y="2474521"/>
                <a:ext cx="1207008" cy="268458"/>
                <a:chOff x="4792218" y="2474521"/>
                <a:chExt cx="1207008" cy="268458"/>
              </a:xfrm>
            </p:grpSpPr>
            <p:sp>
              <p:nvSpPr>
                <p:cNvPr id="33" name="任意多边形: 形状 32">
                  <a:extLst>
                    <a:ext uri="{FF2B5EF4-FFF2-40B4-BE49-F238E27FC236}">
                      <a16:creationId xmlns:a16="http://schemas.microsoft.com/office/drawing/2014/main" id="{98E1F0BB-50C7-BCEA-FC04-60A5B2F72C03}"/>
                    </a:ext>
                  </a:extLst>
                </p:cNvPr>
                <p:cNvSpPr/>
                <p:nvPr/>
              </p:nvSpPr>
              <p:spPr>
                <a:xfrm>
                  <a:off x="4792218" y="2474521"/>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34" name="文本框 33">
                  <a:extLst>
                    <a:ext uri="{FF2B5EF4-FFF2-40B4-BE49-F238E27FC236}">
                      <a16:creationId xmlns:a16="http://schemas.microsoft.com/office/drawing/2014/main" id="{8B71F7ED-492E-AADB-48F6-C73B34BC5BAE}"/>
                    </a:ext>
                  </a:extLst>
                </p:cNvPr>
                <p:cNvSpPr txBox="1"/>
                <p:nvPr/>
              </p:nvSpPr>
              <p:spPr>
                <a:xfrm>
                  <a:off x="4952238" y="2495916"/>
                  <a:ext cx="886968" cy="225669"/>
                </a:xfrm>
                <a:prstGeom prst="rect">
                  <a:avLst/>
                </a:prstGeom>
                <a:noFill/>
              </p:spPr>
              <p:txBody>
                <a:bodyPr wrap="none" rtlCol="0">
                  <a:spAutoFit/>
                </a:bodyPr>
                <a:lstStyle/>
                <a:p>
                  <a:pPr algn="l"/>
                  <a:r>
                    <a:rPr lang="zh-CN" altLang="en-US" sz="900" spc="0" baseline="0">
                      <a:ln/>
                      <a:solidFill>
                        <a:srgbClr val="1A2230"/>
                      </a:solidFill>
                      <a:latin typeface="微软雅黑"/>
                      <a:ea typeface="微软雅黑"/>
                      <a:sym typeface="微软雅黑"/>
                      <a:rtl val="0"/>
                    </a:rPr>
                    <a:t>周转圆激活函数</a:t>
                  </a:r>
                </a:p>
              </p:txBody>
            </p:sp>
          </p:grpSp>
          <p:grpSp>
            <p:nvGrpSpPr>
              <p:cNvPr id="35" name="图形 174">
                <a:extLst>
                  <a:ext uri="{FF2B5EF4-FFF2-40B4-BE49-F238E27FC236}">
                    <a16:creationId xmlns:a16="http://schemas.microsoft.com/office/drawing/2014/main" id="{0EDF3BC6-80B2-BD8D-13B0-51DC887F3B99}"/>
                  </a:ext>
                </a:extLst>
              </p:cNvPr>
              <p:cNvGrpSpPr/>
              <p:nvPr/>
            </p:nvGrpSpPr>
            <p:grpSpPr>
              <a:xfrm>
                <a:off x="3518154" y="2810094"/>
                <a:ext cx="1207008" cy="268458"/>
                <a:chOff x="3518154" y="2810094"/>
                <a:chExt cx="1207008" cy="268458"/>
              </a:xfrm>
            </p:grpSpPr>
            <p:sp>
              <p:nvSpPr>
                <p:cNvPr id="36" name="任意多边形: 形状 35">
                  <a:extLst>
                    <a:ext uri="{FF2B5EF4-FFF2-40B4-BE49-F238E27FC236}">
                      <a16:creationId xmlns:a16="http://schemas.microsoft.com/office/drawing/2014/main" id="{AF9530B8-3F94-9A11-F414-A36FE75CBC88}"/>
                    </a:ext>
                  </a:extLst>
                </p:cNvPr>
                <p:cNvSpPr/>
                <p:nvPr/>
              </p:nvSpPr>
              <p:spPr>
                <a:xfrm>
                  <a:off x="3518154" y="2810094"/>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37" name="文本框 36">
                  <a:extLst>
                    <a:ext uri="{FF2B5EF4-FFF2-40B4-BE49-F238E27FC236}">
                      <a16:creationId xmlns:a16="http://schemas.microsoft.com/office/drawing/2014/main" id="{99DC0B72-7959-360A-1DBB-3DC495F5CDDD}"/>
                    </a:ext>
                  </a:extLst>
                </p:cNvPr>
                <p:cNvSpPr txBox="1"/>
                <p:nvPr/>
              </p:nvSpPr>
              <p:spPr>
                <a:xfrm>
                  <a:off x="3812286" y="2823100"/>
                  <a:ext cx="618744"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算法系统</a:t>
                  </a:r>
                </a:p>
              </p:txBody>
            </p:sp>
          </p:grpSp>
          <p:sp>
            <p:nvSpPr>
              <p:cNvPr id="38" name="文本框 37">
                <a:extLst>
                  <a:ext uri="{FF2B5EF4-FFF2-40B4-BE49-F238E27FC236}">
                    <a16:creationId xmlns:a16="http://schemas.microsoft.com/office/drawing/2014/main" id="{B921DAEB-4A81-A2C5-A314-C67B0F2BEE2F}"/>
                  </a:ext>
                </a:extLst>
              </p:cNvPr>
              <p:cNvSpPr txBox="1"/>
              <p:nvPr/>
            </p:nvSpPr>
            <p:spPr>
              <a:xfrm>
                <a:off x="3426714" y="3306649"/>
                <a:ext cx="2623102" cy="369332"/>
              </a:xfrm>
              <a:prstGeom prst="rect">
                <a:avLst/>
              </a:prstGeom>
              <a:noFill/>
            </p:spPr>
            <p:txBody>
              <a:bodyPr wrap="square" rtlCol="0">
                <a:spAutoFit/>
              </a:bodyPr>
              <a:lstStyle/>
              <a:p>
                <a:pPr algn="l"/>
                <a:r>
                  <a:rPr lang="zh-CN" altLang="en-US" sz="900" spc="0" baseline="0" dirty="0">
                    <a:ln/>
                    <a:solidFill>
                      <a:srgbClr val="4A5568"/>
                    </a:solidFill>
                    <a:latin typeface="微软雅黑"/>
                    <a:ea typeface="微软雅黑"/>
                    <a:sym typeface="微软雅黑"/>
                    <a:rtl val="0"/>
                  </a:rPr>
                  <a:t>音律</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单摆</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晶振主周转圆</a:t>
                </a:r>
                <a:r>
                  <a:rPr lang="zh-CN" altLang="en-US" sz="825" spc="0" baseline="0" dirty="0">
                    <a:ln/>
                    <a:solidFill>
                      <a:srgbClr val="4A5568"/>
                    </a:solidFill>
                    <a:latin typeface="Arial"/>
                    <a:ea typeface="微软雅黑"/>
                    <a:cs typeface="Arial"/>
                    <a:sym typeface="Arial"/>
                    <a:rtl val="0"/>
                  </a:rPr>
                  <a:t> · CEAF · </a:t>
                </a:r>
                <a:r>
                  <a:rPr lang="zh-CN" altLang="en-US" sz="900" spc="0" baseline="0" dirty="0">
                    <a:ln/>
                    <a:solidFill>
                      <a:srgbClr val="4A5568"/>
                    </a:solidFill>
                    <a:latin typeface="微软雅黑"/>
                    <a:ea typeface="微软雅黑"/>
                    <a:cs typeface="Arial"/>
                    <a:sym typeface="微软雅黑"/>
                    <a:rtl val="0"/>
                  </a:rPr>
                  <a:t>迭代收敛周期</a:t>
                </a:r>
              </a:p>
            </p:txBody>
          </p:sp>
        </p:grpSp>
        <p:grpSp>
          <p:nvGrpSpPr>
            <p:cNvPr id="148" name="组合 147">
              <a:extLst>
                <a:ext uri="{FF2B5EF4-FFF2-40B4-BE49-F238E27FC236}">
                  <a16:creationId xmlns:a16="http://schemas.microsoft.com/office/drawing/2014/main" id="{BA540FF9-6441-165B-A013-EDAA20A20564}"/>
                </a:ext>
              </a:extLst>
            </p:cNvPr>
            <p:cNvGrpSpPr/>
            <p:nvPr/>
          </p:nvGrpSpPr>
          <p:grpSpPr>
            <a:xfrm>
              <a:off x="467106" y="3900707"/>
              <a:ext cx="2816352" cy="2080553"/>
              <a:chOff x="467106" y="3900707"/>
              <a:chExt cx="2816352" cy="2080553"/>
            </a:xfrm>
          </p:grpSpPr>
          <p:sp>
            <p:nvSpPr>
              <p:cNvPr id="39" name="任意多边形: 形状 38">
                <a:extLst>
                  <a:ext uri="{FF2B5EF4-FFF2-40B4-BE49-F238E27FC236}">
                    <a16:creationId xmlns:a16="http://schemas.microsoft.com/office/drawing/2014/main" id="{DE485A1A-C1A0-1309-70ED-98824198EFA2}"/>
                  </a:ext>
                </a:extLst>
              </p:cNvPr>
              <p:cNvSpPr/>
              <p:nvPr/>
            </p:nvSpPr>
            <p:spPr>
              <a:xfrm>
                <a:off x="467106" y="3900707"/>
                <a:ext cx="2816352" cy="2080553"/>
              </a:xfrm>
              <a:custGeom>
                <a:avLst/>
                <a:gdLst>
                  <a:gd name="connsiteX0" fmla="*/ 2766060 w 2816352"/>
                  <a:gd name="connsiteY0" fmla="*/ 0 h 2080553"/>
                  <a:gd name="connsiteX1" fmla="*/ 2816352 w 2816352"/>
                  <a:gd name="connsiteY1" fmla="*/ 0 h 2080553"/>
                  <a:gd name="connsiteX2" fmla="*/ 2816352 w 2816352"/>
                  <a:gd name="connsiteY2" fmla="*/ 2080553 h 2080553"/>
                  <a:gd name="connsiteX3" fmla="*/ 2766060 w 2816352"/>
                  <a:gd name="connsiteY3" fmla="*/ 2080553 h 2080553"/>
                  <a:gd name="connsiteX4" fmla="*/ 50292 w 2816352"/>
                  <a:gd name="connsiteY4" fmla="*/ 2080553 h 2080553"/>
                  <a:gd name="connsiteX5" fmla="*/ 0 w 2816352"/>
                  <a:gd name="connsiteY5" fmla="*/ 2080553 h 2080553"/>
                  <a:gd name="connsiteX6" fmla="*/ 0 w 2816352"/>
                  <a:gd name="connsiteY6" fmla="*/ 0 h 2080553"/>
                  <a:gd name="connsiteX7" fmla="*/ 50292 w 2816352"/>
                  <a:gd name="connsiteY7" fmla="*/ 0 h 208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6352" h="2080553">
                    <a:moveTo>
                      <a:pt x="2766060" y="0"/>
                    </a:moveTo>
                    <a:cubicBezTo>
                      <a:pt x="2793836" y="0"/>
                      <a:pt x="2816352" y="0"/>
                      <a:pt x="2816352" y="0"/>
                    </a:cubicBezTo>
                    <a:lnTo>
                      <a:pt x="2816352" y="2080553"/>
                    </a:lnTo>
                    <a:cubicBezTo>
                      <a:pt x="2816352" y="2080553"/>
                      <a:pt x="2793836" y="2080553"/>
                      <a:pt x="2766060" y="2080553"/>
                    </a:cubicBezTo>
                    <a:lnTo>
                      <a:pt x="50292" y="2080553"/>
                    </a:lnTo>
                    <a:cubicBezTo>
                      <a:pt x="22516" y="2080553"/>
                      <a:pt x="0" y="2080553"/>
                      <a:pt x="0" y="2080553"/>
                    </a:cubicBezTo>
                    <a:lnTo>
                      <a:pt x="0" y="0"/>
                    </a:lnTo>
                    <a:cubicBezTo>
                      <a:pt x="0" y="0"/>
                      <a:pt x="22516" y="0"/>
                      <a:pt x="50292" y="0"/>
                    </a:cubicBezTo>
                    <a:close/>
                  </a:path>
                </a:pathLst>
              </a:custGeom>
              <a:solidFill>
                <a:srgbClr val="F0F5FC"/>
              </a:solidFill>
              <a:ln w="8382" cap="flat">
                <a:noFill/>
                <a:prstDash val="solid"/>
                <a:miter/>
              </a:ln>
            </p:spPr>
            <p:txBody>
              <a:bodyPr rtlCol="0" anchor="ctr"/>
              <a:lstStyle/>
              <a:p>
                <a:endParaRPr lang="zh-CN" altLang="en-US"/>
              </a:p>
            </p:txBody>
          </p:sp>
          <p:sp>
            <p:nvSpPr>
              <p:cNvPr id="40" name="文本框 39">
                <a:extLst>
                  <a:ext uri="{FF2B5EF4-FFF2-40B4-BE49-F238E27FC236}">
                    <a16:creationId xmlns:a16="http://schemas.microsoft.com/office/drawing/2014/main" id="{E78E3A63-D502-EDFE-6A43-0360BA3673A8}"/>
                  </a:ext>
                </a:extLst>
              </p:cNvPr>
              <p:cNvSpPr txBox="1"/>
              <p:nvPr/>
            </p:nvSpPr>
            <p:spPr>
              <a:xfrm>
                <a:off x="509778" y="3980827"/>
                <a:ext cx="769620" cy="250837"/>
              </a:xfrm>
              <a:prstGeom prst="rect">
                <a:avLst/>
              </a:prstGeom>
              <a:noFill/>
            </p:spPr>
            <p:txBody>
              <a:bodyPr wrap="none" rtlCol="0">
                <a:spAutoFit/>
              </a:bodyPr>
              <a:lstStyle/>
              <a:p>
                <a:pPr algn="l"/>
                <a:r>
                  <a:rPr lang="zh-CN" altLang="en-US" sz="1050" b="1" spc="0" baseline="0" dirty="0">
                    <a:ln/>
                    <a:solidFill>
                      <a:srgbClr val="1E4FA8"/>
                    </a:solidFill>
                    <a:latin typeface="微软雅黑"/>
                    <a:ea typeface="微软雅黑"/>
                    <a:sym typeface="微软雅黑"/>
                    <a:rtl val="0"/>
                  </a:rPr>
                  <a:t>生命与社会</a:t>
                </a:r>
              </a:p>
            </p:txBody>
          </p:sp>
          <p:grpSp>
            <p:nvGrpSpPr>
              <p:cNvPr id="41" name="图形 174">
                <a:extLst>
                  <a:ext uri="{FF2B5EF4-FFF2-40B4-BE49-F238E27FC236}">
                    <a16:creationId xmlns:a16="http://schemas.microsoft.com/office/drawing/2014/main" id="{5F98B909-B815-748D-3B16-9128308DB8DB}"/>
                  </a:ext>
                </a:extLst>
              </p:cNvPr>
              <p:cNvGrpSpPr/>
              <p:nvPr/>
            </p:nvGrpSpPr>
            <p:grpSpPr>
              <a:xfrm>
                <a:off x="601218" y="4286616"/>
                <a:ext cx="1207008" cy="268458"/>
                <a:chOff x="601218" y="4286616"/>
                <a:chExt cx="1207008" cy="268458"/>
              </a:xfrm>
            </p:grpSpPr>
            <p:sp>
              <p:nvSpPr>
                <p:cNvPr id="42" name="任意多边形: 形状 41">
                  <a:extLst>
                    <a:ext uri="{FF2B5EF4-FFF2-40B4-BE49-F238E27FC236}">
                      <a16:creationId xmlns:a16="http://schemas.microsoft.com/office/drawing/2014/main" id="{27454503-9316-87D8-9FF7-66A34366BB4D}"/>
                    </a:ext>
                  </a:extLst>
                </p:cNvPr>
                <p:cNvSpPr/>
                <p:nvPr/>
              </p:nvSpPr>
              <p:spPr>
                <a:xfrm>
                  <a:off x="601218" y="4286616"/>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43" name="文本框 42">
                  <a:extLst>
                    <a:ext uri="{FF2B5EF4-FFF2-40B4-BE49-F238E27FC236}">
                      <a16:creationId xmlns:a16="http://schemas.microsoft.com/office/drawing/2014/main" id="{24C5D28A-8BCA-D28C-EE45-4FA52A55A546}"/>
                    </a:ext>
                  </a:extLst>
                </p:cNvPr>
                <p:cNvSpPr txBox="1"/>
                <p:nvPr/>
              </p:nvSpPr>
              <p:spPr>
                <a:xfrm>
                  <a:off x="1004316" y="4299621"/>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生物</a:t>
                  </a:r>
                </a:p>
              </p:txBody>
            </p:sp>
          </p:grpSp>
          <p:grpSp>
            <p:nvGrpSpPr>
              <p:cNvPr id="44" name="图形 174">
                <a:extLst>
                  <a:ext uri="{FF2B5EF4-FFF2-40B4-BE49-F238E27FC236}">
                    <a16:creationId xmlns:a16="http://schemas.microsoft.com/office/drawing/2014/main" id="{5264AB10-5B68-F118-5CF7-76A4115278B6}"/>
                  </a:ext>
                </a:extLst>
              </p:cNvPr>
              <p:cNvGrpSpPr/>
              <p:nvPr/>
            </p:nvGrpSpPr>
            <p:grpSpPr>
              <a:xfrm>
                <a:off x="1875282" y="4286616"/>
                <a:ext cx="1207008" cy="268458"/>
                <a:chOff x="1875282" y="4286616"/>
                <a:chExt cx="1207008" cy="268458"/>
              </a:xfrm>
            </p:grpSpPr>
            <p:sp>
              <p:nvSpPr>
                <p:cNvPr id="45" name="任意多边形: 形状 44">
                  <a:extLst>
                    <a:ext uri="{FF2B5EF4-FFF2-40B4-BE49-F238E27FC236}">
                      <a16:creationId xmlns:a16="http://schemas.microsoft.com/office/drawing/2014/main" id="{4A6ED7FE-1FB2-9CE2-30A2-43D6CB99CA91}"/>
                    </a:ext>
                  </a:extLst>
                </p:cNvPr>
                <p:cNvSpPr/>
                <p:nvPr/>
              </p:nvSpPr>
              <p:spPr>
                <a:xfrm>
                  <a:off x="1875282" y="4286616"/>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46" name="文本框 45">
                  <a:extLst>
                    <a:ext uri="{FF2B5EF4-FFF2-40B4-BE49-F238E27FC236}">
                      <a16:creationId xmlns:a16="http://schemas.microsoft.com/office/drawing/2014/main" id="{9F6D8558-431D-BA52-63D4-E806DAD2EBBD}"/>
                    </a:ext>
                  </a:extLst>
                </p:cNvPr>
                <p:cNvSpPr txBox="1"/>
                <p:nvPr/>
              </p:nvSpPr>
              <p:spPr>
                <a:xfrm>
                  <a:off x="2278380" y="4299621"/>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心理</a:t>
                  </a:r>
                </a:p>
              </p:txBody>
            </p:sp>
          </p:grpSp>
          <p:grpSp>
            <p:nvGrpSpPr>
              <p:cNvPr id="47" name="图形 174">
                <a:extLst>
                  <a:ext uri="{FF2B5EF4-FFF2-40B4-BE49-F238E27FC236}">
                    <a16:creationId xmlns:a16="http://schemas.microsoft.com/office/drawing/2014/main" id="{DAA8FA19-D0FC-473D-0A39-10169BD793CE}"/>
                  </a:ext>
                </a:extLst>
              </p:cNvPr>
              <p:cNvGrpSpPr/>
              <p:nvPr/>
            </p:nvGrpSpPr>
            <p:grpSpPr>
              <a:xfrm>
                <a:off x="601218" y="4622189"/>
                <a:ext cx="1207008" cy="268458"/>
                <a:chOff x="601218" y="4622189"/>
                <a:chExt cx="1207008" cy="268458"/>
              </a:xfrm>
            </p:grpSpPr>
            <p:sp>
              <p:nvSpPr>
                <p:cNvPr id="48" name="任意多边形: 形状 47">
                  <a:extLst>
                    <a:ext uri="{FF2B5EF4-FFF2-40B4-BE49-F238E27FC236}">
                      <a16:creationId xmlns:a16="http://schemas.microsoft.com/office/drawing/2014/main" id="{DB90E138-3E68-BEDB-E39B-A1125E77A7D2}"/>
                    </a:ext>
                  </a:extLst>
                </p:cNvPr>
                <p:cNvSpPr/>
                <p:nvPr/>
              </p:nvSpPr>
              <p:spPr>
                <a:xfrm>
                  <a:off x="601218" y="4622189"/>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49" name="文本框 48">
                  <a:extLst>
                    <a:ext uri="{FF2B5EF4-FFF2-40B4-BE49-F238E27FC236}">
                      <a16:creationId xmlns:a16="http://schemas.microsoft.com/office/drawing/2014/main" id="{7B60A660-4E91-ED2A-5D46-2B4417022F9C}"/>
                    </a:ext>
                  </a:extLst>
                </p:cNvPr>
                <p:cNvSpPr txBox="1"/>
                <p:nvPr/>
              </p:nvSpPr>
              <p:spPr>
                <a:xfrm>
                  <a:off x="1004316" y="4635194"/>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社交</a:t>
                  </a:r>
                </a:p>
              </p:txBody>
            </p:sp>
          </p:grpSp>
          <p:grpSp>
            <p:nvGrpSpPr>
              <p:cNvPr id="50" name="图形 174">
                <a:extLst>
                  <a:ext uri="{FF2B5EF4-FFF2-40B4-BE49-F238E27FC236}">
                    <a16:creationId xmlns:a16="http://schemas.microsoft.com/office/drawing/2014/main" id="{0CDF50D8-9DC7-65CA-E3D4-BD24535DEBF0}"/>
                  </a:ext>
                </a:extLst>
              </p:cNvPr>
              <p:cNvGrpSpPr/>
              <p:nvPr/>
            </p:nvGrpSpPr>
            <p:grpSpPr>
              <a:xfrm>
                <a:off x="1875282" y="4622189"/>
                <a:ext cx="1207008" cy="268458"/>
                <a:chOff x="1875282" y="4622189"/>
                <a:chExt cx="1207008" cy="268458"/>
              </a:xfrm>
            </p:grpSpPr>
            <p:sp>
              <p:nvSpPr>
                <p:cNvPr id="51" name="任意多边形: 形状 50">
                  <a:extLst>
                    <a:ext uri="{FF2B5EF4-FFF2-40B4-BE49-F238E27FC236}">
                      <a16:creationId xmlns:a16="http://schemas.microsoft.com/office/drawing/2014/main" id="{2EECCE29-1693-B3DD-8776-87D14F7A1393}"/>
                    </a:ext>
                  </a:extLst>
                </p:cNvPr>
                <p:cNvSpPr/>
                <p:nvPr/>
              </p:nvSpPr>
              <p:spPr>
                <a:xfrm>
                  <a:off x="1875282" y="4622189"/>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52" name="文本框 51">
                  <a:extLst>
                    <a:ext uri="{FF2B5EF4-FFF2-40B4-BE49-F238E27FC236}">
                      <a16:creationId xmlns:a16="http://schemas.microsoft.com/office/drawing/2014/main" id="{D678A3BD-12F4-CCD1-68CF-B33016041BCB}"/>
                    </a:ext>
                  </a:extLst>
                </p:cNvPr>
                <p:cNvSpPr txBox="1"/>
                <p:nvPr/>
              </p:nvSpPr>
              <p:spPr>
                <a:xfrm>
                  <a:off x="2278380" y="4635194"/>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经济</a:t>
                  </a:r>
                </a:p>
              </p:txBody>
            </p:sp>
          </p:grpSp>
          <p:grpSp>
            <p:nvGrpSpPr>
              <p:cNvPr id="53" name="图形 174">
                <a:extLst>
                  <a:ext uri="{FF2B5EF4-FFF2-40B4-BE49-F238E27FC236}">
                    <a16:creationId xmlns:a16="http://schemas.microsoft.com/office/drawing/2014/main" id="{4F75680D-7469-808D-5D7C-CAE82866C20F}"/>
                  </a:ext>
                </a:extLst>
              </p:cNvPr>
              <p:cNvGrpSpPr/>
              <p:nvPr/>
            </p:nvGrpSpPr>
            <p:grpSpPr>
              <a:xfrm>
                <a:off x="601218" y="4957762"/>
                <a:ext cx="1207008" cy="268458"/>
                <a:chOff x="601218" y="4957762"/>
                <a:chExt cx="1207008" cy="268458"/>
              </a:xfrm>
            </p:grpSpPr>
            <p:sp>
              <p:nvSpPr>
                <p:cNvPr id="54" name="任意多边形: 形状 53">
                  <a:extLst>
                    <a:ext uri="{FF2B5EF4-FFF2-40B4-BE49-F238E27FC236}">
                      <a16:creationId xmlns:a16="http://schemas.microsoft.com/office/drawing/2014/main" id="{4F480FA6-F6E5-BCD1-1BCF-D88280DA1565}"/>
                    </a:ext>
                  </a:extLst>
                </p:cNvPr>
                <p:cNvSpPr/>
                <p:nvPr/>
              </p:nvSpPr>
              <p:spPr>
                <a:xfrm>
                  <a:off x="601218" y="4957762"/>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55" name="文本框 54">
                  <a:extLst>
                    <a:ext uri="{FF2B5EF4-FFF2-40B4-BE49-F238E27FC236}">
                      <a16:creationId xmlns:a16="http://schemas.microsoft.com/office/drawing/2014/main" id="{F7F41C4F-83F7-E42D-A48C-CB63499E4B06}"/>
                    </a:ext>
                  </a:extLst>
                </p:cNvPr>
                <p:cNvSpPr txBox="1"/>
                <p:nvPr/>
              </p:nvSpPr>
              <p:spPr>
                <a:xfrm>
                  <a:off x="1004316" y="4970767"/>
                  <a:ext cx="400812"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政治</a:t>
                  </a:r>
                </a:p>
              </p:txBody>
            </p:sp>
          </p:grpSp>
          <p:grpSp>
            <p:nvGrpSpPr>
              <p:cNvPr id="56" name="图形 174">
                <a:extLst>
                  <a:ext uri="{FF2B5EF4-FFF2-40B4-BE49-F238E27FC236}">
                    <a16:creationId xmlns:a16="http://schemas.microsoft.com/office/drawing/2014/main" id="{D300177F-2DBB-93E2-DDAB-4E7D2568CAA1}"/>
                  </a:ext>
                </a:extLst>
              </p:cNvPr>
              <p:cNvGrpSpPr/>
              <p:nvPr/>
            </p:nvGrpSpPr>
            <p:grpSpPr>
              <a:xfrm>
                <a:off x="1875282" y="4957762"/>
                <a:ext cx="1207008" cy="268458"/>
                <a:chOff x="1875282" y="4957762"/>
                <a:chExt cx="1207008" cy="268458"/>
              </a:xfrm>
            </p:grpSpPr>
            <p:sp>
              <p:nvSpPr>
                <p:cNvPr id="57" name="任意多边形: 形状 56">
                  <a:extLst>
                    <a:ext uri="{FF2B5EF4-FFF2-40B4-BE49-F238E27FC236}">
                      <a16:creationId xmlns:a16="http://schemas.microsoft.com/office/drawing/2014/main" id="{FD7B31A9-9A29-8BFD-2BD8-DB2D79DB66D2}"/>
                    </a:ext>
                  </a:extLst>
                </p:cNvPr>
                <p:cNvSpPr/>
                <p:nvPr/>
              </p:nvSpPr>
              <p:spPr>
                <a:xfrm>
                  <a:off x="1875282" y="4957762"/>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58" name="文本框 57">
                  <a:extLst>
                    <a:ext uri="{FF2B5EF4-FFF2-40B4-BE49-F238E27FC236}">
                      <a16:creationId xmlns:a16="http://schemas.microsoft.com/office/drawing/2014/main" id="{9C0CB43A-F678-22CE-4BDA-03FA5D9B47E9}"/>
                    </a:ext>
                  </a:extLst>
                </p:cNvPr>
                <p:cNvSpPr txBox="1"/>
                <p:nvPr/>
              </p:nvSpPr>
              <p:spPr>
                <a:xfrm>
                  <a:off x="2223897" y="4970767"/>
                  <a:ext cx="509778"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智能体</a:t>
                  </a:r>
                </a:p>
              </p:txBody>
            </p:sp>
          </p:grpSp>
          <p:sp>
            <p:nvSpPr>
              <p:cNvPr id="59" name="文本框 58">
                <a:extLst>
                  <a:ext uri="{FF2B5EF4-FFF2-40B4-BE49-F238E27FC236}">
                    <a16:creationId xmlns:a16="http://schemas.microsoft.com/office/drawing/2014/main" id="{E73B46A0-4D66-4DB7-19FD-264E477F9169}"/>
                  </a:ext>
                </a:extLst>
              </p:cNvPr>
              <p:cNvSpPr txBox="1"/>
              <p:nvPr/>
            </p:nvSpPr>
            <p:spPr>
              <a:xfrm>
                <a:off x="789070" y="5465430"/>
                <a:ext cx="1755609" cy="369332"/>
              </a:xfrm>
              <a:prstGeom prst="rect">
                <a:avLst/>
              </a:prstGeom>
              <a:noFill/>
            </p:spPr>
            <p:txBody>
              <a:bodyPr wrap="none" rtlCol="0">
                <a:spAutoFit/>
              </a:bodyPr>
              <a:lstStyle/>
              <a:p>
                <a:pPr algn="l"/>
                <a:r>
                  <a:rPr lang="zh-CN" altLang="en-US" sz="900" spc="0" baseline="0" dirty="0">
                    <a:ln/>
                    <a:solidFill>
                      <a:srgbClr val="4A5568"/>
                    </a:solidFill>
                    <a:latin typeface="微软雅黑"/>
                    <a:ea typeface="微软雅黑"/>
                    <a:sym typeface="微软雅黑"/>
                    <a:rtl val="0"/>
                  </a:rPr>
                  <a:t>昼夜节律</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情绪周期</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时尚周期</a:t>
                </a:r>
                <a:endParaRPr lang="en-US" altLang="zh-CN" sz="900" spc="0" baseline="0" dirty="0">
                  <a:ln/>
                  <a:solidFill>
                    <a:srgbClr val="4A5568"/>
                  </a:solidFill>
                  <a:latin typeface="微软雅黑"/>
                  <a:ea typeface="微软雅黑"/>
                  <a:cs typeface="Arial"/>
                  <a:sym typeface="微软雅黑"/>
                  <a:rtl val="0"/>
                </a:endParaRPr>
              </a:p>
              <a:p>
                <a:pPr algn="l"/>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康波</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王朝更迭</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相位同步</a:t>
                </a:r>
              </a:p>
            </p:txBody>
          </p:sp>
        </p:grpSp>
        <p:grpSp>
          <p:nvGrpSpPr>
            <p:cNvPr id="147" name="组合 146">
              <a:extLst>
                <a:ext uri="{FF2B5EF4-FFF2-40B4-BE49-F238E27FC236}">
                  <a16:creationId xmlns:a16="http://schemas.microsoft.com/office/drawing/2014/main" id="{DD816BAE-2FA1-1B70-C537-CC28D895C041}"/>
                </a:ext>
              </a:extLst>
            </p:cNvPr>
            <p:cNvGrpSpPr/>
            <p:nvPr/>
          </p:nvGrpSpPr>
          <p:grpSpPr>
            <a:xfrm>
              <a:off x="3384042" y="3900707"/>
              <a:ext cx="2816352" cy="2080553"/>
              <a:chOff x="3384042" y="3900707"/>
              <a:chExt cx="2816352" cy="2080553"/>
            </a:xfrm>
          </p:grpSpPr>
          <p:sp>
            <p:nvSpPr>
              <p:cNvPr id="60" name="任意多边形: 形状 59">
                <a:extLst>
                  <a:ext uri="{FF2B5EF4-FFF2-40B4-BE49-F238E27FC236}">
                    <a16:creationId xmlns:a16="http://schemas.microsoft.com/office/drawing/2014/main" id="{91DDCF8D-BCA9-20E8-CB56-C4D14D03A4AD}"/>
                  </a:ext>
                </a:extLst>
              </p:cNvPr>
              <p:cNvSpPr/>
              <p:nvPr/>
            </p:nvSpPr>
            <p:spPr>
              <a:xfrm>
                <a:off x="3384042" y="3900707"/>
                <a:ext cx="2816352" cy="2080553"/>
              </a:xfrm>
              <a:custGeom>
                <a:avLst/>
                <a:gdLst>
                  <a:gd name="connsiteX0" fmla="*/ 2766060 w 2816352"/>
                  <a:gd name="connsiteY0" fmla="*/ 0 h 2080553"/>
                  <a:gd name="connsiteX1" fmla="*/ 2816352 w 2816352"/>
                  <a:gd name="connsiteY1" fmla="*/ 0 h 2080553"/>
                  <a:gd name="connsiteX2" fmla="*/ 2816352 w 2816352"/>
                  <a:gd name="connsiteY2" fmla="*/ 2080553 h 2080553"/>
                  <a:gd name="connsiteX3" fmla="*/ 2766060 w 2816352"/>
                  <a:gd name="connsiteY3" fmla="*/ 2080553 h 2080553"/>
                  <a:gd name="connsiteX4" fmla="*/ 50292 w 2816352"/>
                  <a:gd name="connsiteY4" fmla="*/ 2080553 h 2080553"/>
                  <a:gd name="connsiteX5" fmla="*/ 0 w 2816352"/>
                  <a:gd name="connsiteY5" fmla="*/ 2080553 h 2080553"/>
                  <a:gd name="connsiteX6" fmla="*/ 0 w 2816352"/>
                  <a:gd name="connsiteY6" fmla="*/ 0 h 2080553"/>
                  <a:gd name="connsiteX7" fmla="*/ 50292 w 2816352"/>
                  <a:gd name="connsiteY7" fmla="*/ 0 h 2080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16352" h="2080553">
                    <a:moveTo>
                      <a:pt x="2766060" y="0"/>
                    </a:moveTo>
                    <a:cubicBezTo>
                      <a:pt x="2793836" y="0"/>
                      <a:pt x="2816352" y="0"/>
                      <a:pt x="2816352" y="0"/>
                    </a:cubicBezTo>
                    <a:lnTo>
                      <a:pt x="2816352" y="2080553"/>
                    </a:lnTo>
                    <a:cubicBezTo>
                      <a:pt x="2816352" y="2080553"/>
                      <a:pt x="2793836" y="2080553"/>
                      <a:pt x="2766060" y="2080553"/>
                    </a:cubicBezTo>
                    <a:lnTo>
                      <a:pt x="50292" y="2080553"/>
                    </a:lnTo>
                    <a:cubicBezTo>
                      <a:pt x="22516" y="2080553"/>
                      <a:pt x="0" y="2080553"/>
                      <a:pt x="0" y="2080553"/>
                    </a:cubicBezTo>
                    <a:lnTo>
                      <a:pt x="0" y="0"/>
                    </a:lnTo>
                    <a:cubicBezTo>
                      <a:pt x="0" y="0"/>
                      <a:pt x="22516" y="0"/>
                      <a:pt x="50292" y="0"/>
                    </a:cubicBezTo>
                    <a:close/>
                  </a:path>
                </a:pathLst>
              </a:custGeom>
              <a:solidFill>
                <a:srgbClr val="E8EFF8"/>
              </a:solidFill>
              <a:ln w="8382" cap="flat">
                <a:noFill/>
                <a:prstDash val="solid"/>
                <a:miter/>
              </a:ln>
            </p:spPr>
            <p:txBody>
              <a:bodyPr rtlCol="0" anchor="ctr"/>
              <a:lstStyle/>
              <a:p>
                <a:endParaRPr lang="zh-CN" altLang="en-US"/>
              </a:p>
            </p:txBody>
          </p:sp>
          <p:sp>
            <p:nvSpPr>
              <p:cNvPr id="61" name="文本框 60">
                <a:extLst>
                  <a:ext uri="{FF2B5EF4-FFF2-40B4-BE49-F238E27FC236}">
                    <a16:creationId xmlns:a16="http://schemas.microsoft.com/office/drawing/2014/main" id="{472CB404-64B5-FFC7-0083-4A1DF6F53EE9}"/>
                  </a:ext>
                </a:extLst>
              </p:cNvPr>
              <p:cNvSpPr txBox="1"/>
              <p:nvPr/>
            </p:nvSpPr>
            <p:spPr>
              <a:xfrm>
                <a:off x="3426714" y="3980827"/>
                <a:ext cx="769620" cy="250837"/>
              </a:xfrm>
              <a:prstGeom prst="rect">
                <a:avLst/>
              </a:prstGeom>
              <a:noFill/>
            </p:spPr>
            <p:txBody>
              <a:bodyPr wrap="none" rtlCol="0">
                <a:spAutoFit/>
              </a:bodyPr>
              <a:lstStyle/>
              <a:p>
                <a:pPr algn="l"/>
                <a:r>
                  <a:rPr lang="zh-CN" altLang="en-US" sz="1050" b="1" spc="0" baseline="0" dirty="0">
                    <a:ln/>
                    <a:solidFill>
                      <a:srgbClr val="0E3F8C"/>
                    </a:solidFill>
                    <a:latin typeface="微软雅黑"/>
                    <a:ea typeface="微软雅黑"/>
                    <a:sym typeface="微软雅黑"/>
                    <a:rtl val="0"/>
                  </a:rPr>
                  <a:t>符号与数据</a:t>
                </a:r>
              </a:p>
            </p:txBody>
          </p:sp>
          <p:grpSp>
            <p:nvGrpSpPr>
              <p:cNvPr id="62" name="图形 174">
                <a:extLst>
                  <a:ext uri="{FF2B5EF4-FFF2-40B4-BE49-F238E27FC236}">
                    <a16:creationId xmlns:a16="http://schemas.microsoft.com/office/drawing/2014/main" id="{85228B10-39D8-30DB-1F68-B8F9FBA6CD1D}"/>
                  </a:ext>
                </a:extLst>
              </p:cNvPr>
              <p:cNvGrpSpPr/>
              <p:nvPr/>
            </p:nvGrpSpPr>
            <p:grpSpPr>
              <a:xfrm>
                <a:off x="3518154" y="4286616"/>
                <a:ext cx="1207008" cy="268458"/>
                <a:chOff x="3518154" y="4286616"/>
                <a:chExt cx="1207008" cy="268458"/>
              </a:xfrm>
            </p:grpSpPr>
            <p:sp>
              <p:nvSpPr>
                <p:cNvPr id="63" name="任意多边形: 形状 62">
                  <a:extLst>
                    <a:ext uri="{FF2B5EF4-FFF2-40B4-BE49-F238E27FC236}">
                      <a16:creationId xmlns:a16="http://schemas.microsoft.com/office/drawing/2014/main" id="{8F5F5C70-EF76-9D75-2C11-CD1AEB7D3721}"/>
                    </a:ext>
                  </a:extLst>
                </p:cNvPr>
                <p:cNvSpPr/>
                <p:nvPr/>
              </p:nvSpPr>
              <p:spPr>
                <a:xfrm>
                  <a:off x="3518154" y="4286616"/>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28" name="文本框 127">
                  <a:extLst>
                    <a:ext uri="{FF2B5EF4-FFF2-40B4-BE49-F238E27FC236}">
                      <a16:creationId xmlns:a16="http://schemas.microsoft.com/office/drawing/2014/main" id="{43D738EE-FE46-E5F2-4C16-52ED36370FA5}"/>
                    </a:ext>
                  </a:extLst>
                </p:cNvPr>
                <p:cNvSpPr txBox="1"/>
                <p:nvPr/>
              </p:nvSpPr>
              <p:spPr>
                <a:xfrm>
                  <a:off x="3921252" y="4299621"/>
                  <a:ext cx="400812"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易经</a:t>
                  </a:r>
                </a:p>
              </p:txBody>
            </p:sp>
          </p:grpSp>
          <p:grpSp>
            <p:nvGrpSpPr>
              <p:cNvPr id="129" name="图形 174">
                <a:extLst>
                  <a:ext uri="{FF2B5EF4-FFF2-40B4-BE49-F238E27FC236}">
                    <a16:creationId xmlns:a16="http://schemas.microsoft.com/office/drawing/2014/main" id="{606BC98A-575D-474D-2EA5-05862432AE12}"/>
                  </a:ext>
                </a:extLst>
              </p:cNvPr>
              <p:cNvGrpSpPr/>
              <p:nvPr/>
            </p:nvGrpSpPr>
            <p:grpSpPr>
              <a:xfrm>
                <a:off x="4792218" y="4286616"/>
                <a:ext cx="1207008" cy="268458"/>
                <a:chOff x="4792218" y="4286616"/>
                <a:chExt cx="1207008" cy="268458"/>
              </a:xfrm>
            </p:grpSpPr>
            <p:sp>
              <p:nvSpPr>
                <p:cNvPr id="130" name="任意多边形: 形状 129">
                  <a:extLst>
                    <a:ext uri="{FF2B5EF4-FFF2-40B4-BE49-F238E27FC236}">
                      <a16:creationId xmlns:a16="http://schemas.microsoft.com/office/drawing/2014/main" id="{1B7F16B5-36E5-84BE-0BEA-1053C7ED16DD}"/>
                    </a:ext>
                  </a:extLst>
                </p:cNvPr>
                <p:cNvSpPr/>
                <p:nvPr/>
              </p:nvSpPr>
              <p:spPr>
                <a:xfrm>
                  <a:off x="4792218" y="4286616"/>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31" name="文本框 130">
                  <a:extLst>
                    <a:ext uri="{FF2B5EF4-FFF2-40B4-BE49-F238E27FC236}">
                      <a16:creationId xmlns:a16="http://schemas.microsoft.com/office/drawing/2014/main" id="{B0FE9C3A-61EA-992C-225C-5E223193B22F}"/>
                    </a:ext>
                  </a:extLst>
                </p:cNvPr>
                <p:cNvSpPr txBox="1"/>
                <p:nvPr/>
              </p:nvSpPr>
              <p:spPr>
                <a:xfrm>
                  <a:off x="5086350" y="4299621"/>
                  <a:ext cx="618744"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概率系统</a:t>
                  </a:r>
                </a:p>
              </p:txBody>
            </p:sp>
          </p:grpSp>
          <p:grpSp>
            <p:nvGrpSpPr>
              <p:cNvPr id="132" name="图形 174">
                <a:extLst>
                  <a:ext uri="{FF2B5EF4-FFF2-40B4-BE49-F238E27FC236}">
                    <a16:creationId xmlns:a16="http://schemas.microsoft.com/office/drawing/2014/main" id="{D00B9477-A046-E8B9-FABE-79DA551AEC54}"/>
                  </a:ext>
                </a:extLst>
              </p:cNvPr>
              <p:cNvGrpSpPr/>
              <p:nvPr/>
            </p:nvGrpSpPr>
            <p:grpSpPr>
              <a:xfrm>
                <a:off x="3518154" y="4622189"/>
                <a:ext cx="1207008" cy="268458"/>
                <a:chOff x="3518154" y="4622189"/>
                <a:chExt cx="1207008" cy="268458"/>
              </a:xfrm>
            </p:grpSpPr>
            <p:sp>
              <p:nvSpPr>
                <p:cNvPr id="133" name="任意多边形: 形状 132">
                  <a:extLst>
                    <a:ext uri="{FF2B5EF4-FFF2-40B4-BE49-F238E27FC236}">
                      <a16:creationId xmlns:a16="http://schemas.microsoft.com/office/drawing/2014/main" id="{7D0FC1F6-FB54-9EB7-9E27-4FBD064C37FE}"/>
                    </a:ext>
                  </a:extLst>
                </p:cNvPr>
                <p:cNvSpPr/>
                <p:nvPr/>
              </p:nvSpPr>
              <p:spPr>
                <a:xfrm>
                  <a:off x="3518154" y="4622189"/>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34" name="文本框 133">
                  <a:extLst>
                    <a:ext uri="{FF2B5EF4-FFF2-40B4-BE49-F238E27FC236}">
                      <a16:creationId xmlns:a16="http://schemas.microsoft.com/office/drawing/2014/main" id="{7A0BF858-5B7B-4F1D-0626-E7D54B2946AD}"/>
                    </a:ext>
                  </a:extLst>
                </p:cNvPr>
                <p:cNvSpPr txBox="1"/>
                <p:nvPr/>
              </p:nvSpPr>
              <p:spPr>
                <a:xfrm>
                  <a:off x="3812286" y="4635194"/>
                  <a:ext cx="618744"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密码系统</a:t>
                  </a:r>
                </a:p>
              </p:txBody>
            </p:sp>
          </p:grpSp>
          <p:grpSp>
            <p:nvGrpSpPr>
              <p:cNvPr id="135" name="图形 174">
                <a:extLst>
                  <a:ext uri="{FF2B5EF4-FFF2-40B4-BE49-F238E27FC236}">
                    <a16:creationId xmlns:a16="http://schemas.microsoft.com/office/drawing/2014/main" id="{B3E57D13-D9BD-5FBB-5642-195B2FDD97E8}"/>
                  </a:ext>
                </a:extLst>
              </p:cNvPr>
              <p:cNvGrpSpPr/>
              <p:nvPr/>
            </p:nvGrpSpPr>
            <p:grpSpPr>
              <a:xfrm>
                <a:off x="4792218" y="4622189"/>
                <a:ext cx="1207008" cy="268458"/>
                <a:chOff x="4792218" y="4622189"/>
                <a:chExt cx="1207008" cy="268458"/>
              </a:xfrm>
            </p:grpSpPr>
            <p:sp>
              <p:nvSpPr>
                <p:cNvPr id="136" name="任意多边形: 形状 135">
                  <a:extLst>
                    <a:ext uri="{FF2B5EF4-FFF2-40B4-BE49-F238E27FC236}">
                      <a16:creationId xmlns:a16="http://schemas.microsoft.com/office/drawing/2014/main" id="{226141F1-FAE7-5335-AC5A-949710ACD2D5}"/>
                    </a:ext>
                  </a:extLst>
                </p:cNvPr>
                <p:cNvSpPr/>
                <p:nvPr/>
              </p:nvSpPr>
              <p:spPr>
                <a:xfrm>
                  <a:off x="4792218" y="4622189"/>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37" name="文本框 136">
                  <a:extLst>
                    <a:ext uri="{FF2B5EF4-FFF2-40B4-BE49-F238E27FC236}">
                      <a16:creationId xmlns:a16="http://schemas.microsoft.com/office/drawing/2014/main" id="{5518132D-614F-867B-3811-5B145CD29B2D}"/>
                    </a:ext>
                  </a:extLst>
                </p:cNvPr>
                <p:cNvSpPr txBox="1"/>
                <p:nvPr/>
              </p:nvSpPr>
              <p:spPr>
                <a:xfrm>
                  <a:off x="5086350" y="4635194"/>
                  <a:ext cx="618744" cy="234058"/>
                </a:xfrm>
                <a:prstGeom prst="rect">
                  <a:avLst/>
                </a:prstGeom>
                <a:noFill/>
              </p:spPr>
              <p:txBody>
                <a:bodyPr wrap="none" rtlCol="0">
                  <a:spAutoFit/>
                </a:bodyPr>
                <a:lstStyle/>
                <a:p>
                  <a:pPr algn="l"/>
                  <a:r>
                    <a:rPr lang="zh-CN" altLang="en-US" sz="975" spc="0" baseline="0" dirty="0">
                      <a:ln/>
                      <a:solidFill>
                        <a:srgbClr val="1A2230"/>
                      </a:solidFill>
                      <a:latin typeface="微软雅黑"/>
                      <a:ea typeface="微软雅黑"/>
                      <a:sym typeface="微软雅黑"/>
                      <a:rtl val="0"/>
                    </a:rPr>
                    <a:t>数据分析</a:t>
                  </a:r>
                </a:p>
              </p:txBody>
            </p:sp>
          </p:grpSp>
          <p:grpSp>
            <p:nvGrpSpPr>
              <p:cNvPr id="138" name="图形 174">
                <a:extLst>
                  <a:ext uri="{FF2B5EF4-FFF2-40B4-BE49-F238E27FC236}">
                    <a16:creationId xmlns:a16="http://schemas.microsoft.com/office/drawing/2014/main" id="{CF39FCBB-4559-82A6-3C57-B33693E34357}"/>
                  </a:ext>
                </a:extLst>
              </p:cNvPr>
              <p:cNvGrpSpPr/>
              <p:nvPr/>
            </p:nvGrpSpPr>
            <p:grpSpPr>
              <a:xfrm>
                <a:off x="3518154" y="4957762"/>
                <a:ext cx="1207008" cy="268458"/>
                <a:chOff x="3518154" y="4957762"/>
                <a:chExt cx="1207008" cy="268458"/>
              </a:xfrm>
            </p:grpSpPr>
            <p:sp>
              <p:nvSpPr>
                <p:cNvPr id="139" name="任意多边形: 形状 138">
                  <a:extLst>
                    <a:ext uri="{FF2B5EF4-FFF2-40B4-BE49-F238E27FC236}">
                      <a16:creationId xmlns:a16="http://schemas.microsoft.com/office/drawing/2014/main" id="{E2377142-69EE-6C76-825F-29C6D9E91BF5}"/>
                    </a:ext>
                  </a:extLst>
                </p:cNvPr>
                <p:cNvSpPr/>
                <p:nvPr/>
              </p:nvSpPr>
              <p:spPr>
                <a:xfrm>
                  <a:off x="3518154" y="4957762"/>
                  <a:ext cx="1207008" cy="268458"/>
                </a:xfrm>
                <a:custGeom>
                  <a:avLst/>
                  <a:gdLst>
                    <a:gd name="connsiteX0" fmla="*/ 1173480 w 1207008"/>
                    <a:gd name="connsiteY0" fmla="*/ 0 h 268458"/>
                    <a:gd name="connsiteX1" fmla="*/ 1207008 w 1207008"/>
                    <a:gd name="connsiteY1" fmla="*/ 0 h 268458"/>
                    <a:gd name="connsiteX2" fmla="*/ 1207008 w 1207008"/>
                    <a:gd name="connsiteY2" fmla="*/ 268458 h 268458"/>
                    <a:gd name="connsiteX3" fmla="*/ 1173480 w 1207008"/>
                    <a:gd name="connsiteY3" fmla="*/ 268458 h 268458"/>
                    <a:gd name="connsiteX4" fmla="*/ 33528 w 1207008"/>
                    <a:gd name="connsiteY4" fmla="*/ 268458 h 268458"/>
                    <a:gd name="connsiteX5" fmla="*/ 0 w 1207008"/>
                    <a:gd name="connsiteY5" fmla="*/ 268458 h 268458"/>
                    <a:gd name="connsiteX6" fmla="*/ 0 w 1207008"/>
                    <a:gd name="connsiteY6" fmla="*/ 0 h 268458"/>
                    <a:gd name="connsiteX7" fmla="*/ 33528 w 1207008"/>
                    <a:gd name="connsiteY7" fmla="*/ 0 h 268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7008" h="268458">
                      <a:moveTo>
                        <a:pt x="1173480" y="0"/>
                      </a:moveTo>
                      <a:cubicBezTo>
                        <a:pt x="1191997" y="0"/>
                        <a:pt x="1207008" y="0"/>
                        <a:pt x="1207008" y="0"/>
                      </a:cubicBezTo>
                      <a:lnTo>
                        <a:pt x="1207008" y="268458"/>
                      </a:lnTo>
                      <a:cubicBezTo>
                        <a:pt x="1207008" y="268458"/>
                        <a:pt x="1191997" y="268458"/>
                        <a:pt x="1173480" y="268458"/>
                      </a:cubicBezTo>
                      <a:lnTo>
                        <a:pt x="33528" y="268458"/>
                      </a:lnTo>
                      <a:cubicBezTo>
                        <a:pt x="15011" y="268458"/>
                        <a:pt x="0" y="268458"/>
                        <a:pt x="0" y="268458"/>
                      </a:cubicBezTo>
                      <a:lnTo>
                        <a:pt x="0" y="0"/>
                      </a:lnTo>
                      <a:cubicBezTo>
                        <a:pt x="0" y="0"/>
                        <a:pt x="15011" y="0"/>
                        <a:pt x="33528" y="0"/>
                      </a:cubicBezTo>
                      <a:close/>
                    </a:path>
                  </a:pathLst>
                </a:custGeom>
                <a:solidFill>
                  <a:srgbClr val="FFFFFF"/>
                </a:solidFill>
                <a:ln w="8382" cap="flat">
                  <a:solidFill>
                    <a:srgbClr val="D6DCE5"/>
                  </a:solidFill>
                  <a:prstDash val="solid"/>
                  <a:miter/>
                </a:ln>
              </p:spPr>
              <p:txBody>
                <a:bodyPr rtlCol="0" anchor="ctr"/>
                <a:lstStyle/>
                <a:p>
                  <a:endParaRPr lang="zh-CN" altLang="en-US"/>
                </a:p>
              </p:txBody>
            </p:sp>
            <p:sp>
              <p:nvSpPr>
                <p:cNvPr id="140" name="文本框 139">
                  <a:extLst>
                    <a:ext uri="{FF2B5EF4-FFF2-40B4-BE49-F238E27FC236}">
                      <a16:creationId xmlns:a16="http://schemas.microsoft.com/office/drawing/2014/main" id="{FAA09436-9B9F-11C7-7FE9-F8B0A33AB11D}"/>
                    </a:ext>
                  </a:extLst>
                </p:cNvPr>
                <p:cNvSpPr txBox="1"/>
                <p:nvPr/>
              </p:nvSpPr>
              <p:spPr>
                <a:xfrm>
                  <a:off x="3757803" y="4970767"/>
                  <a:ext cx="727710" cy="234058"/>
                </a:xfrm>
                <a:prstGeom prst="rect">
                  <a:avLst/>
                </a:prstGeom>
                <a:noFill/>
              </p:spPr>
              <p:txBody>
                <a:bodyPr wrap="none" rtlCol="0">
                  <a:spAutoFit/>
                </a:bodyPr>
                <a:lstStyle/>
                <a:p>
                  <a:pPr algn="l"/>
                  <a:r>
                    <a:rPr lang="zh-CN" altLang="en-US" sz="975" spc="0" baseline="0">
                      <a:ln/>
                      <a:solidFill>
                        <a:srgbClr val="1A2230"/>
                      </a:solidFill>
                      <a:latin typeface="微软雅黑"/>
                      <a:ea typeface="微软雅黑"/>
                      <a:sym typeface="微软雅黑"/>
                      <a:rtl val="0"/>
                    </a:rPr>
                    <a:t>建模与分析</a:t>
                  </a:r>
                </a:p>
              </p:txBody>
            </p:sp>
          </p:grpSp>
          <p:sp>
            <p:nvSpPr>
              <p:cNvPr id="141" name="文本框 140">
                <a:extLst>
                  <a:ext uri="{FF2B5EF4-FFF2-40B4-BE49-F238E27FC236}">
                    <a16:creationId xmlns:a16="http://schemas.microsoft.com/office/drawing/2014/main" id="{4698779E-748F-7D7C-9751-975CE7B69D48}"/>
                  </a:ext>
                </a:extLst>
              </p:cNvPr>
              <p:cNvSpPr txBox="1"/>
              <p:nvPr/>
            </p:nvSpPr>
            <p:spPr>
              <a:xfrm>
                <a:off x="3821709" y="5486400"/>
                <a:ext cx="1806905" cy="369332"/>
              </a:xfrm>
              <a:prstGeom prst="rect">
                <a:avLst/>
              </a:prstGeom>
              <a:noFill/>
            </p:spPr>
            <p:txBody>
              <a:bodyPr wrap="none" rtlCol="0">
                <a:spAutoFit/>
              </a:bodyPr>
              <a:lstStyle/>
              <a:p>
                <a:pPr algn="l"/>
                <a:r>
                  <a:rPr lang="zh-CN" altLang="en-US" sz="900" spc="0" baseline="0" dirty="0">
                    <a:ln/>
                    <a:solidFill>
                      <a:srgbClr val="4A5568"/>
                    </a:solidFill>
                    <a:latin typeface="微软雅黑"/>
                    <a:ea typeface="微软雅黑"/>
                    <a:sym typeface="微软雅黑"/>
                    <a:rtl val="0"/>
                  </a:rPr>
                  <a:t>十三符号相位算子</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贝叶斯更新</a:t>
                </a:r>
                <a:r>
                  <a:rPr lang="zh-CN" altLang="en-US" sz="825" spc="0" baseline="0" dirty="0">
                    <a:ln/>
                    <a:solidFill>
                      <a:srgbClr val="4A5568"/>
                    </a:solidFill>
                    <a:latin typeface="Arial"/>
                    <a:ea typeface="微软雅黑"/>
                    <a:cs typeface="Arial"/>
                    <a:sym typeface="Arial"/>
                    <a:rtl val="0"/>
                  </a:rPr>
                  <a:t> </a:t>
                </a:r>
                <a:endParaRPr lang="en-US" altLang="zh-CN" sz="825" spc="0" baseline="0" dirty="0">
                  <a:ln/>
                  <a:solidFill>
                    <a:srgbClr val="4A5568"/>
                  </a:solidFill>
                  <a:latin typeface="Arial"/>
                  <a:ea typeface="微软雅黑"/>
                  <a:cs typeface="Arial"/>
                  <a:sym typeface="Arial"/>
                  <a:rtl val="0"/>
                </a:endParaRPr>
              </a:p>
              <a:p>
                <a:pPr algn="l"/>
                <a:r>
                  <a:rPr lang="zh-CN" altLang="en-US" sz="825" spc="0" baseline="0" dirty="0">
                    <a:ln/>
                    <a:solidFill>
                      <a:srgbClr val="4A5568"/>
                    </a:solidFill>
                    <a:latin typeface="Arial"/>
                    <a:ea typeface="微软雅黑"/>
                    <a:cs typeface="Arial"/>
                    <a:sym typeface="Arial"/>
                    <a:rtl val="0"/>
                  </a:rPr>
                  <a:t>· LFSR </a:t>
                </a:r>
                <a:r>
                  <a:rPr lang="zh-CN" altLang="en-US" sz="900" spc="0" baseline="0" dirty="0">
                    <a:ln/>
                    <a:solidFill>
                      <a:srgbClr val="4A5568"/>
                    </a:solidFill>
                    <a:latin typeface="微软雅黑"/>
                    <a:ea typeface="微软雅黑"/>
                    <a:cs typeface="Arial"/>
                    <a:sym typeface="微软雅黑"/>
                    <a:rtl val="0"/>
                  </a:rPr>
                  <a:t>状态周期</a:t>
                </a:r>
                <a:r>
                  <a:rPr lang="zh-CN" altLang="en-US" sz="825" spc="0" baseline="0" dirty="0">
                    <a:ln/>
                    <a:solidFill>
                      <a:srgbClr val="4A5568"/>
                    </a:solidFill>
                    <a:latin typeface="Arial"/>
                    <a:ea typeface="微软雅黑"/>
                    <a:cs typeface="Arial"/>
                    <a:sym typeface="Arial"/>
                    <a:rtl val="0"/>
                  </a:rPr>
                  <a:t> · </a:t>
                </a:r>
                <a:r>
                  <a:rPr lang="zh-CN" altLang="en-US" sz="900" spc="0" baseline="0" dirty="0">
                    <a:ln/>
                    <a:solidFill>
                      <a:srgbClr val="4A5568"/>
                    </a:solidFill>
                    <a:latin typeface="微软雅黑"/>
                    <a:ea typeface="微软雅黑"/>
                    <a:cs typeface="Arial"/>
                    <a:sym typeface="微软雅黑"/>
                    <a:rtl val="0"/>
                  </a:rPr>
                  <a:t>相位耦合网络</a:t>
                </a:r>
              </a:p>
            </p:txBody>
          </p:sp>
        </p:grpSp>
      </p:grpSp>
      <p:sp>
        <p:nvSpPr>
          <p:cNvPr id="176" name="文本框 175" descr="{&quot;isTemplate&quot;:true,&quot;type&quot;:&quot;text&quot;}"/>
          <p:cNvSpPr txBox="1"/>
          <p:nvPr/>
        </p:nvSpPr>
        <p:spPr>
          <a:xfrm>
            <a:off x="6534150" y="1352550"/>
            <a:ext cx="527685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每章都按同一套模板展开</a:t>
            </a:r>
            <a:endParaRPr/>
          </a:p>
        </p:txBody>
      </p:sp>
      <p:sp>
        <p:nvSpPr>
          <p:cNvPr id="177" name="文本框 176" descr="{&quot;isTemplate&quot;:true,&quot;type&quot;:&quot;text&quot;}"/>
          <p:cNvSpPr txBox="1"/>
          <p:nvPr/>
        </p:nvSpPr>
        <p:spPr>
          <a:xfrm>
            <a:off x="6534150" y="1695450"/>
            <a:ext cx="5276850" cy="638175"/>
          </a:xfrm>
          <a:prstGeom prst="rect">
            <a:avLst/>
          </a:prstGeom>
        </p:spPr>
        <p:txBody>
          <a:bodyPr wrap="square" lIns="0" tIns="0" rIns="0" bIns="0">
            <a:normAutofit/>
          </a:bodyPr>
          <a:lstStyle/>
          <a:p>
            <a:pPr>
              <a:lnSpc>
                <a:spcPct val="185000"/>
              </a:lnSpc>
            </a:pPr>
            <a:r>
              <a:rPr lang="zh-CN" sz="1125">
                <a:solidFill>
                  <a:srgbClr val="4A5568"/>
                </a:solidFill>
                <a:latin typeface="Microsoft YaHei"/>
                <a:ea typeface="Microsoft YaHei"/>
              </a:rPr>
              <a:t>覆盖</a:t>
            </a:r>
            <a:r>
              <a:rPr lang="en-US" sz="1125">
                <a:solidFill>
                  <a:srgbClr val="4A5568"/>
                </a:solidFill>
                <a:latin typeface="Microsoft YaHei"/>
                <a:ea typeface="Microsoft YaHei"/>
              </a:rPr>
              <a:t> 21 </a:t>
            </a:r>
            <a:r>
              <a:rPr lang="zh-CN" sz="1125">
                <a:solidFill>
                  <a:srgbClr val="4A5568"/>
                </a:solidFill>
                <a:latin typeface="Microsoft YaHei"/>
                <a:ea typeface="Microsoft YaHei"/>
              </a:rPr>
              <a:t>个领域本身不构成价值——把同一本书的目录铺开，也可以看起来很宽。真正需要检验的是：这些章节是否在回答同一组问题。</a:t>
            </a:r>
            <a:endParaRPr/>
          </a:p>
        </p:txBody>
      </p:sp>
      <p:sp>
        <p:nvSpPr>
          <p:cNvPr id="178" name="任意多边形: 形状 177"/>
          <p:cNvSpPr/>
          <p:nvPr/>
        </p:nvSpPr>
        <p:spPr>
          <a:xfrm>
            <a:off x="6534150" y="2486025"/>
            <a:ext cx="5276850" cy="495300"/>
          </a:xfrm>
          <a:custGeom>
            <a:avLst/>
            <a:gdLst/>
            <a:ahLst/>
            <a:cxnLst/>
            <a:rect l="0" t="0" r="0" b="0"/>
            <a:pathLst>
              <a:path w="554" h="52">
                <a:moveTo>
                  <a:pt x="0" y="0"/>
                </a:moveTo>
                <a:lnTo>
                  <a:pt x="554" y="0"/>
                </a:lnTo>
                <a:lnTo>
                  <a:pt x="554" y="1"/>
                </a:lnTo>
                <a:lnTo>
                  <a:pt x="0" y="1"/>
                </a:lnTo>
                <a:close/>
              </a:path>
            </a:pathLst>
          </a:custGeom>
          <a:solidFill>
            <a:srgbClr val="E5E7EB"/>
          </a:solidFill>
          <a:ln/>
        </p:spPr>
        <p:txBody>
          <a:bodyPr/>
          <a:lstStyle/>
          <a:p>
            <a:endParaRPr/>
          </a:p>
        </p:txBody>
      </p:sp>
      <p:sp>
        <p:nvSpPr>
          <p:cNvPr id="179" name="文本框 178" descr="{&quot;isTemplate&quot;:true,&quot;type&quot;:&quot;text&quot;}"/>
          <p:cNvSpPr txBox="1"/>
          <p:nvPr/>
        </p:nvSpPr>
        <p:spPr>
          <a:xfrm>
            <a:off x="6534150" y="2600325"/>
            <a:ext cx="685800" cy="171450"/>
          </a:xfrm>
          <a:prstGeom prst="rect">
            <a:avLst/>
          </a:prstGeom>
        </p:spPr>
        <p:txBody>
          <a:bodyPr wrap="none" lIns="0" tIns="0" rIns="0" bIns="0"/>
          <a:lstStyle/>
          <a:p>
            <a:pPr>
              <a:lnSpc>
                <a:spcPct val="100000"/>
              </a:lnSpc>
            </a:pPr>
            <a:r>
              <a:rPr lang="zh-CN" sz="1125" b="1" dirty="0">
                <a:solidFill>
                  <a:srgbClr val="1E4FA8"/>
                </a:solidFill>
                <a:latin typeface="Microsoft YaHei"/>
                <a:ea typeface="Microsoft YaHei"/>
              </a:rPr>
              <a:t>对称群</a:t>
            </a:r>
            <a:endParaRPr dirty="0"/>
          </a:p>
        </p:txBody>
      </p:sp>
      <p:sp>
        <p:nvSpPr>
          <p:cNvPr id="180" name="文本框 179" descr="{&quot;isTemplate&quot;:true,&quot;type&quot;:&quot;text&quot;}"/>
          <p:cNvSpPr txBox="1"/>
          <p:nvPr/>
        </p:nvSpPr>
        <p:spPr>
          <a:xfrm>
            <a:off x="7353300" y="2600325"/>
            <a:ext cx="4457700" cy="266700"/>
          </a:xfrm>
          <a:prstGeom prst="rect">
            <a:avLst/>
          </a:prstGeom>
        </p:spPr>
        <p:txBody>
          <a:bodyPr wrap="none" lIns="0" tIns="0" rIns="0" bIns="0"/>
          <a:lstStyle/>
          <a:p>
            <a:pPr>
              <a:lnSpc>
                <a:spcPct val="165000"/>
              </a:lnSpc>
            </a:pPr>
            <a:r>
              <a:rPr lang="zh-CN" sz="1050" dirty="0">
                <a:solidFill>
                  <a:srgbClr val="4A5568"/>
                </a:solidFill>
                <a:latin typeface="Microsoft YaHei"/>
                <a:ea typeface="Microsoft YaHei"/>
              </a:rPr>
              <a:t>这个系统在什么变换群下保持内禀结构？</a:t>
            </a:r>
            <a:endParaRPr dirty="0"/>
          </a:p>
        </p:txBody>
      </p:sp>
      <p:sp>
        <p:nvSpPr>
          <p:cNvPr id="181" name="任意多边形: 形状 180"/>
          <p:cNvSpPr/>
          <p:nvPr/>
        </p:nvSpPr>
        <p:spPr>
          <a:xfrm>
            <a:off x="6534150" y="2971800"/>
            <a:ext cx="5276850" cy="495300"/>
          </a:xfrm>
          <a:custGeom>
            <a:avLst/>
            <a:gdLst/>
            <a:ahLst/>
            <a:cxnLst/>
            <a:rect l="0" t="0" r="0" b="0"/>
            <a:pathLst>
              <a:path w="554" h="52">
                <a:moveTo>
                  <a:pt x="0" y="0"/>
                </a:moveTo>
                <a:lnTo>
                  <a:pt x="554" y="0"/>
                </a:lnTo>
                <a:lnTo>
                  <a:pt x="554" y="1"/>
                </a:lnTo>
                <a:lnTo>
                  <a:pt x="0" y="1"/>
                </a:lnTo>
                <a:close/>
              </a:path>
            </a:pathLst>
          </a:custGeom>
          <a:solidFill>
            <a:srgbClr val="E5E7EB"/>
          </a:solidFill>
          <a:ln/>
        </p:spPr>
        <p:txBody>
          <a:bodyPr/>
          <a:lstStyle/>
          <a:p>
            <a:endParaRPr/>
          </a:p>
        </p:txBody>
      </p:sp>
      <p:sp>
        <p:nvSpPr>
          <p:cNvPr id="182" name="文本框 181" descr="{&quot;isTemplate&quot;:true,&quot;type&quot;:&quot;text&quot;}"/>
          <p:cNvSpPr txBox="1"/>
          <p:nvPr/>
        </p:nvSpPr>
        <p:spPr>
          <a:xfrm>
            <a:off x="6534150" y="3086100"/>
            <a:ext cx="6858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守恒量</a:t>
            </a:r>
            <a:endParaRPr/>
          </a:p>
        </p:txBody>
      </p:sp>
      <p:sp>
        <p:nvSpPr>
          <p:cNvPr id="183" name="文本框 182" descr="{&quot;isTemplate&quot;:true,&quot;type&quot;:&quot;text&quot;}"/>
          <p:cNvSpPr txBox="1"/>
          <p:nvPr/>
        </p:nvSpPr>
        <p:spPr>
          <a:xfrm>
            <a:off x="7353300" y="3086100"/>
            <a:ext cx="4457700" cy="266700"/>
          </a:xfrm>
          <a:prstGeom prst="rect">
            <a:avLst/>
          </a:prstGeom>
        </p:spPr>
        <p:txBody>
          <a:bodyPr wrap="none" lIns="0" tIns="0" rIns="0" bIns="0"/>
          <a:lstStyle/>
          <a:p>
            <a:pPr>
              <a:lnSpc>
                <a:spcPct val="165000"/>
              </a:lnSpc>
            </a:pPr>
            <a:r>
              <a:rPr lang="zh-CN" sz="1050">
                <a:solidFill>
                  <a:srgbClr val="4A5568"/>
                </a:solidFill>
                <a:latin typeface="Microsoft YaHei"/>
                <a:ea typeface="Microsoft YaHei"/>
              </a:rPr>
              <a:t>是否存在在该变换下不变的量，把轨道约束在低维子集上？</a:t>
            </a:r>
            <a:endParaRPr/>
          </a:p>
        </p:txBody>
      </p:sp>
      <p:sp>
        <p:nvSpPr>
          <p:cNvPr id="184" name="任意多边形: 形状 183"/>
          <p:cNvSpPr/>
          <p:nvPr/>
        </p:nvSpPr>
        <p:spPr>
          <a:xfrm>
            <a:off x="6534150" y="3457575"/>
            <a:ext cx="5276850" cy="495300"/>
          </a:xfrm>
          <a:custGeom>
            <a:avLst/>
            <a:gdLst/>
            <a:ahLst/>
            <a:cxnLst/>
            <a:rect l="0" t="0" r="0" b="0"/>
            <a:pathLst>
              <a:path w="554" h="52">
                <a:moveTo>
                  <a:pt x="0" y="0"/>
                </a:moveTo>
                <a:lnTo>
                  <a:pt x="554" y="0"/>
                </a:lnTo>
                <a:lnTo>
                  <a:pt x="554" y="1"/>
                </a:lnTo>
                <a:lnTo>
                  <a:pt x="0" y="1"/>
                </a:lnTo>
                <a:close/>
              </a:path>
            </a:pathLst>
          </a:custGeom>
          <a:solidFill>
            <a:srgbClr val="E5E7EB"/>
          </a:solidFill>
          <a:ln/>
        </p:spPr>
        <p:txBody>
          <a:bodyPr/>
          <a:lstStyle/>
          <a:p>
            <a:endParaRPr/>
          </a:p>
        </p:txBody>
      </p:sp>
      <p:sp>
        <p:nvSpPr>
          <p:cNvPr id="185" name="文本框 184" descr="{&quot;isTemplate&quot;:true,&quot;type&quot;:&quot;text&quot;}"/>
          <p:cNvSpPr txBox="1"/>
          <p:nvPr/>
        </p:nvSpPr>
        <p:spPr>
          <a:xfrm>
            <a:off x="6534150" y="3571875"/>
            <a:ext cx="6858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周期结构</a:t>
            </a:r>
            <a:endParaRPr/>
          </a:p>
        </p:txBody>
      </p:sp>
      <p:sp>
        <p:nvSpPr>
          <p:cNvPr id="186" name="文本框 185" descr="{&quot;isTemplate&quot;:true,&quot;type&quot;:&quot;text&quot;}"/>
          <p:cNvSpPr txBox="1"/>
          <p:nvPr/>
        </p:nvSpPr>
        <p:spPr>
          <a:xfrm>
            <a:off x="7353300" y="3571875"/>
            <a:ext cx="4457700" cy="266700"/>
          </a:xfrm>
          <a:prstGeom prst="rect">
            <a:avLst/>
          </a:prstGeom>
        </p:spPr>
        <p:txBody>
          <a:bodyPr wrap="none" lIns="0" tIns="0" rIns="0" bIns="0"/>
          <a:lstStyle/>
          <a:p>
            <a:pPr>
              <a:lnSpc>
                <a:spcPct val="165000"/>
              </a:lnSpc>
            </a:pPr>
            <a:r>
              <a:rPr lang="zh-CN" sz="1050">
                <a:solidFill>
                  <a:srgbClr val="4A5568"/>
                </a:solidFill>
                <a:latin typeface="Microsoft YaHei"/>
                <a:ea typeface="Microsoft YaHei"/>
              </a:rPr>
              <a:t>轨道是否闭合？闭合到什么程度？</a:t>
            </a:r>
            <a:endParaRPr/>
          </a:p>
        </p:txBody>
      </p:sp>
      <p:sp>
        <p:nvSpPr>
          <p:cNvPr id="187" name="任意多边形: 形状 186"/>
          <p:cNvSpPr/>
          <p:nvPr/>
        </p:nvSpPr>
        <p:spPr>
          <a:xfrm>
            <a:off x="6534150" y="3943350"/>
            <a:ext cx="5276850" cy="495300"/>
          </a:xfrm>
          <a:custGeom>
            <a:avLst/>
            <a:gdLst/>
            <a:ahLst/>
            <a:cxnLst/>
            <a:rect l="0" t="0" r="0" b="0"/>
            <a:pathLst>
              <a:path w="554" h="52">
                <a:moveTo>
                  <a:pt x="0" y="0"/>
                </a:moveTo>
                <a:lnTo>
                  <a:pt x="554" y="0"/>
                </a:lnTo>
                <a:lnTo>
                  <a:pt x="554" y="1"/>
                </a:lnTo>
                <a:lnTo>
                  <a:pt x="0" y="1"/>
                </a:lnTo>
                <a:close/>
              </a:path>
            </a:pathLst>
          </a:custGeom>
          <a:solidFill>
            <a:srgbClr val="E5E7EB"/>
          </a:solidFill>
          <a:ln/>
        </p:spPr>
        <p:txBody>
          <a:bodyPr/>
          <a:lstStyle/>
          <a:p>
            <a:endParaRPr/>
          </a:p>
        </p:txBody>
      </p:sp>
      <p:sp>
        <p:nvSpPr>
          <p:cNvPr id="188" name="文本框 187" descr="{&quot;isTemplate&quot;:true,&quot;type&quot;:&quot;text&quot;}"/>
          <p:cNvSpPr txBox="1"/>
          <p:nvPr/>
        </p:nvSpPr>
        <p:spPr>
          <a:xfrm>
            <a:off x="6534150" y="4057650"/>
            <a:ext cx="685800" cy="171450"/>
          </a:xfrm>
          <a:prstGeom prst="rect">
            <a:avLst/>
          </a:prstGeom>
        </p:spPr>
        <p:txBody>
          <a:bodyPr wrap="none" lIns="0" tIns="0" rIns="0" bIns="0"/>
          <a:lstStyle/>
          <a:p>
            <a:pPr>
              <a:lnSpc>
                <a:spcPct val="100000"/>
              </a:lnSpc>
            </a:pPr>
            <a:r>
              <a:rPr lang="zh-CN" sz="1125" b="1">
                <a:solidFill>
                  <a:srgbClr val="1E4FA8"/>
                </a:solidFill>
                <a:latin typeface="Microsoft YaHei"/>
                <a:ea typeface="Microsoft YaHei"/>
              </a:rPr>
              <a:t>守恒律</a:t>
            </a:r>
            <a:endParaRPr/>
          </a:p>
        </p:txBody>
      </p:sp>
      <p:sp>
        <p:nvSpPr>
          <p:cNvPr id="189" name="文本框 188" descr="{&quot;isTemplate&quot;:true,&quot;type&quot;:&quot;text&quot;}"/>
          <p:cNvSpPr txBox="1"/>
          <p:nvPr/>
        </p:nvSpPr>
        <p:spPr>
          <a:xfrm>
            <a:off x="7353300" y="4057650"/>
            <a:ext cx="4457700" cy="266700"/>
          </a:xfrm>
          <a:prstGeom prst="rect">
            <a:avLst/>
          </a:prstGeom>
        </p:spPr>
        <p:txBody>
          <a:bodyPr wrap="none" lIns="0" tIns="0" rIns="0" bIns="0"/>
          <a:lstStyle/>
          <a:p>
            <a:pPr>
              <a:lnSpc>
                <a:spcPct val="165000"/>
              </a:lnSpc>
            </a:pPr>
            <a:r>
              <a:rPr lang="zh-CN" sz="1050">
                <a:solidFill>
                  <a:srgbClr val="4A5568"/>
                </a:solidFill>
                <a:latin typeface="Microsoft YaHei"/>
                <a:ea typeface="Microsoft YaHei"/>
              </a:rPr>
              <a:t>周期在什么条件下生成、维持、破缺？</a:t>
            </a:r>
            <a:endParaRPr/>
          </a:p>
        </p:txBody>
      </p:sp>
      <p:sp>
        <p:nvSpPr>
          <p:cNvPr id="190" name="矩形: 圆角 189"/>
          <p:cNvSpPr/>
          <p:nvPr/>
        </p:nvSpPr>
        <p:spPr>
          <a:xfrm>
            <a:off x="6534150" y="5486400"/>
            <a:ext cx="5276850" cy="895350"/>
          </a:xfrm>
          <a:prstGeom prst="roundRect">
            <a:avLst>
              <a:gd name="adj" fmla="val 6383"/>
            </a:avLst>
          </a:prstGeom>
          <a:solidFill>
            <a:srgbClr val="0E3F8C"/>
          </a:solidFill>
          <a:ln/>
        </p:spPr>
        <p:txBody>
          <a:bodyPr/>
          <a:lstStyle/>
          <a:p>
            <a:endParaRPr/>
          </a:p>
        </p:txBody>
      </p:sp>
      <p:sp>
        <p:nvSpPr>
          <p:cNvPr id="191" name="文本框 190" descr="{&quot;isTemplate&quot;:true,&quot;type&quot;:&quot;text&quot;}"/>
          <p:cNvSpPr txBox="1"/>
          <p:nvPr/>
        </p:nvSpPr>
        <p:spPr>
          <a:xfrm>
            <a:off x="6686550" y="5638800"/>
            <a:ext cx="4972050" cy="590550"/>
          </a:xfrm>
          <a:prstGeom prst="rect">
            <a:avLst/>
          </a:prstGeom>
        </p:spPr>
        <p:txBody>
          <a:bodyPr wrap="square" lIns="0" tIns="0" rIns="0" bIns="0">
            <a:normAutofit/>
          </a:bodyPr>
          <a:lstStyle/>
          <a:p>
            <a:pPr>
              <a:lnSpc>
                <a:spcPct val="170000"/>
              </a:lnSpc>
            </a:pPr>
            <a:r>
              <a:rPr lang="zh-CN" sz="1125">
                <a:solidFill>
                  <a:srgbClr val="DCE7F7"/>
                </a:solidFill>
                <a:latin typeface="Microsoft YaHei"/>
                <a:ea typeface="Microsoft YaHei"/>
              </a:rPr>
              <a:t>对于满足条件的系统，给出严格的周期结构描述；对于部分满足的，</a:t>
            </a:r>
            <a:r>
              <a:rPr lang="zh-CN" sz="1125" b="1">
                <a:solidFill>
                  <a:srgbClr val="FFFFFF"/>
                </a:solidFill>
                <a:latin typeface="Microsoft YaHei"/>
                <a:ea typeface="Microsoft YaHei"/>
              </a:rPr>
              <a:t>精确测量其偏离闭合轨道的程度</a:t>
            </a:r>
            <a:r>
              <a:rPr lang="zh-CN" sz="1125">
                <a:solidFill>
                  <a:srgbClr val="DCE7F7"/>
                </a:solidFill>
                <a:latin typeface="Microsoft YaHei"/>
                <a:ea typeface="Microsoft YaHei"/>
              </a:rPr>
              <a:t>；对于不满足的，明确承认它的</a:t>
            </a:r>
            <a:r>
              <a:rPr lang="en-US" sz="1125">
                <a:solidFill>
                  <a:srgbClr val="DCE7F7"/>
                </a:solidFill>
                <a:latin typeface="Microsoft YaHei"/>
                <a:ea typeface="Microsoft YaHei"/>
              </a:rPr>
              <a:t>"</a:t>
            </a:r>
            <a:r>
              <a:rPr lang="zh-CN" sz="1125">
                <a:solidFill>
                  <a:srgbClr val="DCE7F7"/>
                </a:solidFill>
                <a:latin typeface="Microsoft YaHei"/>
                <a:ea typeface="Microsoft YaHei"/>
              </a:rPr>
              <a:t>周期性</a:t>
            </a:r>
            <a:r>
              <a:rPr lang="en-US" sz="1125">
                <a:solidFill>
                  <a:srgbClr val="DCE7F7"/>
                </a:solidFill>
                <a:latin typeface="Microsoft YaHei"/>
                <a:ea typeface="Microsoft YaHei"/>
              </a:rPr>
              <a:t>"</a:t>
            </a:r>
            <a:r>
              <a:rPr lang="zh-CN" sz="1125">
                <a:solidFill>
                  <a:srgbClr val="DCE7F7"/>
                </a:solidFill>
                <a:latin typeface="Microsoft YaHei"/>
                <a:ea typeface="Microsoft YaHei"/>
              </a:rPr>
              <a:t>只是隐喻。</a:t>
            </a:r>
            <a:endParaRPr/>
          </a:p>
        </p:txBody>
      </p:sp>
      <p:sp>
        <p:nvSpPr>
          <p:cNvPr id="192" name="文本框 191"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193" name="文本框 192"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16 / 22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3 方法工具与价值&lt;/Text&gt;&#10;    &lt;/Box&gt;&#10;&#10;    &lt;Box style={{ width: '100%', height: 78, paddingLeft: 40, paddingRight: 40, justifyContent: 'center' }}&gt;&#10;        &lt;Text style={{ fontSize: 32, fontWeight: 'bold', color: '#0E3F8C' }}&gt;历法、市场、智能体：三个能立刻检验的落点&lt;/Text&gt;&#10;    &lt;/Box&gt;&#10;&#10;    &lt;Box style={{ width: '100%', flex: 1, flexDirection: 'row', gap: 26, paddingLeft: 40, paddingRight: 40, paddingBottom: 16 }}&gt;&#10;&#10;        &lt;Box style={{ width: 372, borderRadius: 6, background: '#0E3F8C', padding: 26, flexDirection: 'column' }}&gt;&#10;            &lt;Text style={{ fontSize: 12, color: '#8FB4E8', letterSpacing: 3 }}&gt;WHERE TO START&lt;/Text&gt;&#10;            &lt;Box style={{ width: 44, height: 4, background: '#FFC107', marginTop: 12, marginBottom: 18 }} /&gt;&#10;            &lt;Text style={{ fontSize: 25, fontWeight: 'bold', color: '#FFFFFF', lineHeight: 1.45 }}&gt;{`三个可立刻\n检验的落点`}&lt;/Text&gt;&#10;            &lt;Text style={{ fontSize: 15, color: '#B8CEEC', lineHeight: 1.85, marginTop: 18 }}&gt;&#10;                {`选这三个方向，不是因为它们最宏大，而是因为它们的验证成本最低——都能在两到三个月内给出可对照的实验结果。`}&#10;            &lt;/Text&gt;&#10;            &lt;Box style={{ flex: 1 }} /&gt;&#10;            &lt;Box style={{ width: '100%', height: 1, background: 'rgba(184,206,236,0.3)', marginBottom: 14 }} /&gt;&#10;            &lt;Text style={{ fontSize: 14, color: '#FFC107', lineHeight: 1.7 }}&gt;&#10;                {`三项都已在手稿末章列为开放任务，此处不作已完成结论。`}&#10;            &lt;/Text&gt;&#10;        &lt;/Box&gt;&#10;&#10;        &lt;Box style={{ flex: 1, flexDirection: 'column' }}&gt;&#10;            {[&#10;                { n: '01', t: '历法：不可公度周期的主动公度化', d: '节气系统（太阳历）与朔望月系统（太阴历）各自独立，阴阳合历的协调靠&quot;无中气置闰&quot;。这与《淮南子·天文训》的一纪、《皇极经世》的元会运世嵌套体系，可以做纯粹结构层面的对照。', v: '验证方式：置闰误差有界定理的手稿结论，对照真实历法的闰月分布统计' },&#10;                { n: '02', t: '市场：用方向而不是幅度诊断拐点', d: '把窗函数—折射率体系用于股票与宏观序列，用正弦差角相似度与折射率比检验趋势反转的预测有效性，并用 Fisher 检验给出周期显著性的精确阈值——而不是靠目测周期图。', v: '验证方式：与移动平均、ARIMA 等基准方法做滚动窗口对照' },&#10;                { n: '03', t: '智能体：把周期结构装进模型', d: '周期卷积作为神经网络的特征提取层，复指数激活函数作为可学习非线性，核平滑导-积下降作为优化器，相位耦合网络用于多智能体同步——四条路径共享同一套周转圆参数化。', v: '验证方式：在时间序列预测与序列建模任务上做消融实验' },&#10;            ].map((it, i) =&gt; (&#10;                &lt;Box key={i} style={{ flex: 1, flexDirection: 'row', alignItems: 'flex-start', gap: 18, paddingTop: 14, paddingBottom: 14, borderTop: i === 0 ? '1px solid #E5E7EB' : 'none', borderBottom: '1px solid #E5E7EB' }}&gt;&#10;                    &lt;Box style={{ width: 46, height: 46, borderRadius: 4, background: '#E8EFF8', justifyContent: 'center', alignItems: 'center' }}&gt;&#10;                        &lt;Text style={{ fontSize: 19, fontWeight: 'bold', color: '#1E4FA8' }}&gt;{it.n}&lt;/Text&gt;&#10;                    &lt;/Box&gt;&#10;                    &lt;Box style={{ flex: 1, flexDirection: 'column' }}&gt;&#10;                        &lt;Text style={{ fontSize: 18, fontWeight: 'bold', color: '#1A2230', marginBottom: 6 }}&gt;{it.t}&lt;/Text&gt;&#10;                        &lt;Text style={{ fontSize: 14, color: '#4A5568', lineHeight: 1.7 }}&gt;{it.d}&lt;/Text&gt;&#10;                        &lt;Text style={{ fontSize: 13, color: '#1E4FA8', lineHeight: 1.6, marginTop: 7 }}&gt;{it.v}&lt;/Text&gt;&#10;                    &lt;/Box&gt;&#10;                &lt;/Box&gt;&#10;            ))}&#10;        &lt;/Box&gt;&#10;    &lt;/Box&gt;&#10;&#10;    &lt;Box style={{ width: '100%', height: 34, paddingLeft: 40, paddingRight: 40, flexDirection: 'row', alignItems: 'center', justifyContent: 'space-between' }}&gt;&#10;        &lt;Text style={{ fontSize: 12, color: '#8B97A8' }}&gt;Periodicity Mathematics&lt;/Text&gt;&#10;        &lt;Text style={{ fontSize: 14, color: '#0E3F8C' }}&gt;17 / 22&lt;/Text&gt;&#10;    &lt;/Box&gt;&#10;&lt;/Slide&gt;&#10;"/>
        <p:cNvGrpSpPr/>
        <p:nvPr/>
      </p:nvGrpSpPr>
      <p:grpSpPr>
        <a:xfrm>
          <a:off x="0" y="0"/>
          <a:ext cx="0" cy="0"/>
          <a:chOff x="0" y="0"/>
          <a:chExt cx="0" cy="0"/>
        </a:xfrm>
      </p:grpSpPr>
      <p:sp>
        <p:nvSpPr>
          <p:cNvPr id="195" name="矩形 194"/>
          <p:cNvSpPr/>
          <p:nvPr/>
        </p:nvSpPr>
        <p:spPr>
          <a:xfrm>
            <a:off x="0" y="0"/>
            <a:ext cx="12192000" cy="6858000"/>
          </a:xfrm>
          <a:prstGeom prst="rect">
            <a:avLst/>
          </a:prstGeom>
          <a:solidFill>
            <a:srgbClr val="FFFFFF"/>
          </a:solidFill>
          <a:ln/>
        </p:spPr>
        <p:txBody>
          <a:bodyPr/>
          <a:lstStyle/>
          <a:p>
            <a:endParaRPr/>
          </a:p>
        </p:txBody>
      </p:sp>
      <p:sp>
        <p:nvSpPr>
          <p:cNvPr id="196" name="矩形 195"/>
          <p:cNvSpPr/>
          <p:nvPr/>
        </p:nvSpPr>
        <p:spPr>
          <a:xfrm>
            <a:off x="0" y="0"/>
            <a:ext cx="12192000" cy="76200"/>
          </a:xfrm>
          <a:prstGeom prst="rect">
            <a:avLst/>
          </a:prstGeom>
          <a:solidFill>
            <a:srgbClr val="1E4FA8"/>
          </a:solidFill>
          <a:ln/>
        </p:spPr>
        <p:txBody>
          <a:bodyPr/>
          <a:lstStyle/>
          <a:p>
            <a:endParaRPr/>
          </a:p>
        </p:txBody>
      </p:sp>
      <p:sp>
        <p:nvSpPr>
          <p:cNvPr id="197" name="任意多边形: 形状 196"/>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198" name="文本框 197"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199" name="文本框 198" descr="{&quot;isTemplate&quot;:true,&quot;type&quot;:&quot;text&quot;}"/>
          <p:cNvSpPr txBox="1"/>
          <p:nvPr/>
        </p:nvSpPr>
        <p:spPr>
          <a:xfrm>
            <a:off x="10582275" y="257175"/>
            <a:ext cx="1228725"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03 </a:t>
            </a:r>
            <a:r>
              <a:rPr lang="zh-CN" sz="1050" spc="75">
                <a:solidFill>
                  <a:srgbClr val="1E4FA8"/>
                </a:solidFill>
                <a:latin typeface="Microsoft YaHei"/>
                <a:ea typeface="Microsoft YaHei"/>
              </a:rPr>
              <a:t>方法工具与价值</a:t>
            </a:r>
            <a:endParaRPr/>
          </a:p>
        </p:txBody>
      </p:sp>
      <p:sp>
        <p:nvSpPr>
          <p:cNvPr id="200" name="文本框 199"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历法、市场、智能体：三个能立刻检验的落点</a:t>
            </a:r>
            <a:endParaRPr/>
          </a:p>
        </p:txBody>
      </p:sp>
      <p:sp>
        <p:nvSpPr>
          <p:cNvPr id="201" name="矩形: 圆角 200"/>
          <p:cNvSpPr/>
          <p:nvPr/>
        </p:nvSpPr>
        <p:spPr>
          <a:xfrm>
            <a:off x="381000" y="1352550"/>
            <a:ext cx="3543300" cy="5029200"/>
          </a:xfrm>
          <a:prstGeom prst="roundRect">
            <a:avLst>
              <a:gd name="adj" fmla="val 1613"/>
            </a:avLst>
          </a:prstGeom>
          <a:solidFill>
            <a:srgbClr val="0E3F8C"/>
          </a:solidFill>
          <a:ln/>
        </p:spPr>
        <p:txBody>
          <a:bodyPr/>
          <a:lstStyle/>
          <a:p>
            <a:endParaRPr/>
          </a:p>
        </p:txBody>
      </p:sp>
      <p:sp>
        <p:nvSpPr>
          <p:cNvPr id="202" name="文本框 201" descr="{&quot;isTemplate&quot;:true,&quot;type&quot;:&quot;text&quot;}"/>
          <p:cNvSpPr txBox="1"/>
          <p:nvPr/>
        </p:nvSpPr>
        <p:spPr>
          <a:xfrm>
            <a:off x="628650" y="1600200"/>
            <a:ext cx="3048000" cy="142875"/>
          </a:xfrm>
          <a:prstGeom prst="rect">
            <a:avLst/>
          </a:prstGeom>
        </p:spPr>
        <p:txBody>
          <a:bodyPr wrap="none" lIns="0" tIns="0" rIns="0" bIns="0"/>
          <a:lstStyle/>
          <a:p>
            <a:pPr>
              <a:lnSpc>
                <a:spcPct val="100000"/>
              </a:lnSpc>
            </a:pPr>
            <a:r>
              <a:rPr lang="en-US" sz="900" spc="225">
                <a:solidFill>
                  <a:srgbClr val="8FB4E8"/>
                </a:solidFill>
                <a:latin typeface="Microsoft YaHei"/>
                <a:ea typeface="Microsoft YaHei"/>
              </a:rPr>
              <a:t>WHERE TO START</a:t>
            </a:r>
            <a:endParaRPr/>
          </a:p>
        </p:txBody>
      </p:sp>
      <p:sp>
        <p:nvSpPr>
          <p:cNvPr id="203" name="矩形 202"/>
          <p:cNvSpPr/>
          <p:nvPr/>
        </p:nvSpPr>
        <p:spPr>
          <a:xfrm>
            <a:off x="628650" y="1857375"/>
            <a:ext cx="419100" cy="38100"/>
          </a:xfrm>
          <a:prstGeom prst="rect">
            <a:avLst/>
          </a:prstGeom>
          <a:solidFill>
            <a:srgbClr val="FFC107"/>
          </a:solidFill>
          <a:ln/>
        </p:spPr>
        <p:txBody>
          <a:bodyPr/>
          <a:lstStyle/>
          <a:p>
            <a:endParaRPr/>
          </a:p>
        </p:txBody>
      </p:sp>
      <p:sp>
        <p:nvSpPr>
          <p:cNvPr id="204" name="文本框 203" descr="{&quot;isTemplate&quot;:true,&quot;type&quot;:&quot;text&quot;}"/>
          <p:cNvSpPr txBox="1"/>
          <p:nvPr/>
        </p:nvSpPr>
        <p:spPr>
          <a:xfrm>
            <a:off x="628650" y="2066925"/>
            <a:ext cx="3048000" cy="828675"/>
          </a:xfrm>
          <a:prstGeom prst="rect">
            <a:avLst/>
          </a:prstGeom>
        </p:spPr>
        <p:txBody>
          <a:bodyPr wrap="none" lIns="0" tIns="0" rIns="0" bIns="0"/>
          <a:lstStyle/>
          <a:p>
            <a:pPr>
              <a:lnSpc>
                <a:spcPct val="145000"/>
              </a:lnSpc>
            </a:pPr>
            <a:r>
              <a:rPr lang="zh-CN" sz="1875" b="1">
                <a:solidFill>
                  <a:srgbClr val="FFFFFF"/>
                </a:solidFill>
                <a:latin typeface="Microsoft YaHei"/>
                <a:ea typeface="Microsoft YaHei"/>
              </a:rPr>
              <a:t>三个可立刻
检验的落点</a:t>
            </a:r>
            <a:endParaRPr/>
          </a:p>
        </p:txBody>
      </p:sp>
      <p:sp>
        <p:nvSpPr>
          <p:cNvPr id="205" name="文本框 204" descr="{&quot;isTemplate&quot;:true,&quot;type&quot;:&quot;text&quot;}"/>
          <p:cNvSpPr txBox="1"/>
          <p:nvPr/>
        </p:nvSpPr>
        <p:spPr>
          <a:xfrm>
            <a:off x="628650" y="3067050"/>
            <a:ext cx="3048000" cy="952500"/>
          </a:xfrm>
          <a:prstGeom prst="rect">
            <a:avLst/>
          </a:prstGeom>
        </p:spPr>
        <p:txBody>
          <a:bodyPr wrap="square" lIns="0" tIns="0" rIns="0" bIns="0">
            <a:normAutofit/>
          </a:bodyPr>
          <a:lstStyle/>
          <a:p>
            <a:pPr>
              <a:lnSpc>
                <a:spcPct val="185000"/>
              </a:lnSpc>
            </a:pPr>
            <a:r>
              <a:rPr lang="zh-CN" sz="1125">
                <a:solidFill>
                  <a:srgbClr val="B8CEEC"/>
                </a:solidFill>
                <a:latin typeface="Microsoft YaHei"/>
                <a:ea typeface="Microsoft YaHei"/>
              </a:rPr>
              <a:t>选这三个方向，不是因为它们最宏大，而是因为它们的验证成本最低——都能在两到三个月内给出可对照的实验结果。</a:t>
            </a:r>
            <a:endParaRPr/>
          </a:p>
        </p:txBody>
      </p:sp>
      <p:sp>
        <p:nvSpPr>
          <p:cNvPr id="206" name="矩形 205"/>
          <p:cNvSpPr/>
          <p:nvPr/>
        </p:nvSpPr>
        <p:spPr>
          <a:xfrm>
            <a:off x="628650" y="5438775"/>
            <a:ext cx="3048000" cy="9525"/>
          </a:xfrm>
          <a:prstGeom prst="rect">
            <a:avLst/>
          </a:prstGeom>
          <a:solidFill>
            <a:srgbClr val="B8CEEC">
              <a:alpha val="30000"/>
            </a:srgbClr>
          </a:solidFill>
          <a:ln/>
        </p:spPr>
        <p:txBody>
          <a:bodyPr/>
          <a:lstStyle/>
          <a:p>
            <a:endParaRPr/>
          </a:p>
        </p:txBody>
      </p:sp>
      <p:sp>
        <p:nvSpPr>
          <p:cNvPr id="207" name="文本框 206" descr="{&quot;isTemplate&quot;:true,&quot;type&quot;:&quot;text&quot;}"/>
          <p:cNvSpPr txBox="1"/>
          <p:nvPr/>
        </p:nvSpPr>
        <p:spPr>
          <a:xfrm>
            <a:off x="628650" y="5581650"/>
            <a:ext cx="3048000" cy="552450"/>
          </a:xfrm>
          <a:prstGeom prst="rect">
            <a:avLst/>
          </a:prstGeom>
        </p:spPr>
        <p:txBody>
          <a:bodyPr wrap="square" lIns="0" tIns="0" rIns="0" bIns="0">
            <a:normAutofit fontScale="85000" lnSpcReduction="10000"/>
          </a:bodyPr>
          <a:lstStyle/>
          <a:p>
            <a:pPr>
              <a:lnSpc>
                <a:spcPct val="170000"/>
              </a:lnSpc>
            </a:pPr>
            <a:r>
              <a:rPr lang="zh-CN" sz="1050">
                <a:solidFill>
                  <a:srgbClr val="FFC107"/>
                </a:solidFill>
                <a:latin typeface="Microsoft YaHei"/>
                <a:ea typeface="Microsoft YaHei"/>
              </a:rPr>
              <a:t>市场与智能体两项已列入第四十六章的开放问题清单；历法置闰误差的实证对照尚未列入该章。此处不作已完成结论。</a:t>
            </a:r>
            <a:endParaRPr/>
          </a:p>
        </p:txBody>
      </p:sp>
      <p:sp>
        <p:nvSpPr>
          <p:cNvPr id="208" name="任意多边形: 形状 207"/>
          <p:cNvSpPr/>
          <p:nvPr/>
        </p:nvSpPr>
        <p:spPr>
          <a:xfrm>
            <a:off x="4171950" y="1352550"/>
            <a:ext cx="7639050" cy="1704975"/>
          </a:xfrm>
          <a:custGeom>
            <a:avLst/>
            <a:gdLst/>
            <a:ahLst/>
            <a:cxnLst/>
            <a:rect l="0" t="0" r="0" b="0"/>
            <a:pathLst>
              <a:path w="802" h="179">
                <a:moveTo>
                  <a:pt x="0" y="0"/>
                </a:moveTo>
                <a:lnTo>
                  <a:pt x="802" y="0"/>
                </a:lnTo>
                <a:lnTo>
                  <a:pt x="802" y="1"/>
                </a:lnTo>
                <a:lnTo>
                  <a:pt x="0" y="1"/>
                </a:lnTo>
                <a:close/>
              </a:path>
            </a:pathLst>
          </a:custGeom>
          <a:solidFill>
            <a:srgbClr val="E5E7EB"/>
          </a:solidFill>
          <a:ln/>
        </p:spPr>
        <p:txBody>
          <a:bodyPr/>
          <a:lstStyle/>
          <a:p>
            <a:endParaRPr/>
          </a:p>
        </p:txBody>
      </p:sp>
      <p:sp>
        <p:nvSpPr>
          <p:cNvPr id="209" name="任意多边形: 形状 208"/>
          <p:cNvSpPr/>
          <p:nvPr/>
        </p:nvSpPr>
        <p:spPr>
          <a:xfrm>
            <a:off x="4171950" y="1352550"/>
            <a:ext cx="7639050" cy="1704975"/>
          </a:xfrm>
          <a:custGeom>
            <a:avLst/>
            <a:gdLst/>
            <a:ahLst/>
            <a:cxnLst/>
            <a:rect l="0" t="0" r="0" b="0"/>
            <a:pathLst>
              <a:path w="802" h="179">
                <a:moveTo>
                  <a:pt x="0" y="178"/>
                </a:moveTo>
                <a:lnTo>
                  <a:pt x="802" y="178"/>
                </a:lnTo>
                <a:lnTo>
                  <a:pt x="802" y="179"/>
                </a:lnTo>
                <a:lnTo>
                  <a:pt x="0" y="179"/>
                </a:lnTo>
                <a:close/>
              </a:path>
            </a:pathLst>
          </a:custGeom>
          <a:solidFill>
            <a:srgbClr val="E5E7EB"/>
          </a:solidFill>
          <a:ln/>
        </p:spPr>
        <p:txBody>
          <a:bodyPr/>
          <a:lstStyle/>
          <a:p>
            <a:endParaRPr/>
          </a:p>
        </p:txBody>
      </p:sp>
      <p:sp>
        <p:nvSpPr>
          <p:cNvPr id="210" name="矩形: 圆角 209"/>
          <p:cNvSpPr/>
          <p:nvPr/>
        </p:nvSpPr>
        <p:spPr>
          <a:xfrm>
            <a:off x="4171950" y="1495425"/>
            <a:ext cx="438150" cy="438150"/>
          </a:xfrm>
          <a:prstGeom prst="roundRect">
            <a:avLst>
              <a:gd name="adj" fmla="val 8696"/>
            </a:avLst>
          </a:prstGeom>
          <a:solidFill>
            <a:srgbClr val="E8EFF8"/>
          </a:solidFill>
          <a:ln/>
        </p:spPr>
        <p:txBody>
          <a:bodyPr/>
          <a:lstStyle/>
          <a:p>
            <a:endParaRPr/>
          </a:p>
        </p:txBody>
      </p:sp>
      <p:sp>
        <p:nvSpPr>
          <p:cNvPr id="211" name="文本框 210" descr="{&quot;isTemplate&quot;:true,&quot;type&quot;:&quot;text&quot;}"/>
          <p:cNvSpPr txBox="1"/>
          <p:nvPr/>
        </p:nvSpPr>
        <p:spPr>
          <a:xfrm>
            <a:off x="4276725" y="1609725"/>
            <a:ext cx="228600" cy="219075"/>
          </a:xfrm>
          <a:prstGeom prst="rect">
            <a:avLst/>
          </a:prstGeom>
        </p:spPr>
        <p:txBody>
          <a:bodyPr wrap="none" lIns="0" tIns="0" rIns="0" bIns="0"/>
          <a:lstStyle/>
          <a:p>
            <a:pPr>
              <a:lnSpc>
                <a:spcPct val="100000"/>
              </a:lnSpc>
            </a:pPr>
            <a:r>
              <a:rPr lang="en-US" sz="1425" b="1">
                <a:solidFill>
                  <a:srgbClr val="1E4FA8"/>
                </a:solidFill>
                <a:latin typeface="Microsoft YaHei"/>
                <a:ea typeface="Microsoft YaHei"/>
              </a:rPr>
              <a:t>01</a:t>
            </a:r>
            <a:endParaRPr/>
          </a:p>
        </p:txBody>
      </p:sp>
      <p:sp>
        <p:nvSpPr>
          <p:cNvPr id="212" name="文本框 211" descr="{&quot;isTemplate&quot;:true,&quot;type&quot;:&quot;text&quot;}"/>
          <p:cNvSpPr txBox="1"/>
          <p:nvPr/>
        </p:nvSpPr>
        <p:spPr>
          <a:xfrm>
            <a:off x="4781550" y="1495425"/>
            <a:ext cx="702945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历法：不可公度周期的主动公度化</a:t>
            </a:r>
            <a:endParaRPr/>
          </a:p>
        </p:txBody>
      </p:sp>
      <p:sp>
        <p:nvSpPr>
          <p:cNvPr id="213" name="文本框 212" descr="{&quot;isTemplate&quot;:true,&quot;type&quot;:&quot;text&quot;}"/>
          <p:cNvSpPr txBox="1"/>
          <p:nvPr/>
        </p:nvSpPr>
        <p:spPr>
          <a:xfrm>
            <a:off x="4781550" y="1762125"/>
            <a:ext cx="7029450" cy="552450"/>
          </a:xfrm>
          <a:prstGeom prst="rect">
            <a:avLst/>
          </a:prstGeom>
        </p:spPr>
        <p:txBody>
          <a:bodyPr wrap="square" lIns="0" tIns="0" rIns="0" bIns="0">
            <a:normAutofit/>
          </a:bodyPr>
          <a:lstStyle/>
          <a:p>
            <a:pPr>
              <a:lnSpc>
                <a:spcPct val="170000"/>
              </a:lnSpc>
            </a:pPr>
            <a:r>
              <a:rPr lang="zh-CN" sz="1050">
                <a:solidFill>
                  <a:srgbClr val="4A5568"/>
                </a:solidFill>
                <a:latin typeface="Microsoft YaHei"/>
                <a:ea typeface="Microsoft YaHei"/>
              </a:rPr>
              <a:t>节气系统（太阳历）与朔望月系统（太阴历）各自独立，阴阳合历的协调靠</a:t>
            </a:r>
            <a:r>
              <a:rPr lang="en-US" sz="1050">
                <a:solidFill>
                  <a:srgbClr val="4A5568"/>
                </a:solidFill>
                <a:latin typeface="Microsoft YaHei"/>
                <a:ea typeface="Microsoft YaHei"/>
              </a:rPr>
              <a:t>"</a:t>
            </a:r>
            <a:r>
              <a:rPr lang="zh-CN" sz="1050">
                <a:solidFill>
                  <a:srgbClr val="4A5568"/>
                </a:solidFill>
                <a:latin typeface="Microsoft YaHei"/>
                <a:ea typeface="Microsoft YaHei"/>
              </a:rPr>
              <a:t>无中气置闰</a:t>
            </a:r>
            <a:r>
              <a:rPr lang="en-US" sz="1050">
                <a:solidFill>
                  <a:srgbClr val="4A5568"/>
                </a:solidFill>
                <a:latin typeface="Microsoft YaHei"/>
                <a:ea typeface="Microsoft YaHei"/>
              </a:rPr>
              <a:t>"</a:t>
            </a:r>
            <a:r>
              <a:rPr lang="zh-CN" sz="1050">
                <a:solidFill>
                  <a:srgbClr val="4A5568"/>
                </a:solidFill>
                <a:latin typeface="Microsoft YaHei"/>
                <a:ea typeface="Microsoft YaHei"/>
              </a:rPr>
              <a:t>。这与《淮南子·天文训》的一纪、《皇极经世》的元会运世嵌套体系，可以做纯粹结构层面的对照。</a:t>
            </a:r>
            <a:endParaRPr/>
          </a:p>
        </p:txBody>
      </p:sp>
      <p:sp>
        <p:nvSpPr>
          <p:cNvPr id="214" name="文本框 213" descr="{&quot;isTemplate&quot;:true,&quot;type&quot;:&quot;text&quot;}"/>
          <p:cNvSpPr txBox="1"/>
          <p:nvPr/>
        </p:nvSpPr>
        <p:spPr>
          <a:xfrm>
            <a:off x="4781550" y="2381250"/>
            <a:ext cx="7029450" cy="238125"/>
          </a:xfrm>
          <a:prstGeom prst="rect">
            <a:avLst/>
          </a:prstGeom>
        </p:spPr>
        <p:txBody>
          <a:bodyPr wrap="none" lIns="0" tIns="0" rIns="0" bIns="0"/>
          <a:lstStyle/>
          <a:p>
            <a:pPr>
              <a:lnSpc>
                <a:spcPct val="160000"/>
              </a:lnSpc>
            </a:pPr>
            <a:r>
              <a:rPr lang="zh-CN" sz="975">
                <a:solidFill>
                  <a:srgbClr val="1E4FA8"/>
                </a:solidFill>
                <a:latin typeface="Microsoft YaHei"/>
                <a:ea typeface="Microsoft YaHei"/>
              </a:rPr>
              <a:t>验证方式：置闰误差有界定理的手稿结论，对照真实历法的闰月分布统计</a:t>
            </a:r>
            <a:endParaRPr/>
          </a:p>
        </p:txBody>
      </p:sp>
      <p:sp>
        <p:nvSpPr>
          <p:cNvPr id="215" name="任意多边形: 形状 214"/>
          <p:cNvSpPr/>
          <p:nvPr/>
        </p:nvSpPr>
        <p:spPr>
          <a:xfrm>
            <a:off x="4171950" y="3038475"/>
            <a:ext cx="7639050" cy="1676400"/>
          </a:xfrm>
          <a:custGeom>
            <a:avLst/>
            <a:gdLst/>
            <a:ahLst/>
            <a:cxnLst/>
            <a:rect l="0" t="0" r="0" b="0"/>
            <a:pathLst>
              <a:path w="802" h="176">
                <a:moveTo>
                  <a:pt x="0" y="175"/>
                </a:moveTo>
                <a:lnTo>
                  <a:pt x="802" y="175"/>
                </a:lnTo>
                <a:lnTo>
                  <a:pt x="802" y="176"/>
                </a:lnTo>
                <a:lnTo>
                  <a:pt x="0" y="176"/>
                </a:lnTo>
                <a:close/>
              </a:path>
            </a:pathLst>
          </a:custGeom>
          <a:solidFill>
            <a:srgbClr val="E5E7EB"/>
          </a:solidFill>
          <a:ln/>
        </p:spPr>
        <p:txBody>
          <a:bodyPr/>
          <a:lstStyle/>
          <a:p>
            <a:endParaRPr/>
          </a:p>
        </p:txBody>
      </p:sp>
      <p:sp>
        <p:nvSpPr>
          <p:cNvPr id="216" name="矩形: 圆角 215"/>
          <p:cNvSpPr/>
          <p:nvPr/>
        </p:nvSpPr>
        <p:spPr>
          <a:xfrm>
            <a:off x="4171950" y="3171825"/>
            <a:ext cx="438150" cy="438150"/>
          </a:xfrm>
          <a:prstGeom prst="roundRect">
            <a:avLst>
              <a:gd name="adj" fmla="val 8696"/>
            </a:avLst>
          </a:prstGeom>
          <a:solidFill>
            <a:srgbClr val="E8EFF8"/>
          </a:solidFill>
          <a:ln/>
        </p:spPr>
        <p:txBody>
          <a:bodyPr/>
          <a:lstStyle/>
          <a:p>
            <a:endParaRPr/>
          </a:p>
        </p:txBody>
      </p:sp>
      <p:sp>
        <p:nvSpPr>
          <p:cNvPr id="217" name="文本框 216" descr="{&quot;isTemplate&quot;:true,&quot;type&quot;:&quot;text&quot;}"/>
          <p:cNvSpPr txBox="1"/>
          <p:nvPr/>
        </p:nvSpPr>
        <p:spPr>
          <a:xfrm>
            <a:off x="4276725" y="3286125"/>
            <a:ext cx="228600" cy="219075"/>
          </a:xfrm>
          <a:prstGeom prst="rect">
            <a:avLst/>
          </a:prstGeom>
        </p:spPr>
        <p:txBody>
          <a:bodyPr wrap="none" lIns="0" tIns="0" rIns="0" bIns="0"/>
          <a:lstStyle/>
          <a:p>
            <a:pPr>
              <a:lnSpc>
                <a:spcPct val="100000"/>
              </a:lnSpc>
            </a:pPr>
            <a:r>
              <a:rPr lang="en-US" sz="1425" b="1">
                <a:solidFill>
                  <a:srgbClr val="1E4FA8"/>
                </a:solidFill>
                <a:latin typeface="Microsoft YaHei"/>
                <a:ea typeface="Microsoft YaHei"/>
              </a:rPr>
              <a:t>02</a:t>
            </a:r>
            <a:endParaRPr/>
          </a:p>
        </p:txBody>
      </p:sp>
      <p:sp>
        <p:nvSpPr>
          <p:cNvPr id="218" name="文本框 217" descr="{&quot;isTemplate&quot;:true,&quot;type&quot;:&quot;text&quot;}"/>
          <p:cNvSpPr txBox="1"/>
          <p:nvPr/>
        </p:nvSpPr>
        <p:spPr>
          <a:xfrm>
            <a:off x="4781550" y="3171825"/>
            <a:ext cx="702945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市场：用方向而不是幅度诊断拐点</a:t>
            </a:r>
            <a:endParaRPr/>
          </a:p>
        </p:txBody>
      </p:sp>
      <p:sp>
        <p:nvSpPr>
          <p:cNvPr id="219" name="文本框 218" descr="{&quot;isTemplate&quot;:true,&quot;type&quot;:&quot;text&quot;}"/>
          <p:cNvSpPr txBox="1"/>
          <p:nvPr/>
        </p:nvSpPr>
        <p:spPr>
          <a:xfrm>
            <a:off x="4781550" y="3438525"/>
            <a:ext cx="7029450" cy="552450"/>
          </a:xfrm>
          <a:prstGeom prst="rect">
            <a:avLst/>
          </a:prstGeom>
        </p:spPr>
        <p:txBody>
          <a:bodyPr wrap="square" lIns="0" tIns="0" rIns="0" bIns="0">
            <a:normAutofit/>
          </a:bodyPr>
          <a:lstStyle/>
          <a:p>
            <a:pPr>
              <a:lnSpc>
                <a:spcPct val="170000"/>
              </a:lnSpc>
            </a:pPr>
            <a:r>
              <a:rPr lang="zh-CN" sz="1050">
                <a:solidFill>
                  <a:srgbClr val="4A5568"/>
                </a:solidFill>
                <a:latin typeface="Microsoft YaHei"/>
                <a:ea typeface="Microsoft YaHei"/>
              </a:rPr>
              <a:t>把窗函数—折射率体系用于股票与宏观序列，用正弦差角相似度与折射率比检验趋势反转的预测有效性，并用</a:t>
            </a:r>
            <a:r>
              <a:rPr lang="en-US" sz="1050">
                <a:solidFill>
                  <a:srgbClr val="4A5568"/>
                </a:solidFill>
                <a:latin typeface="Microsoft YaHei"/>
                <a:ea typeface="Microsoft YaHei"/>
              </a:rPr>
              <a:t> Fisher </a:t>
            </a:r>
            <a:r>
              <a:rPr lang="zh-CN" sz="1050">
                <a:solidFill>
                  <a:srgbClr val="4A5568"/>
                </a:solidFill>
                <a:latin typeface="Microsoft YaHei"/>
                <a:ea typeface="Microsoft YaHei"/>
              </a:rPr>
              <a:t>检验给出周期显著性的精确阈值——而不是靠目测周期图。</a:t>
            </a:r>
            <a:endParaRPr/>
          </a:p>
        </p:txBody>
      </p:sp>
      <p:sp>
        <p:nvSpPr>
          <p:cNvPr id="220" name="文本框 219" descr="{&quot;isTemplate&quot;:true,&quot;type&quot;:&quot;text&quot;}"/>
          <p:cNvSpPr txBox="1"/>
          <p:nvPr/>
        </p:nvSpPr>
        <p:spPr>
          <a:xfrm>
            <a:off x="4781550" y="4057650"/>
            <a:ext cx="7029450" cy="238125"/>
          </a:xfrm>
          <a:prstGeom prst="rect">
            <a:avLst/>
          </a:prstGeom>
        </p:spPr>
        <p:txBody>
          <a:bodyPr wrap="none" lIns="0" tIns="0" rIns="0" bIns="0"/>
          <a:lstStyle/>
          <a:p>
            <a:pPr>
              <a:lnSpc>
                <a:spcPct val="160000"/>
              </a:lnSpc>
            </a:pPr>
            <a:r>
              <a:rPr lang="zh-CN" sz="975">
                <a:solidFill>
                  <a:srgbClr val="1E4FA8"/>
                </a:solidFill>
                <a:latin typeface="Microsoft YaHei"/>
                <a:ea typeface="Microsoft YaHei"/>
              </a:rPr>
              <a:t>验证方式：与移动平均、</a:t>
            </a:r>
            <a:r>
              <a:rPr lang="en-US" sz="975">
                <a:solidFill>
                  <a:srgbClr val="1E4FA8"/>
                </a:solidFill>
                <a:latin typeface="Microsoft YaHei"/>
                <a:ea typeface="Microsoft YaHei"/>
              </a:rPr>
              <a:t>ARIMA </a:t>
            </a:r>
            <a:r>
              <a:rPr lang="zh-CN" sz="975">
                <a:solidFill>
                  <a:srgbClr val="1E4FA8"/>
                </a:solidFill>
                <a:latin typeface="Microsoft YaHei"/>
                <a:ea typeface="Microsoft YaHei"/>
              </a:rPr>
              <a:t>等基准方法做滚动窗口对照</a:t>
            </a:r>
            <a:endParaRPr/>
          </a:p>
        </p:txBody>
      </p:sp>
      <p:sp>
        <p:nvSpPr>
          <p:cNvPr id="221" name="任意多边形: 形状 220"/>
          <p:cNvSpPr/>
          <p:nvPr/>
        </p:nvSpPr>
        <p:spPr>
          <a:xfrm>
            <a:off x="4171950" y="4705350"/>
            <a:ext cx="7639050" cy="1685925"/>
          </a:xfrm>
          <a:custGeom>
            <a:avLst/>
            <a:gdLst/>
            <a:ahLst/>
            <a:cxnLst/>
            <a:rect l="0" t="0" r="0" b="0"/>
            <a:pathLst>
              <a:path w="802" h="177">
                <a:moveTo>
                  <a:pt x="0" y="176"/>
                </a:moveTo>
                <a:lnTo>
                  <a:pt x="802" y="176"/>
                </a:lnTo>
                <a:lnTo>
                  <a:pt x="802" y="177"/>
                </a:lnTo>
                <a:lnTo>
                  <a:pt x="0" y="177"/>
                </a:lnTo>
                <a:close/>
              </a:path>
            </a:pathLst>
          </a:custGeom>
          <a:solidFill>
            <a:srgbClr val="E5E7EB"/>
          </a:solidFill>
          <a:ln/>
        </p:spPr>
        <p:txBody>
          <a:bodyPr/>
          <a:lstStyle/>
          <a:p>
            <a:endParaRPr/>
          </a:p>
        </p:txBody>
      </p:sp>
      <p:sp>
        <p:nvSpPr>
          <p:cNvPr id="222" name="矩形: 圆角 221"/>
          <p:cNvSpPr/>
          <p:nvPr/>
        </p:nvSpPr>
        <p:spPr>
          <a:xfrm>
            <a:off x="4171950" y="4838700"/>
            <a:ext cx="438150" cy="438150"/>
          </a:xfrm>
          <a:prstGeom prst="roundRect">
            <a:avLst>
              <a:gd name="adj" fmla="val 8696"/>
            </a:avLst>
          </a:prstGeom>
          <a:solidFill>
            <a:srgbClr val="E8EFF8"/>
          </a:solidFill>
          <a:ln/>
        </p:spPr>
        <p:txBody>
          <a:bodyPr/>
          <a:lstStyle/>
          <a:p>
            <a:endParaRPr/>
          </a:p>
        </p:txBody>
      </p:sp>
      <p:sp>
        <p:nvSpPr>
          <p:cNvPr id="223" name="文本框 222" descr="{&quot;isTemplate&quot;:true,&quot;type&quot;:&quot;text&quot;}"/>
          <p:cNvSpPr txBox="1"/>
          <p:nvPr/>
        </p:nvSpPr>
        <p:spPr>
          <a:xfrm>
            <a:off x="4276725" y="4953000"/>
            <a:ext cx="228600" cy="219075"/>
          </a:xfrm>
          <a:prstGeom prst="rect">
            <a:avLst/>
          </a:prstGeom>
        </p:spPr>
        <p:txBody>
          <a:bodyPr wrap="none" lIns="0" tIns="0" rIns="0" bIns="0"/>
          <a:lstStyle/>
          <a:p>
            <a:pPr>
              <a:lnSpc>
                <a:spcPct val="100000"/>
              </a:lnSpc>
            </a:pPr>
            <a:r>
              <a:rPr lang="en-US" sz="1425" b="1">
                <a:solidFill>
                  <a:srgbClr val="1E4FA8"/>
                </a:solidFill>
                <a:latin typeface="Microsoft YaHei"/>
                <a:ea typeface="Microsoft YaHei"/>
              </a:rPr>
              <a:t>03</a:t>
            </a:r>
            <a:endParaRPr/>
          </a:p>
        </p:txBody>
      </p:sp>
      <p:sp>
        <p:nvSpPr>
          <p:cNvPr id="224" name="文本框 223" descr="{&quot;isTemplate&quot;:true,&quot;type&quot;:&quot;text&quot;}"/>
          <p:cNvSpPr txBox="1"/>
          <p:nvPr/>
        </p:nvSpPr>
        <p:spPr>
          <a:xfrm>
            <a:off x="4781550" y="4838700"/>
            <a:ext cx="7029450" cy="209550"/>
          </a:xfrm>
          <a:prstGeom prst="rect">
            <a:avLst/>
          </a:prstGeom>
        </p:spPr>
        <p:txBody>
          <a:bodyPr wrap="none" lIns="0" tIns="0" rIns="0" bIns="0"/>
          <a:lstStyle/>
          <a:p>
            <a:pPr>
              <a:lnSpc>
                <a:spcPct val="100000"/>
              </a:lnSpc>
            </a:pPr>
            <a:r>
              <a:rPr lang="zh-CN" sz="1350" b="1">
                <a:solidFill>
                  <a:srgbClr val="1A2230"/>
                </a:solidFill>
                <a:latin typeface="Microsoft YaHei"/>
                <a:ea typeface="Microsoft YaHei"/>
              </a:rPr>
              <a:t>智能体：把周期结构装进模型</a:t>
            </a:r>
            <a:endParaRPr/>
          </a:p>
        </p:txBody>
      </p:sp>
      <p:sp>
        <p:nvSpPr>
          <p:cNvPr id="225" name="文本框 224" descr="{&quot;isTemplate&quot;:true,&quot;type&quot;:&quot;text&quot;}"/>
          <p:cNvSpPr txBox="1"/>
          <p:nvPr/>
        </p:nvSpPr>
        <p:spPr>
          <a:xfrm>
            <a:off x="4781550" y="5105400"/>
            <a:ext cx="7029450" cy="552450"/>
          </a:xfrm>
          <a:prstGeom prst="rect">
            <a:avLst/>
          </a:prstGeom>
        </p:spPr>
        <p:txBody>
          <a:bodyPr wrap="square" lIns="0" tIns="0" rIns="0" bIns="0">
            <a:normAutofit/>
          </a:bodyPr>
          <a:lstStyle/>
          <a:p>
            <a:pPr>
              <a:lnSpc>
                <a:spcPct val="170000"/>
              </a:lnSpc>
            </a:pPr>
            <a:r>
              <a:rPr lang="zh-CN" sz="1050">
                <a:solidFill>
                  <a:srgbClr val="4A5568"/>
                </a:solidFill>
                <a:latin typeface="Microsoft YaHei"/>
                <a:ea typeface="Microsoft YaHei"/>
              </a:rPr>
              <a:t>周期卷积作为神经网络的特征提取层，复指数激活函数作为可学习非线性，核平滑导</a:t>
            </a:r>
            <a:r>
              <a:rPr lang="en-US" sz="1050">
                <a:solidFill>
                  <a:srgbClr val="4A5568"/>
                </a:solidFill>
                <a:latin typeface="Microsoft YaHei"/>
                <a:ea typeface="Microsoft YaHei"/>
              </a:rPr>
              <a:t>-</a:t>
            </a:r>
            <a:r>
              <a:rPr lang="zh-CN" sz="1050">
                <a:solidFill>
                  <a:srgbClr val="4A5568"/>
                </a:solidFill>
                <a:latin typeface="Microsoft YaHei"/>
                <a:ea typeface="Microsoft YaHei"/>
              </a:rPr>
              <a:t>积下降作为优化器，相位耦合网络用于多智能体同步——四条路径共享同一套周转圆参数化。</a:t>
            </a:r>
            <a:endParaRPr/>
          </a:p>
        </p:txBody>
      </p:sp>
      <p:sp>
        <p:nvSpPr>
          <p:cNvPr id="226" name="文本框 225" descr="{&quot;isTemplate&quot;:true,&quot;type&quot;:&quot;text&quot;}"/>
          <p:cNvSpPr txBox="1"/>
          <p:nvPr/>
        </p:nvSpPr>
        <p:spPr>
          <a:xfrm>
            <a:off x="4781550" y="5724525"/>
            <a:ext cx="7029450" cy="238125"/>
          </a:xfrm>
          <a:prstGeom prst="rect">
            <a:avLst/>
          </a:prstGeom>
        </p:spPr>
        <p:txBody>
          <a:bodyPr wrap="none" lIns="0" tIns="0" rIns="0" bIns="0"/>
          <a:lstStyle/>
          <a:p>
            <a:pPr>
              <a:lnSpc>
                <a:spcPct val="160000"/>
              </a:lnSpc>
            </a:pPr>
            <a:r>
              <a:rPr lang="zh-CN" sz="975">
                <a:solidFill>
                  <a:srgbClr val="1E4FA8"/>
                </a:solidFill>
                <a:latin typeface="Microsoft YaHei"/>
                <a:ea typeface="Microsoft YaHei"/>
              </a:rPr>
              <a:t>验证方式：在时间序列预测与序列建模任务上做消融实验</a:t>
            </a:r>
            <a:endParaRPr/>
          </a:p>
        </p:txBody>
      </p:sp>
      <p:sp>
        <p:nvSpPr>
          <p:cNvPr id="227" name="文本框 226"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228" name="文本框 227"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17 / 22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258, background: '#0E3F8C', paddingLeft: 40, paddingRight: 40, flexDirection: 'row', alignItems: 'center', justifyContent: 'space-between' }}&gt;&#10;        &lt;Box style={{ flexDirection: 'column' }}&gt;&#10;            &lt;Text style={{ fontSize: 13, color: '#8FB4E8', letterSpacing: 4 }}&gt;第四章 · 边界、路线与展望&lt;/Text&gt;&#10;            &lt;Text style={{ fontSize: 50, fontWeight: 'bold', color: '#FFFFFF', marginTop: 16 }}&gt;边界、路线与展望&lt;/Text&gt;&#10;            &lt;Box style={{ width: 92, height: 5, background: '#FFC107', marginTop: 20 }} /&gt;&#10;        &lt;/Box&gt;&#10;        &lt;Text style={{ fontSize: 176, fontWeight: 'bold', color: '#1E4FA8', lineHeight: 1 }}&gt;04&lt;/Text&gt;&#10;    &lt;/Box&gt;&#10;&#10;    &lt;Box style={{ width: '100%', flex: 1, flexDirection: 'column', justifyContent: 'center', paddingLeft: 40, paddingRight: 40 }}&gt;&#10;        &lt;Text style={{ fontSize: 21, fontWeight: 'bold', color: '#0E3F8C', marginBottom: 26 }}&gt;&#10;            一份研究纲领的可信度，取决于它对自己的限度说得有多清楚&#10;        &lt;/Text&gt;&#10;&#10;        &lt;Box style={{ flexDirection: 'row' }}&gt;&#10;            {[&#10;                { t: '划清界限', d: '手稿对每一处论断都标注认识论地位——已证、有条件、待研究，三档分明，不混为一谈' },&#10;                { t: '交出规模', d: '41 章、691 页（中）与 793 页（英）双版本成稿；当务之急是把规模转化为可验证的具体命题' },&#10;                { t: '指明去路', d: '从工程化到实证检验，再到学术出版——三步路线，每一步都有明确的交付物与验证方式' },&#10;            ].map((it, i) =&gt; (&#10;                &lt;Box key={i} style={{ flex: 1, flexDirection: 'column', paddingRight: 24, paddingLeft: i === 0 ? 0 : 24, borderLeft: i === 0 ? 'none' : '1px solid #D6DCE5' }}&gt;&#10;                    &lt;Text style={{ fontSize: 20, fontWeight: 'bold', color: '#1A2230', marginBottom: 10 }}&gt;{it.t}&lt;/Text&gt;&#10;                    &lt;Text style={{ fontSize: 15, color: '#4A5568', lineHeight: 1.75 }}&gt;{it.d}&lt;/Text&gt;&#10;                &lt;/Box&gt;&#10;            ))}&#10;        &lt;/Box&gt;&#10;    &lt;/Box&gt;&#10;&#10;    &lt;Box style={{ width: '100%', height: 34, paddingLeft: 40, paddingRight: 40, flexDirection: 'row', alignItems: 'center', justifyContent: 'space-between' }}&gt;&#10;        &lt;Text style={{ fontSize: 12, color: '#8B97A8' }}&gt;Periodicity Mathematics&lt;/Text&gt;&#10;        &lt;Text style={{ fontSize: 14, color: '#0E3F8C' }}&gt;18 / 22&lt;/Text&gt;&#10;    &lt;/Box&gt;&#10;&lt;/Slide&gt;&#10;"/>
        <p:cNvGrpSpPr/>
        <p:nvPr/>
      </p:nvGrpSpPr>
      <p:grpSpPr>
        <a:xfrm>
          <a:off x="0" y="0"/>
          <a:ext cx="0" cy="0"/>
          <a:chOff x="0" y="0"/>
          <a:chExt cx="0" cy="0"/>
        </a:xfrm>
      </p:grpSpPr>
      <p:sp>
        <p:nvSpPr>
          <p:cNvPr id="230" name="矩形 229"/>
          <p:cNvSpPr/>
          <p:nvPr/>
        </p:nvSpPr>
        <p:spPr>
          <a:xfrm>
            <a:off x="0" y="0"/>
            <a:ext cx="12192000" cy="6858000"/>
          </a:xfrm>
          <a:prstGeom prst="rect">
            <a:avLst/>
          </a:prstGeom>
          <a:solidFill>
            <a:srgbClr val="FFFFFF"/>
          </a:solidFill>
          <a:ln/>
        </p:spPr>
        <p:txBody>
          <a:bodyPr/>
          <a:lstStyle/>
          <a:p>
            <a:endParaRPr/>
          </a:p>
        </p:txBody>
      </p:sp>
      <p:sp>
        <p:nvSpPr>
          <p:cNvPr id="231" name="矩形 230"/>
          <p:cNvSpPr/>
          <p:nvPr/>
        </p:nvSpPr>
        <p:spPr>
          <a:xfrm>
            <a:off x="0" y="0"/>
            <a:ext cx="12192000" cy="76200"/>
          </a:xfrm>
          <a:prstGeom prst="rect">
            <a:avLst/>
          </a:prstGeom>
          <a:solidFill>
            <a:srgbClr val="1E4FA8"/>
          </a:solidFill>
          <a:ln/>
        </p:spPr>
        <p:txBody>
          <a:bodyPr/>
          <a:lstStyle/>
          <a:p>
            <a:endParaRPr/>
          </a:p>
        </p:txBody>
      </p:sp>
      <p:sp>
        <p:nvSpPr>
          <p:cNvPr id="232" name="矩形 231"/>
          <p:cNvSpPr/>
          <p:nvPr/>
        </p:nvSpPr>
        <p:spPr>
          <a:xfrm>
            <a:off x="0" y="76200"/>
            <a:ext cx="12192000" cy="2457450"/>
          </a:xfrm>
          <a:prstGeom prst="rect">
            <a:avLst/>
          </a:prstGeom>
          <a:solidFill>
            <a:srgbClr val="0E3F8C"/>
          </a:solidFill>
          <a:ln/>
        </p:spPr>
        <p:txBody>
          <a:bodyPr/>
          <a:lstStyle/>
          <a:p>
            <a:endParaRPr/>
          </a:p>
        </p:txBody>
      </p:sp>
      <p:sp>
        <p:nvSpPr>
          <p:cNvPr id="233" name="文本框 232" descr="{&quot;isTemplate&quot;:true,&quot;type&quot;:&quot;text&quot;}"/>
          <p:cNvSpPr txBox="1"/>
          <p:nvPr/>
        </p:nvSpPr>
        <p:spPr>
          <a:xfrm>
            <a:off x="381000" y="752475"/>
            <a:ext cx="3810000" cy="152400"/>
          </a:xfrm>
          <a:prstGeom prst="rect">
            <a:avLst/>
          </a:prstGeom>
        </p:spPr>
        <p:txBody>
          <a:bodyPr wrap="none" lIns="0" tIns="0" rIns="0" bIns="0"/>
          <a:lstStyle/>
          <a:p>
            <a:pPr>
              <a:lnSpc>
                <a:spcPct val="100000"/>
              </a:lnSpc>
            </a:pPr>
            <a:r>
              <a:rPr lang="zh-CN" sz="975" spc="300">
                <a:solidFill>
                  <a:srgbClr val="8FB4E8"/>
                </a:solidFill>
                <a:latin typeface="Microsoft YaHei"/>
                <a:ea typeface="Microsoft YaHei"/>
              </a:rPr>
              <a:t>第四章</a:t>
            </a:r>
            <a:r>
              <a:rPr lang="en-US" sz="975" spc="300">
                <a:solidFill>
                  <a:srgbClr val="8FB4E8"/>
                </a:solidFill>
                <a:latin typeface="Microsoft YaHei"/>
                <a:ea typeface="Microsoft YaHei"/>
              </a:rPr>
              <a:t> · </a:t>
            </a:r>
            <a:r>
              <a:rPr lang="zh-CN" sz="975" spc="300">
                <a:solidFill>
                  <a:srgbClr val="8FB4E8"/>
                </a:solidFill>
                <a:latin typeface="Microsoft YaHei"/>
                <a:ea typeface="Microsoft YaHei"/>
              </a:rPr>
              <a:t>边界、路线与展望</a:t>
            </a:r>
            <a:endParaRPr/>
          </a:p>
        </p:txBody>
      </p:sp>
      <p:sp>
        <p:nvSpPr>
          <p:cNvPr id="234" name="文本框 233" descr="{&quot;isTemplate&quot;:true,&quot;type&quot;:&quot;text&quot;}"/>
          <p:cNvSpPr txBox="1"/>
          <p:nvPr/>
        </p:nvSpPr>
        <p:spPr>
          <a:xfrm>
            <a:off x="381000" y="1057275"/>
            <a:ext cx="3810000" cy="571500"/>
          </a:xfrm>
          <a:prstGeom prst="rect">
            <a:avLst/>
          </a:prstGeom>
        </p:spPr>
        <p:txBody>
          <a:bodyPr wrap="none" lIns="0" tIns="0" rIns="0" bIns="0"/>
          <a:lstStyle/>
          <a:p>
            <a:pPr>
              <a:lnSpc>
                <a:spcPct val="100000"/>
              </a:lnSpc>
            </a:pPr>
            <a:r>
              <a:rPr lang="zh-CN" sz="3750" b="1">
                <a:solidFill>
                  <a:srgbClr val="FFFFFF"/>
                </a:solidFill>
                <a:latin typeface="Microsoft YaHei"/>
                <a:ea typeface="Microsoft YaHei"/>
              </a:rPr>
              <a:t>边界、路线与展望</a:t>
            </a:r>
            <a:endParaRPr/>
          </a:p>
        </p:txBody>
      </p:sp>
      <p:sp>
        <p:nvSpPr>
          <p:cNvPr id="235" name="矩形 234"/>
          <p:cNvSpPr/>
          <p:nvPr/>
        </p:nvSpPr>
        <p:spPr>
          <a:xfrm>
            <a:off x="381000" y="1819275"/>
            <a:ext cx="876300" cy="47625"/>
          </a:xfrm>
          <a:prstGeom prst="rect">
            <a:avLst/>
          </a:prstGeom>
          <a:solidFill>
            <a:srgbClr val="FFC107"/>
          </a:solidFill>
          <a:ln/>
        </p:spPr>
        <p:txBody>
          <a:bodyPr/>
          <a:lstStyle/>
          <a:p>
            <a:endParaRPr/>
          </a:p>
        </p:txBody>
      </p:sp>
      <p:sp>
        <p:nvSpPr>
          <p:cNvPr id="236" name="文本框 235" descr="{&quot;isTemplate&quot;:true,&quot;type&quot;:&quot;text&quot;}"/>
          <p:cNvSpPr txBox="1"/>
          <p:nvPr/>
        </p:nvSpPr>
        <p:spPr>
          <a:xfrm>
            <a:off x="9734550" y="295275"/>
            <a:ext cx="2076450" cy="2019300"/>
          </a:xfrm>
          <a:prstGeom prst="rect">
            <a:avLst/>
          </a:prstGeom>
        </p:spPr>
        <p:txBody>
          <a:bodyPr wrap="none" lIns="0" tIns="0" rIns="0" bIns="0"/>
          <a:lstStyle/>
          <a:p>
            <a:pPr>
              <a:lnSpc>
                <a:spcPct val="100000"/>
              </a:lnSpc>
            </a:pPr>
            <a:r>
              <a:rPr lang="en-US" sz="13200" b="1">
                <a:solidFill>
                  <a:srgbClr val="1E4FA8"/>
                </a:solidFill>
                <a:latin typeface="Microsoft YaHei"/>
                <a:ea typeface="Microsoft YaHei"/>
              </a:rPr>
              <a:t>04</a:t>
            </a:r>
            <a:endParaRPr/>
          </a:p>
        </p:txBody>
      </p:sp>
      <p:sp>
        <p:nvSpPr>
          <p:cNvPr id="237" name="文本框 236" descr="{&quot;isTemplate&quot;:true,&quot;type&quot;:&quot;text&quot;}"/>
          <p:cNvSpPr txBox="1"/>
          <p:nvPr/>
        </p:nvSpPr>
        <p:spPr>
          <a:xfrm>
            <a:off x="381000" y="3829050"/>
            <a:ext cx="11430000" cy="247650"/>
          </a:xfrm>
          <a:prstGeom prst="rect">
            <a:avLst/>
          </a:prstGeom>
        </p:spPr>
        <p:txBody>
          <a:bodyPr wrap="none" lIns="0" tIns="0" rIns="0" bIns="0"/>
          <a:lstStyle/>
          <a:p>
            <a:pPr>
              <a:lnSpc>
                <a:spcPct val="100000"/>
              </a:lnSpc>
            </a:pPr>
            <a:r>
              <a:rPr lang="zh-CN" sz="1575" b="1">
                <a:solidFill>
                  <a:srgbClr val="0E3F8C"/>
                </a:solidFill>
                <a:latin typeface="Microsoft YaHei"/>
                <a:ea typeface="Microsoft YaHei"/>
              </a:rPr>
              <a:t>一份研究纲领的可信度，取决于它对自己的限度说得有多清楚</a:t>
            </a:r>
            <a:endParaRPr/>
          </a:p>
        </p:txBody>
      </p:sp>
      <p:sp>
        <p:nvSpPr>
          <p:cNvPr id="238" name="文本框 237" descr="{&quot;isTemplate&quot;:true,&quot;type&quot;:&quot;text&quot;}"/>
          <p:cNvSpPr txBox="1"/>
          <p:nvPr/>
        </p:nvSpPr>
        <p:spPr>
          <a:xfrm>
            <a:off x="381000" y="4324350"/>
            <a:ext cx="3581400" cy="228600"/>
          </a:xfrm>
          <a:prstGeom prst="rect">
            <a:avLst/>
          </a:prstGeom>
        </p:spPr>
        <p:txBody>
          <a:bodyPr wrap="none" lIns="0" tIns="0" rIns="0" bIns="0"/>
          <a:lstStyle/>
          <a:p>
            <a:pPr>
              <a:lnSpc>
                <a:spcPct val="100000"/>
              </a:lnSpc>
            </a:pPr>
            <a:r>
              <a:rPr lang="zh-CN" sz="1500" b="1">
                <a:solidFill>
                  <a:srgbClr val="1A2230"/>
                </a:solidFill>
                <a:latin typeface="Microsoft YaHei"/>
                <a:ea typeface="Microsoft YaHei"/>
              </a:rPr>
              <a:t>划清界限</a:t>
            </a:r>
            <a:endParaRPr/>
          </a:p>
        </p:txBody>
      </p:sp>
      <p:sp>
        <p:nvSpPr>
          <p:cNvPr id="239" name="文本框 238" descr="{&quot;isTemplate&quot;:true,&quot;type&quot;:&quot;text&quot;}"/>
          <p:cNvSpPr txBox="1"/>
          <p:nvPr/>
        </p:nvSpPr>
        <p:spPr>
          <a:xfrm>
            <a:off x="381000" y="4648200"/>
            <a:ext cx="3581400" cy="600075"/>
          </a:xfrm>
          <a:prstGeom prst="rect">
            <a:avLst/>
          </a:prstGeom>
        </p:spPr>
        <p:txBody>
          <a:bodyPr wrap="square" lIns="0" tIns="0" rIns="0" bIns="0">
            <a:normAutofit/>
          </a:bodyPr>
          <a:lstStyle/>
          <a:p>
            <a:pPr>
              <a:lnSpc>
                <a:spcPct val="175000"/>
              </a:lnSpc>
            </a:pPr>
            <a:r>
              <a:rPr lang="zh-CN" sz="1125">
                <a:solidFill>
                  <a:srgbClr val="4A5568"/>
                </a:solidFill>
                <a:latin typeface="Microsoft YaHei"/>
                <a:ea typeface="Microsoft YaHei"/>
              </a:rPr>
              <a:t>手稿对每一处论断都标注认识论地位——已证、有条件、待研究，三档分明，不混为一谈</a:t>
            </a:r>
            <a:endParaRPr/>
          </a:p>
        </p:txBody>
      </p:sp>
      <p:sp>
        <p:nvSpPr>
          <p:cNvPr id="240" name="任意多边形: 形状 239"/>
          <p:cNvSpPr/>
          <p:nvPr/>
        </p:nvSpPr>
        <p:spPr>
          <a:xfrm>
            <a:off x="4191000" y="4324350"/>
            <a:ext cx="3819525" cy="923925"/>
          </a:xfrm>
          <a:custGeom>
            <a:avLst/>
            <a:gdLst/>
            <a:ahLst/>
            <a:cxnLst/>
            <a:rect l="0" t="0" r="0" b="0"/>
            <a:pathLst>
              <a:path w="401" h="97">
                <a:moveTo>
                  <a:pt x="0" y="0"/>
                </a:moveTo>
                <a:lnTo>
                  <a:pt x="1" y="0"/>
                </a:lnTo>
                <a:lnTo>
                  <a:pt x="1" y="97"/>
                </a:lnTo>
                <a:lnTo>
                  <a:pt x="0" y="97"/>
                </a:lnTo>
                <a:close/>
              </a:path>
            </a:pathLst>
          </a:custGeom>
          <a:solidFill>
            <a:srgbClr val="D6DCE5"/>
          </a:solidFill>
          <a:ln/>
        </p:spPr>
        <p:txBody>
          <a:bodyPr/>
          <a:lstStyle/>
          <a:p>
            <a:endParaRPr/>
          </a:p>
        </p:txBody>
      </p:sp>
      <p:sp>
        <p:nvSpPr>
          <p:cNvPr id="241" name="文本框 240" descr="{&quot;isTemplate&quot;:true,&quot;type&quot;:&quot;text&quot;}"/>
          <p:cNvSpPr txBox="1"/>
          <p:nvPr/>
        </p:nvSpPr>
        <p:spPr>
          <a:xfrm>
            <a:off x="4429125" y="4324350"/>
            <a:ext cx="3343275" cy="228600"/>
          </a:xfrm>
          <a:prstGeom prst="rect">
            <a:avLst/>
          </a:prstGeom>
        </p:spPr>
        <p:txBody>
          <a:bodyPr wrap="none" lIns="0" tIns="0" rIns="0" bIns="0"/>
          <a:lstStyle/>
          <a:p>
            <a:pPr>
              <a:lnSpc>
                <a:spcPct val="100000"/>
              </a:lnSpc>
            </a:pPr>
            <a:r>
              <a:rPr lang="zh-CN" sz="1500" b="1">
                <a:solidFill>
                  <a:srgbClr val="1A2230"/>
                </a:solidFill>
                <a:latin typeface="Microsoft YaHei"/>
                <a:ea typeface="Microsoft YaHei"/>
              </a:rPr>
              <a:t>交出规模</a:t>
            </a:r>
            <a:endParaRPr/>
          </a:p>
        </p:txBody>
      </p:sp>
      <p:sp>
        <p:nvSpPr>
          <p:cNvPr id="242" name="文本框 241" descr="{&quot;isTemplate&quot;:true,&quot;type&quot;:&quot;text&quot;}"/>
          <p:cNvSpPr txBox="1"/>
          <p:nvPr/>
        </p:nvSpPr>
        <p:spPr>
          <a:xfrm>
            <a:off x="4429125" y="4648200"/>
            <a:ext cx="3343275" cy="600075"/>
          </a:xfrm>
          <a:prstGeom prst="rect">
            <a:avLst/>
          </a:prstGeom>
        </p:spPr>
        <p:txBody>
          <a:bodyPr wrap="square" lIns="0" tIns="0" rIns="0" bIns="0">
            <a:normAutofit/>
          </a:bodyPr>
          <a:lstStyle/>
          <a:p>
            <a:pPr>
              <a:lnSpc>
                <a:spcPct val="175000"/>
              </a:lnSpc>
            </a:pPr>
            <a:r>
              <a:rPr lang="en-US" sz="1125">
                <a:solidFill>
                  <a:srgbClr val="4A5568"/>
                </a:solidFill>
                <a:latin typeface="Microsoft YaHei"/>
                <a:ea typeface="Microsoft YaHei"/>
              </a:rPr>
              <a:t>46 </a:t>
            </a:r>
            <a:r>
              <a:rPr lang="zh-CN" sz="1125">
                <a:solidFill>
                  <a:srgbClr val="4A5568"/>
                </a:solidFill>
                <a:latin typeface="Microsoft YaHei"/>
                <a:ea typeface="Microsoft YaHei"/>
              </a:rPr>
              <a:t>章、</a:t>
            </a:r>
            <a:r>
              <a:rPr lang="en-US" sz="1125">
                <a:solidFill>
                  <a:srgbClr val="4A5568"/>
                </a:solidFill>
                <a:latin typeface="Microsoft YaHei"/>
                <a:ea typeface="Microsoft YaHei"/>
              </a:rPr>
              <a:t>1271 </a:t>
            </a:r>
            <a:r>
              <a:rPr lang="zh-CN" sz="1125">
                <a:solidFill>
                  <a:srgbClr val="4A5568"/>
                </a:solidFill>
                <a:latin typeface="Microsoft YaHei"/>
                <a:ea typeface="Microsoft YaHei"/>
              </a:rPr>
              <a:t>页（中）与</a:t>
            </a:r>
            <a:r>
              <a:rPr lang="en-US" sz="1125">
                <a:solidFill>
                  <a:srgbClr val="4A5568"/>
                </a:solidFill>
                <a:latin typeface="Microsoft YaHei"/>
                <a:ea typeface="Microsoft YaHei"/>
              </a:rPr>
              <a:t> 1456 </a:t>
            </a:r>
            <a:r>
              <a:rPr lang="zh-CN" sz="1125">
                <a:solidFill>
                  <a:srgbClr val="4A5568"/>
                </a:solidFill>
                <a:latin typeface="Microsoft YaHei"/>
                <a:ea typeface="Microsoft YaHei"/>
              </a:rPr>
              <a:t>页（英）双版本成稿；当务之急是把规模转化为可验证的具体命题</a:t>
            </a:r>
            <a:endParaRPr/>
          </a:p>
        </p:txBody>
      </p:sp>
      <p:sp>
        <p:nvSpPr>
          <p:cNvPr id="243" name="任意多边形: 形状 242"/>
          <p:cNvSpPr/>
          <p:nvPr/>
        </p:nvSpPr>
        <p:spPr>
          <a:xfrm>
            <a:off x="8001000" y="4324350"/>
            <a:ext cx="3819525" cy="923925"/>
          </a:xfrm>
          <a:custGeom>
            <a:avLst/>
            <a:gdLst/>
            <a:ahLst/>
            <a:cxnLst/>
            <a:rect l="0" t="0" r="0" b="0"/>
            <a:pathLst>
              <a:path w="401" h="97">
                <a:moveTo>
                  <a:pt x="0" y="0"/>
                </a:moveTo>
                <a:lnTo>
                  <a:pt x="1" y="0"/>
                </a:lnTo>
                <a:lnTo>
                  <a:pt x="1" y="97"/>
                </a:lnTo>
                <a:lnTo>
                  <a:pt x="0" y="97"/>
                </a:lnTo>
                <a:close/>
              </a:path>
            </a:pathLst>
          </a:custGeom>
          <a:solidFill>
            <a:srgbClr val="D6DCE5"/>
          </a:solidFill>
          <a:ln/>
        </p:spPr>
        <p:txBody>
          <a:bodyPr/>
          <a:lstStyle/>
          <a:p>
            <a:endParaRPr/>
          </a:p>
        </p:txBody>
      </p:sp>
      <p:sp>
        <p:nvSpPr>
          <p:cNvPr id="244" name="文本框 243" descr="{&quot;isTemplate&quot;:true,&quot;type&quot;:&quot;text&quot;}"/>
          <p:cNvSpPr txBox="1"/>
          <p:nvPr/>
        </p:nvSpPr>
        <p:spPr>
          <a:xfrm>
            <a:off x="8239125" y="4324350"/>
            <a:ext cx="3343275" cy="228600"/>
          </a:xfrm>
          <a:prstGeom prst="rect">
            <a:avLst/>
          </a:prstGeom>
        </p:spPr>
        <p:txBody>
          <a:bodyPr wrap="none" lIns="0" tIns="0" rIns="0" bIns="0"/>
          <a:lstStyle/>
          <a:p>
            <a:pPr>
              <a:lnSpc>
                <a:spcPct val="100000"/>
              </a:lnSpc>
            </a:pPr>
            <a:r>
              <a:rPr lang="zh-CN" sz="1500" b="1">
                <a:solidFill>
                  <a:srgbClr val="1A2230"/>
                </a:solidFill>
                <a:latin typeface="Microsoft YaHei"/>
                <a:ea typeface="Microsoft YaHei"/>
              </a:rPr>
              <a:t>指明去路</a:t>
            </a:r>
            <a:endParaRPr/>
          </a:p>
        </p:txBody>
      </p:sp>
      <p:sp>
        <p:nvSpPr>
          <p:cNvPr id="245" name="文本框 244" descr="{&quot;isTemplate&quot;:true,&quot;type&quot;:&quot;text&quot;}"/>
          <p:cNvSpPr txBox="1"/>
          <p:nvPr/>
        </p:nvSpPr>
        <p:spPr>
          <a:xfrm>
            <a:off x="8239125" y="4648200"/>
            <a:ext cx="3343275" cy="600075"/>
          </a:xfrm>
          <a:prstGeom prst="rect">
            <a:avLst/>
          </a:prstGeom>
        </p:spPr>
        <p:txBody>
          <a:bodyPr wrap="square" lIns="0" tIns="0" rIns="0" bIns="0">
            <a:normAutofit/>
          </a:bodyPr>
          <a:lstStyle/>
          <a:p>
            <a:pPr>
              <a:lnSpc>
                <a:spcPct val="175000"/>
              </a:lnSpc>
            </a:pPr>
            <a:r>
              <a:rPr lang="zh-CN" sz="1125">
                <a:solidFill>
                  <a:srgbClr val="4A5568"/>
                </a:solidFill>
                <a:latin typeface="Microsoft YaHei"/>
                <a:ea typeface="Microsoft YaHei"/>
              </a:rPr>
              <a:t>从工程化到实证检验，再到学术出版——三步路线，每一步都有明确的交付物与验证方式</a:t>
            </a:r>
            <a:endParaRPr/>
          </a:p>
        </p:txBody>
      </p:sp>
      <p:sp>
        <p:nvSpPr>
          <p:cNvPr id="246" name="文本框 245"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247" name="文本框 246"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18 / 22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4 边界、路线与展望&lt;/Text&gt;&#10;    &lt;/Box&gt;&#10;&#10;    &lt;Box style={{ width: '100%', height: 78, paddingLeft: 40, paddingRight: 40, justifyContent: 'center' }}&gt;&#10;        &lt;Text style={{ fontSize: 32, fontWeight: 'bold', color: '#0E3F8C' }}&gt;哪些是定理，哪些只是纲领——逐条标注&lt;/Text&gt;&#10;    &lt;/Box&gt;&#10;&#10;    &lt;Box style={{ width: '100%', flex: 1, flexDirection: 'row', gap: 26, paddingLeft: 40, paddingRight: 40, paddingBottom: 16 }}&gt;&#10;&#10;        &lt;Box style={{ width: 470, flexDirection: 'row', gap: 8 }}&gt;&#10;            {[&#10;                {&#10;                    h: '已证', c: '#0E3F8C', tc: '#FFFFFF',&#10;                    items: [&#10;                        ['置闰误差有界定理', '累计误差被约束在 ±½ 的有界带内'],&#10;                        ['连分数最佳置闰定理', '最优窗口由连分数收敛子给出'],&#10;                        ['有限阶作用 ⇒ 周期', '纯代数框架下的充分条件'],&#10;                    ],&#10;                },&#10;                {&#10;                    h: '有条件', c: '#1E4FA8', tc: '#FFFFFF',&#10;                    items: [&#10;                        ['对称 ⇔ 守恒', '需作用量原理成立 + 变换连续光滑'],&#10;                        ['积分变换的统一描述', '需指定群作用、表示与函数空间'],&#10;                        ['角空间取 U(1) 或 ℤ_T', '需轨道的同伦类与基本群条件'],&#10;                    ],&#10;                },&#10;                {&#10;                    h: '待研究', c: '#C9DAF0', tc: '#0E3F8C',&#10;                    items: [&#10;                        ['三变换与三算子对应', '散度与缩放的桥梁最微妙'],&#10;                        ['能量 / 质量 / 尺度的通量解释', '本体论解读属哲学立场'],&#10;                        ['莱布尼茨史料考订', 'Periodus numerorum 待原始文献支持'],&#10;                    ],&#10;                },&#10;            ].map((col, ci) =&gt; (&#10;                &lt;Box key={ci} style={{ flex: 1, flexDirection: 'column', gap: 7 }}&gt;&#10;                    &lt;Box style={{ width: '100%', height: 44, background: col.c, borderRadius: 4, justifyContent: 'center', alignItems: 'center' }}&gt;&#10;                        &lt;Text style={{ fontSize: 16, fontWeight: 'bold', color: col.tc }}&gt;{col.h}&lt;/Text&gt;&#10;                    &lt;/Box&gt;&#10;                    {col.items.map((it, ii) =&gt; (&#10;                        &lt;Box key={ii} style={{ flex: 1, flexDirection: 'column', background: '#F7F9FC', border: '1px solid #E5E7EB', borderRadius: 4, padding: 10 }}&gt;&#10;                            &lt;Text style={{ fontSize: 13, fontWeight: 'bold', color: '#1A2230', lineHeight: 1.4 }}&gt;{it[0]}&lt;/Text&gt;&#10;                            &lt;Box style={{ flex: 1 }} /&gt;&#10;                            &lt;Text style={{ fontSize: 11, color: '#4A5568', lineHeight: 1.55 }}&gt;{it[1]}&lt;/Text&gt;&#10;                        &lt;/Box&gt;&#10;                    ))}&#10;                &lt;/Box&gt;&#10;            ))}&#10;        &lt;/Box&gt;&#10;&#10;        &lt;Box style={{ flex: 1, flexDirection: 'column' }}&gt;&#10;            &lt;Text style={{ fontSize: 20, fontWeight: 'bold', color: '#0E3F8C', marginBottom: 12 }}&gt;标注条件，是为了让别人能来验证&lt;/Text&gt;&#10;&#10;            {[&#10;                ['三档的含义', '&quot;已证&quot;指有完整定义—命题—定理—证明链条支撑；&quot;有条件&quot;指结论成立但依赖明确的附加假设；&quot;待研究&quot;指目前只有启发性论证，尚无可陈述的定理。'],&#10;                ['诺特定理的条件不可省略', '对称性与守恒量的一一对应，需要&quot;作用量原理成立 + 对称变换连续光滑&quot;。对离散对称性、非拉格朗日系统或非光滑系统，这一对应一般不成立，必须分别处理。'],&#10;                ['置闰不解决所有困难', '它给出的是泄漏幅度的显式上界，而非消除泄漏。多频信号、时变周期、未知周期比等情形下，需与多窗谱估计、贝叶斯谱分析、联合连分数逼近结合使用。'],&#10;            ].map((it, i) =&gt; (&#10;                &lt;Box key={i} style={{ flexDirection: 'column', marginBottom: 14 }}&gt;&#10;                    &lt;Box style={{ flexDirection: 'row', alignItems: 'center', gap: 10, marginBottom: 5 }}&gt;&#10;                        &lt;Box style={{ width: 5, height: 17, background: '#1E4FA8' }} /&gt;&#10;                        &lt;Text style={{ fontSize: 16, fontWeight: 'bold', color: '#1A2230' }}&gt;{it[0]}&lt;/Text&gt;&#10;                    &lt;/Box&gt;&#10;                    &lt;Text style={{ fontSize: 14, color: '#4A5568', lineHeight: 1.7, paddingLeft: 15 }}&gt;{it[1]}&lt;/Text&gt;&#10;                &lt;/Box&gt;&#10;            ))}&#10;&#10;            &lt;Box style={{ flex: 1 }} /&gt;&#10;&#10;            &lt;Box style={{ padding: 16, borderRadius: 6, background: '#0E3F8C' }}&gt;&#10;                &lt;Text style={{ fontSize: 15, color: '#DCE7F7', lineHeight: 1.7 }}&gt;&#10;                    {`这条标注纪律本身是本书的方法论主张：`}&#10;                    &lt;span style={{ fontWeight: 'bold', color: '#FFFFFF' }}&gt;只有说清条件，结论才可被检验&lt;/span&gt;&#10;                    {`；只有列明待研究项，合作才有明确的接口。`}&#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19 / 22&lt;/Text&gt;&#10;    &lt;/Box&gt;&#10;&lt;/Slide&gt;&#10;"/>
        <p:cNvGrpSpPr/>
        <p:nvPr/>
      </p:nvGrpSpPr>
      <p:grpSpPr>
        <a:xfrm>
          <a:off x="0" y="0"/>
          <a:ext cx="0" cy="0"/>
          <a:chOff x="0" y="0"/>
          <a:chExt cx="0" cy="0"/>
        </a:xfrm>
      </p:grpSpPr>
      <p:sp>
        <p:nvSpPr>
          <p:cNvPr id="249" name="矩形 248"/>
          <p:cNvSpPr/>
          <p:nvPr/>
        </p:nvSpPr>
        <p:spPr>
          <a:xfrm>
            <a:off x="0" y="0"/>
            <a:ext cx="12192000" cy="6858000"/>
          </a:xfrm>
          <a:prstGeom prst="rect">
            <a:avLst/>
          </a:prstGeom>
          <a:solidFill>
            <a:srgbClr val="FFFFFF"/>
          </a:solidFill>
          <a:ln/>
        </p:spPr>
        <p:txBody>
          <a:bodyPr/>
          <a:lstStyle/>
          <a:p>
            <a:endParaRPr/>
          </a:p>
        </p:txBody>
      </p:sp>
      <p:sp>
        <p:nvSpPr>
          <p:cNvPr id="250" name="矩形 249"/>
          <p:cNvSpPr/>
          <p:nvPr/>
        </p:nvSpPr>
        <p:spPr>
          <a:xfrm>
            <a:off x="0" y="0"/>
            <a:ext cx="12192000" cy="76200"/>
          </a:xfrm>
          <a:prstGeom prst="rect">
            <a:avLst/>
          </a:prstGeom>
          <a:solidFill>
            <a:srgbClr val="1E4FA8"/>
          </a:solidFill>
          <a:ln/>
        </p:spPr>
        <p:txBody>
          <a:bodyPr/>
          <a:lstStyle/>
          <a:p>
            <a:endParaRPr/>
          </a:p>
        </p:txBody>
      </p:sp>
      <p:sp>
        <p:nvSpPr>
          <p:cNvPr id="251" name="任意多边形: 形状 250"/>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252" name="文本框 251"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253" name="文本框 252" descr="{&quot;isTemplate&quot;:true,&quot;type&quot;:&quot;text&quot;}"/>
          <p:cNvSpPr txBox="1"/>
          <p:nvPr/>
        </p:nvSpPr>
        <p:spPr>
          <a:xfrm>
            <a:off x="10439400" y="257175"/>
            <a:ext cx="1371600"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04 </a:t>
            </a:r>
            <a:r>
              <a:rPr lang="zh-CN" sz="1050" spc="75">
                <a:solidFill>
                  <a:srgbClr val="1E4FA8"/>
                </a:solidFill>
                <a:latin typeface="Microsoft YaHei"/>
                <a:ea typeface="Microsoft YaHei"/>
              </a:rPr>
              <a:t>边界、路线与展望</a:t>
            </a:r>
            <a:endParaRPr/>
          </a:p>
        </p:txBody>
      </p:sp>
      <p:sp>
        <p:nvSpPr>
          <p:cNvPr id="254" name="文本框 253"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哪些是定理，哪些只是纲领——逐条标注</a:t>
            </a:r>
            <a:endParaRPr/>
          </a:p>
        </p:txBody>
      </p:sp>
      <p:sp>
        <p:nvSpPr>
          <p:cNvPr id="255" name="矩形: 圆角 254"/>
          <p:cNvSpPr/>
          <p:nvPr/>
        </p:nvSpPr>
        <p:spPr>
          <a:xfrm>
            <a:off x="381000" y="1352550"/>
            <a:ext cx="1438275" cy="419100"/>
          </a:xfrm>
          <a:prstGeom prst="roundRect">
            <a:avLst>
              <a:gd name="adj" fmla="val 9091"/>
            </a:avLst>
          </a:prstGeom>
          <a:solidFill>
            <a:srgbClr val="0E3F8C"/>
          </a:solidFill>
          <a:ln/>
        </p:spPr>
        <p:txBody>
          <a:bodyPr/>
          <a:lstStyle/>
          <a:p>
            <a:endParaRPr/>
          </a:p>
        </p:txBody>
      </p:sp>
      <p:sp>
        <p:nvSpPr>
          <p:cNvPr id="256" name="文本框 255" descr="{&quot;isTemplate&quot;:true,&quot;type&quot;:&quot;text&quot;}"/>
          <p:cNvSpPr txBox="1"/>
          <p:nvPr/>
        </p:nvSpPr>
        <p:spPr>
          <a:xfrm>
            <a:off x="952500" y="1466850"/>
            <a:ext cx="304800" cy="190500"/>
          </a:xfrm>
          <a:prstGeom prst="rect">
            <a:avLst/>
          </a:prstGeom>
        </p:spPr>
        <p:txBody>
          <a:bodyPr wrap="none" lIns="0" tIns="0" rIns="0" bIns="0"/>
          <a:lstStyle/>
          <a:p>
            <a:pPr>
              <a:lnSpc>
                <a:spcPct val="100000"/>
              </a:lnSpc>
            </a:pPr>
            <a:r>
              <a:rPr lang="zh-CN" sz="1200" b="1">
                <a:solidFill>
                  <a:srgbClr val="FFFFFF"/>
                </a:solidFill>
                <a:latin typeface="Microsoft YaHei"/>
                <a:ea typeface="Microsoft YaHei"/>
              </a:rPr>
              <a:t>已证</a:t>
            </a:r>
            <a:endParaRPr/>
          </a:p>
        </p:txBody>
      </p:sp>
      <p:sp>
        <p:nvSpPr>
          <p:cNvPr id="257" name="矩形: 圆角 256"/>
          <p:cNvSpPr/>
          <p:nvPr/>
        </p:nvSpPr>
        <p:spPr>
          <a:xfrm>
            <a:off x="381000" y="1838325"/>
            <a:ext cx="1438275" cy="1533525"/>
          </a:xfrm>
          <a:prstGeom prst="roundRect">
            <a:avLst>
              <a:gd name="adj" fmla="val 2649"/>
            </a:avLst>
          </a:prstGeom>
          <a:solidFill>
            <a:srgbClr val="F7F9FC"/>
          </a:solidFill>
          <a:ln w="12700">
            <a:solidFill>
              <a:srgbClr val="E5E7EB"/>
            </a:solidFill>
            <a:prstDash val="solid"/>
          </a:ln>
        </p:spPr>
        <p:txBody>
          <a:bodyPr/>
          <a:lstStyle/>
          <a:p>
            <a:endParaRPr/>
          </a:p>
        </p:txBody>
      </p:sp>
      <p:sp>
        <p:nvSpPr>
          <p:cNvPr id="258" name="文本框 257" descr="{&quot;isTemplate&quot;:true,&quot;type&quot;:&quot;text&quot;}"/>
          <p:cNvSpPr txBox="1"/>
          <p:nvPr/>
        </p:nvSpPr>
        <p:spPr>
          <a:xfrm>
            <a:off x="476250" y="1933575"/>
            <a:ext cx="1247775"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置闰误差有界定理</a:t>
            </a:r>
            <a:endParaRPr/>
          </a:p>
        </p:txBody>
      </p:sp>
      <p:sp>
        <p:nvSpPr>
          <p:cNvPr id="259" name="文本框 258" descr="{&quot;isTemplate&quot;:true,&quot;type&quot;:&quot;text&quot;}"/>
          <p:cNvSpPr txBox="1"/>
          <p:nvPr/>
        </p:nvSpPr>
        <p:spPr>
          <a:xfrm>
            <a:off x="476250" y="2886075"/>
            <a:ext cx="1247775" cy="390525"/>
          </a:xfrm>
          <a:prstGeom prst="rect">
            <a:avLst/>
          </a:prstGeom>
        </p:spPr>
        <p:txBody>
          <a:bodyPr wrap="square" lIns="0" tIns="0" rIns="0" bIns="0">
            <a:normAutofit/>
          </a:bodyPr>
          <a:lstStyle/>
          <a:p>
            <a:pPr>
              <a:lnSpc>
                <a:spcPct val="155000"/>
              </a:lnSpc>
            </a:pPr>
            <a:r>
              <a:rPr lang="zh-CN" sz="825">
                <a:solidFill>
                  <a:srgbClr val="4A5568"/>
                </a:solidFill>
                <a:latin typeface="Microsoft YaHei"/>
                <a:ea typeface="Microsoft YaHei"/>
              </a:rPr>
              <a:t>累计误差被约束在</a:t>
            </a:r>
            <a:r>
              <a:rPr lang="en-US" sz="825">
                <a:solidFill>
                  <a:srgbClr val="4A5568"/>
                </a:solidFill>
                <a:latin typeface="Microsoft YaHei"/>
                <a:ea typeface="Microsoft YaHei"/>
              </a:rPr>
              <a:t> ±½ </a:t>
            </a:r>
            <a:r>
              <a:rPr lang="zh-CN" sz="825">
                <a:solidFill>
                  <a:srgbClr val="4A5568"/>
                </a:solidFill>
                <a:latin typeface="Microsoft YaHei"/>
                <a:ea typeface="Microsoft YaHei"/>
              </a:rPr>
              <a:t>的有界带内</a:t>
            </a:r>
            <a:endParaRPr/>
          </a:p>
        </p:txBody>
      </p:sp>
      <p:sp>
        <p:nvSpPr>
          <p:cNvPr id="260" name="矩形: 圆角 259"/>
          <p:cNvSpPr/>
          <p:nvPr/>
        </p:nvSpPr>
        <p:spPr>
          <a:xfrm>
            <a:off x="381000" y="3438525"/>
            <a:ext cx="1438275" cy="1533525"/>
          </a:xfrm>
          <a:prstGeom prst="roundRect">
            <a:avLst>
              <a:gd name="adj" fmla="val 2649"/>
            </a:avLst>
          </a:prstGeom>
          <a:solidFill>
            <a:srgbClr val="F7F9FC"/>
          </a:solidFill>
          <a:ln w="12700">
            <a:solidFill>
              <a:srgbClr val="E5E7EB"/>
            </a:solidFill>
            <a:prstDash val="solid"/>
          </a:ln>
        </p:spPr>
        <p:txBody>
          <a:bodyPr/>
          <a:lstStyle/>
          <a:p>
            <a:endParaRPr/>
          </a:p>
        </p:txBody>
      </p:sp>
      <p:sp>
        <p:nvSpPr>
          <p:cNvPr id="261" name="文本框 260" descr="{&quot;isTemplate&quot;:true,&quot;type&quot;:&quot;text&quot;}"/>
          <p:cNvSpPr txBox="1"/>
          <p:nvPr/>
        </p:nvSpPr>
        <p:spPr>
          <a:xfrm>
            <a:off x="476250" y="3533775"/>
            <a:ext cx="1247775"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连分数最佳置闰定理</a:t>
            </a:r>
            <a:endParaRPr/>
          </a:p>
        </p:txBody>
      </p:sp>
      <p:sp>
        <p:nvSpPr>
          <p:cNvPr id="262" name="文本框 261" descr="{&quot;isTemplate&quot;:true,&quot;type&quot;:&quot;text&quot;}"/>
          <p:cNvSpPr txBox="1"/>
          <p:nvPr/>
        </p:nvSpPr>
        <p:spPr>
          <a:xfrm>
            <a:off x="476250" y="4486275"/>
            <a:ext cx="1247775" cy="390525"/>
          </a:xfrm>
          <a:prstGeom prst="rect">
            <a:avLst/>
          </a:prstGeom>
        </p:spPr>
        <p:txBody>
          <a:bodyPr wrap="square" lIns="0" tIns="0" rIns="0" bIns="0">
            <a:normAutofit fontScale="77500" lnSpcReduction="20000"/>
          </a:bodyPr>
          <a:lstStyle/>
          <a:p>
            <a:pPr>
              <a:lnSpc>
                <a:spcPct val="155000"/>
              </a:lnSpc>
            </a:pPr>
            <a:r>
              <a:rPr lang="zh-CN" sz="825">
                <a:solidFill>
                  <a:srgbClr val="4A5568"/>
                </a:solidFill>
                <a:latin typeface="Microsoft YaHei"/>
                <a:ea typeface="Microsoft YaHei"/>
              </a:rPr>
              <a:t>最优窗口由连分数收敛子给出；同章「同余角与广义中国剩余定理」给出多周期相容性判据</a:t>
            </a:r>
            <a:endParaRPr/>
          </a:p>
        </p:txBody>
      </p:sp>
      <p:sp>
        <p:nvSpPr>
          <p:cNvPr id="263" name="矩形: 圆角 262"/>
          <p:cNvSpPr/>
          <p:nvPr/>
        </p:nvSpPr>
        <p:spPr>
          <a:xfrm>
            <a:off x="381000" y="5038725"/>
            <a:ext cx="1438275" cy="1343025"/>
          </a:xfrm>
          <a:prstGeom prst="roundRect">
            <a:avLst>
              <a:gd name="adj" fmla="val 2837"/>
            </a:avLst>
          </a:prstGeom>
          <a:solidFill>
            <a:srgbClr val="F7F9FC"/>
          </a:solidFill>
          <a:ln w="12700">
            <a:solidFill>
              <a:srgbClr val="E5E7EB"/>
            </a:solidFill>
            <a:prstDash val="solid"/>
          </a:ln>
        </p:spPr>
        <p:txBody>
          <a:bodyPr/>
          <a:lstStyle/>
          <a:p>
            <a:endParaRPr/>
          </a:p>
        </p:txBody>
      </p:sp>
      <p:sp>
        <p:nvSpPr>
          <p:cNvPr id="264" name="文本框 263" descr="{&quot;isTemplate&quot;:true,&quot;type&quot;:&quot;text&quot;}"/>
          <p:cNvSpPr txBox="1"/>
          <p:nvPr/>
        </p:nvSpPr>
        <p:spPr>
          <a:xfrm>
            <a:off x="476250" y="5133975"/>
            <a:ext cx="1247775"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有限阶作用</a:t>
            </a:r>
            <a:r>
              <a:rPr lang="en-US" sz="975" b="1">
                <a:solidFill>
                  <a:srgbClr val="1A2230"/>
                </a:solidFill>
                <a:latin typeface="Microsoft YaHei"/>
                <a:ea typeface="Microsoft YaHei"/>
              </a:rPr>
              <a:t> ⇒ </a:t>
            </a:r>
            <a:r>
              <a:rPr lang="zh-CN" sz="975" b="1">
                <a:solidFill>
                  <a:srgbClr val="1A2230"/>
                </a:solidFill>
                <a:latin typeface="Microsoft YaHei"/>
                <a:ea typeface="Microsoft YaHei"/>
              </a:rPr>
              <a:t>周期</a:t>
            </a:r>
            <a:endParaRPr/>
          </a:p>
        </p:txBody>
      </p:sp>
      <p:sp>
        <p:nvSpPr>
          <p:cNvPr id="265" name="文本框 264" descr="{&quot;isTemplate&quot;:true,&quot;type&quot;:&quot;text&quot;}"/>
          <p:cNvSpPr txBox="1"/>
          <p:nvPr/>
        </p:nvSpPr>
        <p:spPr>
          <a:xfrm>
            <a:off x="476250" y="6086475"/>
            <a:ext cx="1247775" cy="200025"/>
          </a:xfrm>
          <a:prstGeom prst="rect">
            <a:avLst/>
          </a:prstGeom>
        </p:spPr>
        <p:txBody>
          <a:bodyPr wrap="none" lIns="0" tIns="0" rIns="0" bIns="0"/>
          <a:lstStyle/>
          <a:p>
            <a:pPr>
              <a:lnSpc>
                <a:spcPct val="155000"/>
              </a:lnSpc>
            </a:pPr>
            <a:r>
              <a:rPr lang="zh-CN" sz="825">
                <a:solidFill>
                  <a:srgbClr val="4A5568"/>
                </a:solidFill>
                <a:latin typeface="Microsoft YaHei"/>
                <a:ea typeface="Microsoft YaHei"/>
              </a:rPr>
              <a:t>纯代数框架下的充分条件</a:t>
            </a:r>
            <a:endParaRPr/>
          </a:p>
        </p:txBody>
      </p:sp>
      <p:sp>
        <p:nvSpPr>
          <p:cNvPr id="266" name="矩形: 圆角 265"/>
          <p:cNvSpPr/>
          <p:nvPr/>
        </p:nvSpPr>
        <p:spPr>
          <a:xfrm>
            <a:off x="1895475" y="1352550"/>
            <a:ext cx="1447800" cy="419100"/>
          </a:xfrm>
          <a:prstGeom prst="roundRect">
            <a:avLst>
              <a:gd name="adj" fmla="val 9091"/>
            </a:avLst>
          </a:prstGeom>
          <a:solidFill>
            <a:srgbClr val="1E4FA8"/>
          </a:solidFill>
          <a:ln/>
        </p:spPr>
        <p:txBody>
          <a:bodyPr/>
          <a:lstStyle/>
          <a:p>
            <a:endParaRPr/>
          </a:p>
        </p:txBody>
      </p:sp>
      <p:sp>
        <p:nvSpPr>
          <p:cNvPr id="267" name="文本框 266" descr="{&quot;isTemplate&quot;:true,&quot;type&quot;:&quot;text&quot;}"/>
          <p:cNvSpPr txBox="1"/>
          <p:nvPr/>
        </p:nvSpPr>
        <p:spPr>
          <a:xfrm>
            <a:off x="2390775" y="1466850"/>
            <a:ext cx="457200" cy="190500"/>
          </a:xfrm>
          <a:prstGeom prst="rect">
            <a:avLst/>
          </a:prstGeom>
        </p:spPr>
        <p:txBody>
          <a:bodyPr wrap="none" lIns="0" tIns="0" rIns="0" bIns="0"/>
          <a:lstStyle/>
          <a:p>
            <a:pPr>
              <a:lnSpc>
                <a:spcPct val="100000"/>
              </a:lnSpc>
            </a:pPr>
            <a:r>
              <a:rPr lang="zh-CN" sz="1200" b="1">
                <a:solidFill>
                  <a:srgbClr val="FFFFFF"/>
                </a:solidFill>
                <a:latin typeface="Microsoft YaHei"/>
                <a:ea typeface="Microsoft YaHei"/>
              </a:rPr>
              <a:t>有条件</a:t>
            </a:r>
            <a:endParaRPr/>
          </a:p>
        </p:txBody>
      </p:sp>
      <p:sp>
        <p:nvSpPr>
          <p:cNvPr id="268" name="矩形: 圆角 267"/>
          <p:cNvSpPr/>
          <p:nvPr/>
        </p:nvSpPr>
        <p:spPr>
          <a:xfrm>
            <a:off x="1895475" y="1838325"/>
            <a:ext cx="1447800" cy="1466850"/>
          </a:xfrm>
          <a:prstGeom prst="roundRect">
            <a:avLst>
              <a:gd name="adj" fmla="val 2632"/>
            </a:avLst>
          </a:prstGeom>
          <a:solidFill>
            <a:srgbClr val="F7F9FC"/>
          </a:solidFill>
          <a:ln w="12700">
            <a:solidFill>
              <a:srgbClr val="E5E7EB"/>
            </a:solidFill>
            <a:prstDash val="solid"/>
          </a:ln>
        </p:spPr>
        <p:txBody>
          <a:bodyPr/>
          <a:lstStyle/>
          <a:p>
            <a:endParaRPr/>
          </a:p>
        </p:txBody>
      </p:sp>
      <p:sp>
        <p:nvSpPr>
          <p:cNvPr id="269" name="文本框 268" descr="{&quot;isTemplate&quot;:true,&quot;type&quot;:&quot;text&quot;}"/>
          <p:cNvSpPr txBox="1"/>
          <p:nvPr/>
        </p:nvSpPr>
        <p:spPr>
          <a:xfrm>
            <a:off x="1990725" y="1933575"/>
            <a:ext cx="1257300"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对称</a:t>
            </a:r>
            <a:r>
              <a:rPr lang="en-US" sz="975" b="1">
                <a:solidFill>
                  <a:srgbClr val="1A2230"/>
                </a:solidFill>
                <a:latin typeface="Microsoft YaHei"/>
                <a:ea typeface="Microsoft YaHei"/>
              </a:rPr>
              <a:t> ⇒ </a:t>
            </a:r>
            <a:r>
              <a:rPr lang="zh-CN" sz="975" b="1">
                <a:solidFill>
                  <a:srgbClr val="1A2230"/>
                </a:solidFill>
                <a:latin typeface="Microsoft YaHei"/>
                <a:ea typeface="Microsoft YaHei"/>
              </a:rPr>
              <a:t>守恒</a:t>
            </a:r>
            <a:endParaRPr/>
          </a:p>
        </p:txBody>
      </p:sp>
      <p:sp>
        <p:nvSpPr>
          <p:cNvPr id="270" name="文本框 269" descr="{&quot;isTemplate&quot;:true,&quot;type&quot;:&quot;text&quot;}"/>
          <p:cNvSpPr txBox="1"/>
          <p:nvPr/>
        </p:nvSpPr>
        <p:spPr>
          <a:xfrm>
            <a:off x="1990725" y="2819400"/>
            <a:ext cx="1257300" cy="390525"/>
          </a:xfrm>
          <a:prstGeom prst="rect">
            <a:avLst/>
          </a:prstGeom>
        </p:spPr>
        <p:txBody>
          <a:bodyPr wrap="square" lIns="0" tIns="0" rIns="0" bIns="0">
            <a:normAutofit/>
          </a:bodyPr>
          <a:lstStyle/>
          <a:p>
            <a:pPr>
              <a:lnSpc>
                <a:spcPct val="155000"/>
              </a:lnSpc>
            </a:pPr>
            <a:r>
              <a:rPr lang="zh-CN" sz="825">
                <a:solidFill>
                  <a:srgbClr val="4A5568"/>
                </a:solidFill>
                <a:latin typeface="Microsoft YaHei"/>
                <a:ea typeface="Microsoft YaHei"/>
              </a:rPr>
              <a:t>诺特版需作用量原理成立</a:t>
            </a:r>
            <a:r>
              <a:rPr lang="en-US" sz="825">
                <a:solidFill>
                  <a:srgbClr val="4A5568"/>
                </a:solidFill>
                <a:latin typeface="Microsoft YaHei"/>
                <a:ea typeface="Microsoft YaHei"/>
              </a:rPr>
              <a:t> + </a:t>
            </a:r>
            <a:r>
              <a:rPr lang="zh-CN" sz="825">
                <a:solidFill>
                  <a:srgbClr val="4A5568"/>
                </a:solidFill>
                <a:latin typeface="Microsoft YaHei"/>
                <a:ea typeface="Microsoft YaHei"/>
              </a:rPr>
              <a:t>变换连续光滑</a:t>
            </a:r>
            <a:endParaRPr/>
          </a:p>
        </p:txBody>
      </p:sp>
      <p:sp>
        <p:nvSpPr>
          <p:cNvPr id="271" name="矩形: 圆角 270"/>
          <p:cNvSpPr/>
          <p:nvPr/>
        </p:nvSpPr>
        <p:spPr>
          <a:xfrm>
            <a:off x="1895475" y="3371850"/>
            <a:ext cx="1447800" cy="1476375"/>
          </a:xfrm>
          <a:prstGeom prst="roundRect">
            <a:avLst>
              <a:gd name="adj" fmla="val 2632"/>
            </a:avLst>
          </a:prstGeom>
          <a:solidFill>
            <a:srgbClr val="F7F9FC"/>
          </a:solidFill>
          <a:ln w="12700">
            <a:solidFill>
              <a:srgbClr val="E5E7EB"/>
            </a:solidFill>
            <a:prstDash val="solid"/>
          </a:ln>
        </p:spPr>
        <p:txBody>
          <a:bodyPr/>
          <a:lstStyle/>
          <a:p>
            <a:endParaRPr/>
          </a:p>
        </p:txBody>
      </p:sp>
      <p:sp>
        <p:nvSpPr>
          <p:cNvPr id="272" name="文本框 271" descr="{&quot;isTemplate&quot;:true,&quot;type&quot;:&quot;text&quot;}"/>
          <p:cNvSpPr txBox="1"/>
          <p:nvPr/>
        </p:nvSpPr>
        <p:spPr>
          <a:xfrm>
            <a:off x="1990725" y="3467100"/>
            <a:ext cx="1257300"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积分变换的统一描述</a:t>
            </a:r>
            <a:endParaRPr/>
          </a:p>
        </p:txBody>
      </p:sp>
      <p:sp>
        <p:nvSpPr>
          <p:cNvPr id="273" name="文本框 272" descr="{&quot;isTemplate&quot;:true,&quot;type&quot;:&quot;text&quot;}"/>
          <p:cNvSpPr txBox="1"/>
          <p:nvPr/>
        </p:nvSpPr>
        <p:spPr>
          <a:xfrm>
            <a:off x="1990725" y="4362450"/>
            <a:ext cx="1257300" cy="390525"/>
          </a:xfrm>
          <a:prstGeom prst="rect">
            <a:avLst/>
          </a:prstGeom>
        </p:spPr>
        <p:txBody>
          <a:bodyPr wrap="square" lIns="0" tIns="0" rIns="0" bIns="0">
            <a:normAutofit/>
          </a:bodyPr>
          <a:lstStyle/>
          <a:p>
            <a:pPr>
              <a:lnSpc>
                <a:spcPct val="155000"/>
              </a:lnSpc>
            </a:pPr>
            <a:r>
              <a:rPr lang="zh-CN" sz="825">
                <a:solidFill>
                  <a:srgbClr val="4A5568"/>
                </a:solidFill>
                <a:latin typeface="Microsoft YaHei"/>
                <a:ea typeface="Microsoft YaHei"/>
              </a:rPr>
              <a:t>需指定群作用、表示与函数空间</a:t>
            </a:r>
            <a:endParaRPr/>
          </a:p>
        </p:txBody>
      </p:sp>
      <p:sp>
        <p:nvSpPr>
          <p:cNvPr id="274" name="矩形: 圆角 273"/>
          <p:cNvSpPr/>
          <p:nvPr/>
        </p:nvSpPr>
        <p:spPr>
          <a:xfrm>
            <a:off x="1895475" y="4914900"/>
            <a:ext cx="1447800" cy="1466850"/>
          </a:xfrm>
          <a:prstGeom prst="roundRect">
            <a:avLst>
              <a:gd name="adj" fmla="val 2632"/>
            </a:avLst>
          </a:prstGeom>
          <a:solidFill>
            <a:srgbClr val="F7F9FC"/>
          </a:solidFill>
          <a:ln w="12700">
            <a:solidFill>
              <a:srgbClr val="E5E7EB"/>
            </a:solidFill>
            <a:prstDash val="solid"/>
          </a:ln>
        </p:spPr>
        <p:txBody>
          <a:bodyPr/>
          <a:lstStyle/>
          <a:p>
            <a:endParaRPr/>
          </a:p>
        </p:txBody>
      </p:sp>
      <p:sp>
        <p:nvSpPr>
          <p:cNvPr id="275" name="文本框 274" descr="{&quot;isTemplate&quot;:true,&quot;type&quot;:&quot;text&quot;}"/>
          <p:cNvSpPr txBox="1"/>
          <p:nvPr/>
        </p:nvSpPr>
        <p:spPr>
          <a:xfrm>
            <a:off x="1990725" y="5010150"/>
            <a:ext cx="1257300"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角空间取</a:t>
            </a:r>
            <a:r>
              <a:rPr lang="en-US" sz="975" b="1">
                <a:solidFill>
                  <a:srgbClr val="1A2230"/>
                </a:solidFill>
                <a:latin typeface="Microsoft YaHei"/>
                <a:ea typeface="Microsoft YaHei"/>
              </a:rPr>
              <a:t> U(1) </a:t>
            </a:r>
            <a:r>
              <a:rPr lang="zh-CN" sz="975" b="1">
                <a:solidFill>
                  <a:srgbClr val="1A2230"/>
                </a:solidFill>
                <a:latin typeface="Microsoft YaHei"/>
                <a:ea typeface="Microsoft YaHei"/>
              </a:rPr>
              <a:t>或</a:t>
            </a:r>
            <a:r>
              <a:rPr lang="en-US" sz="975" b="1">
                <a:solidFill>
                  <a:srgbClr val="1A2230"/>
                </a:solidFill>
                <a:latin typeface="Microsoft YaHei"/>
                <a:ea typeface="Microsoft YaHei"/>
              </a:rPr>
              <a:t> ℤ_T</a:t>
            </a:r>
            <a:endParaRPr/>
          </a:p>
        </p:txBody>
      </p:sp>
      <p:sp>
        <p:nvSpPr>
          <p:cNvPr id="276" name="文本框 275" descr="{&quot;isTemplate&quot;:true,&quot;type&quot;:&quot;text&quot;}"/>
          <p:cNvSpPr txBox="1"/>
          <p:nvPr/>
        </p:nvSpPr>
        <p:spPr>
          <a:xfrm>
            <a:off x="1990725" y="5895975"/>
            <a:ext cx="1257300" cy="390525"/>
          </a:xfrm>
          <a:prstGeom prst="rect">
            <a:avLst/>
          </a:prstGeom>
        </p:spPr>
        <p:txBody>
          <a:bodyPr wrap="square" lIns="0" tIns="0" rIns="0" bIns="0">
            <a:normAutofit/>
          </a:bodyPr>
          <a:lstStyle/>
          <a:p>
            <a:pPr>
              <a:lnSpc>
                <a:spcPct val="155000"/>
              </a:lnSpc>
            </a:pPr>
            <a:r>
              <a:rPr lang="zh-CN" sz="825">
                <a:solidFill>
                  <a:srgbClr val="4A5568"/>
                </a:solidFill>
                <a:latin typeface="Microsoft YaHei"/>
                <a:ea typeface="Microsoft YaHei"/>
              </a:rPr>
              <a:t>需轨道的同伦类与基本群条件</a:t>
            </a:r>
            <a:endParaRPr/>
          </a:p>
        </p:txBody>
      </p:sp>
      <p:sp>
        <p:nvSpPr>
          <p:cNvPr id="277" name="矩形: 圆角 276"/>
          <p:cNvSpPr/>
          <p:nvPr/>
        </p:nvSpPr>
        <p:spPr>
          <a:xfrm>
            <a:off x="3419475" y="1352550"/>
            <a:ext cx="1438275" cy="419100"/>
          </a:xfrm>
          <a:prstGeom prst="roundRect">
            <a:avLst>
              <a:gd name="adj" fmla="val 9091"/>
            </a:avLst>
          </a:prstGeom>
          <a:solidFill>
            <a:srgbClr val="C9DAF0"/>
          </a:solidFill>
          <a:ln/>
        </p:spPr>
        <p:txBody>
          <a:bodyPr/>
          <a:lstStyle/>
          <a:p>
            <a:endParaRPr/>
          </a:p>
        </p:txBody>
      </p:sp>
      <p:sp>
        <p:nvSpPr>
          <p:cNvPr id="278" name="文本框 277" descr="{&quot;isTemplate&quot;:true,&quot;type&quot;:&quot;text&quot;}"/>
          <p:cNvSpPr txBox="1"/>
          <p:nvPr/>
        </p:nvSpPr>
        <p:spPr>
          <a:xfrm>
            <a:off x="3914775" y="1466850"/>
            <a:ext cx="457200" cy="190500"/>
          </a:xfrm>
          <a:prstGeom prst="rect">
            <a:avLst/>
          </a:prstGeom>
        </p:spPr>
        <p:txBody>
          <a:bodyPr wrap="none" lIns="0" tIns="0" rIns="0" bIns="0"/>
          <a:lstStyle/>
          <a:p>
            <a:pPr>
              <a:lnSpc>
                <a:spcPct val="100000"/>
              </a:lnSpc>
            </a:pPr>
            <a:r>
              <a:rPr lang="zh-CN" sz="1200" b="1">
                <a:solidFill>
                  <a:srgbClr val="0E3F8C"/>
                </a:solidFill>
                <a:latin typeface="Microsoft YaHei"/>
                <a:ea typeface="Microsoft YaHei"/>
              </a:rPr>
              <a:t>待研究</a:t>
            </a:r>
            <a:endParaRPr/>
          </a:p>
        </p:txBody>
      </p:sp>
      <p:sp>
        <p:nvSpPr>
          <p:cNvPr id="279" name="矩形: 圆角 278"/>
          <p:cNvSpPr/>
          <p:nvPr/>
        </p:nvSpPr>
        <p:spPr>
          <a:xfrm>
            <a:off x="3419475" y="1838325"/>
            <a:ext cx="1438275" cy="1333500"/>
          </a:xfrm>
          <a:prstGeom prst="roundRect">
            <a:avLst>
              <a:gd name="adj" fmla="val 2857"/>
            </a:avLst>
          </a:prstGeom>
          <a:solidFill>
            <a:srgbClr val="F7F9FC"/>
          </a:solidFill>
          <a:ln w="12700">
            <a:solidFill>
              <a:srgbClr val="E5E7EB"/>
            </a:solidFill>
            <a:prstDash val="solid"/>
          </a:ln>
        </p:spPr>
        <p:txBody>
          <a:bodyPr/>
          <a:lstStyle/>
          <a:p>
            <a:endParaRPr/>
          </a:p>
        </p:txBody>
      </p:sp>
      <p:sp>
        <p:nvSpPr>
          <p:cNvPr id="280" name="文本框 279" descr="{&quot;isTemplate&quot;:true,&quot;type&quot;:&quot;text&quot;}"/>
          <p:cNvSpPr txBox="1"/>
          <p:nvPr/>
        </p:nvSpPr>
        <p:spPr>
          <a:xfrm>
            <a:off x="3514725" y="1933575"/>
            <a:ext cx="1247775"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三变换与三算子对应</a:t>
            </a:r>
            <a:endParaRPr/>
          </a:p>
        </p:txBody>
      </p:sp>
      <p:sp>
        <p:nvSpPr>
          <p:cNvPr id="281" name="文本框 280" descr="{&quot;isTemplate&quot;:true,&quot;type&quot;:&quot;text&quot;}"/>
          <p:cNvSpPr txBox="1"/>
          <p:nvPr/>
        </p:nvSpPr>
        <p:spPr>
          <a:xfrm>
            <a:off x="3514725" y="2876550"/>
            <a:ext cx="1247775" cy="200025"/>
          </a:xfrm>
          <a:prstGeom prst="rect">
            <a:avLst/>
          </a:prstGeom>
        </p:spPr>
        <p:txBody>
          <a:bodyPr wrap="none" lIns="0" tIns="0" rIns="0" bIns="0"/>
          <a:lstStyle/>
          <a:p>
            <a:pPr>
              <a:lnSpc>
                <a:spcPct val="155000"/>
              </a:lnSpc>
            </a:pPr>
            <a:r>
              <a:rPr lang="zh-CN" sz="825">
                <a:solidFill>
                  <a:srgbClr val="4A5568"/>
                </a:solidFill>
                <a:latin typeface="Microsoft YaHei"/>
                <a:ea typeface="Microsoft YaHei"/>
              </a:rPr>
              <a:t>散度与缩放的桥梁最微妙</a:t>
            </a:r>
            <a:endParaRPr/>
          </a:p>
        </p:txBody>
      </p:sp>
      <p:sp>
        <p:nvSpPr>
          <p:cNvPr id="282" name="矩形: 圆角 281"/>
          <p:cNvSpPr/>
          <p:nvPr/>
        </p:nvSpPr>
        <p:spPr>
          <a:xfrm>
            <a:off x="3419475" y="3238500"/>
            <a:ext cx="1438275" cy="1552575"/>
          </a:xfrm>
          <a:prstGeom prst="roundRect">
            <a:avLst>
              <a:gd name="adj" fmla="val 2649"/>
            </a:avLst>
          </a:prstGeom>
          <a:solidFill>
            <a:srgbClr val="F7F9FC"/>
          </a:solidFill>
          <a:ln w="12700">
            <a:solidFill>
              <a:srgbClr val="E5E7EB"/>
            </a:solidFill>
            <a:prstDash val="solid"/>
          </a:ln>
        </p:spPr>
        <p:txBody>
          <a:bodyPr/>
          <a:lstStyle/>
          <a:p>
            <a:endParaRPr/>
          </a:p>
        </p:txBody>
      </p:sp>
      <p:sp>
        <p:nvSpPr>
          <p:cNvPr id="283" name="文本框 282" descr="{&quot;isTemplate&quot;:true,&quot;type&quot;:&quot;text&quot;}"/>
          <p:cNvSpPr txBox="1"/>
          <p:nvPr/>
        </p:nvSpPr>
        <p:spPr>
          <a:xfrm>
            <a:off x="3514725" y="3333750"/>
            <a:ext cx="1247775" cy="419100"/>
          </a:xfrm>
          <a:prstGeom prst="rect">
            <a:avLst/>
          </a:prstGeom>
        </p:spPr>
        <p:txBody>
          <a:bodyPr wrap="square" lIns="0" tIns="0" rIns="0" bIns="0">
            <a:normAutofit/>
          </a:bodyPr>
          <a:lstStyle/>
          <a:p>
            <a:pPr>
              <a:lnSpc>
                <a:spcPct val="140000"/>
              </a:lnSpc>
            </a:pPr>
            <a:r>
              <a:rPr lang="zh-CN" sz="975" b="1">
                <a:solidFill>
                  <a:srgbClr val="1A2230"/>
                </a:solidFill>
                <a:latin typeface="Microsoft YaHei"/>
                <a:ea typeface="Microsoft YaHei"/>
              </a:rPr>
              <a:t>能量</a:t>
            </a:r>
            <a:r>
              <a:rPr lang="en-US" sz="975" b="1">
                <a:solidFill>
                  <a:srgbClr val="1A2230"/>
                </a:solidFill>
                <a:latin typeface="Microsoft YaHei"/>
                <a:ea typeface="Microsoft YaHei"/>
              </a:rPr>
              <a:t> / </a:t>
            </a:r>
            <a:r>
              <a:rPr lang="zh-CN" sz="975" b="1">
                <a:solidFill>
                  <a:srgbClr val="1A2230"/>
                </a:solidFill>
                <a:latin typeface="Microsoft YaHei"/>
                <a:ea typeface="Microsoft YaHei"/>
              </a:rPr>
              <a:t>质量</a:t>
            </a:r>
            <a:r>
              <a:rPr lang="en-US" sz="975" b="1">
                <a:solidFill>
                  <a:srgbClr val="1A2230"/>
                </a:solidFill>
                <a:latin typeface="Microsoft YaHei"/>
                <a:ea typeface="Microsoft YaHei"/>
              </a:rPr>
              <a:t> / </a:t>
            </a:r>
            <a:r>
              <a:rPr lang="zh-CN" sz="975" b="1">
                <a:solidFill>
                  <a:srgbClr val="1A2230"/>
                </a:solidFill>
                <a:latin typeface="Microsoft YaHei"/>
                <a:ea typeface="Microsoft YaHei"/>
              </a:rPr>
              <a:t>尺度的通量解释</a:t>
            </a:r>
            <a:endParaRPr/>
          </a:p>
        </p:txBody>
      </p:sp>
      <p:sp>
        <p:nvSpPr>
          <p:cNvPr id="284" name="文本框 283" descr="{&quot;isTemplate&quot;:true,&quot;type&quot;:&quot;text&quot;}"/>
          <p:cNvSpPr txBox="1"/>
          <p:nvPr/>
        </p:nvSpPr>
        <p:spPr>
          <a:xfrm>
            <a:off x="3514725" y="4495800"/>
            <a:ext cx="1247775" cy="200025"/>
          </a:xfrm>
          <a:prstGeom prst="rect">
            <a:avLst/>
          </a:prstGeom>
        </p:spPr>
        <p:txBody>
          <a:bodyPr wrap="none" lIns="0" tIns="0" rIns="0" bIns="0"/>
          <a:lstStyle/>
          <a:p>
            <a:pPr>
              <a:lnSpc>
                <a:spcPct val="155000"/>
              </a:lnSpc>
            </a:pPr>
            <a:r>
              <a:rPr lang="zh-CN" sz="825">
                <a:solidFill>
                  <a:srgbClr val="4A5568"/>
                </a:solidFill>
                <a:latin typeface="Microsoft YaHei"/>
                <a:ea typeface="Microsoft YaHei"/>
              </a:rPr>
              <a:t>本体论解读属哲学立场</a:t>
            </a:r>
            <a:endParaRPr/>
          </a:p>
        </p:txBody>
      </p:sp>
      <p:sp>
        <p:nvSpPr>
          <p:cNvPr id="285" name="矩形: 圆角 284"/>
          <p:cNvSpPr/>
          <p:nvPr/>
        </p:nvSpPr>
        <p:spPr>
          <a:xfrm>
            <a:off x="3419475" y="4857750"/>
            <a:ext cx="1438275" cy="1524000"/>
          </a:xfrm>
          <a:prstGeom prst="roundRect">
            <a:avLst>
              <a:gd name="adj" fmla="val 2649"/>
            </a:avLst>
          </a:prstGeom>
          <a:solidFill>
            <a:srgbClr val="F7F9FC"/>
          </a:solidFill>
          <a:ln w="12700">
            <a:solidFill>
              <a:srgbClr val="E5E7EB"/>
            </a:solidFill>
            <a:prstDash val="solid"/>
          </a:ln>
        </p:spPr>
        <p:txBody>
          <a:bodyPr/>
          <a:lstStyle/>
          <a:p>
            <a:endParaRPr/>
          </a:p>
        </p:txBody>
      </p:sp>
      <p:sp>
        <p:nvSpPr>
          <p:cNvPr id="286" name="文本框 285" descr="{&quot;isTemplate&quot;:true,&quot;type&quot;:&quot;text&quot;}"/>
          <p:cNvSpPr txBox="1"/>
          <p:nvPr/>
        </p:nvSpPr>
        <p:spPr>
          <a:xfrm>
            <a:off x="3514725" y="4953000"/>
            <a:ext cx="1247775" cy="209550"/>
          </a:xfrm>
          <a:prstGeom prst="rect">
            <a:avLst/>
          </a:prstGeom>
        </p:spPr>
        <p:txBody>
          <a:bodyPr wrap="none" lIns="0" tIns="0" rIns="0" bIns="0"/>
          <a:lstStyle/>
          <a:p>
            <a:pPr>
              <a:lnSpc>
                <a:spcPct val="140000"/>
              </a:lnSpc>
            </a:pPr>
            <a:r>
              <a:rPr lang="zh-CN" sz="975" b="1">
                <a:solidFill>
                  <a:srgbClr val="1A2230"/>
                </a:solidFill>
                <a:latin typeface="Microsoft YaHei"/>
                <a:ea typeface="Microsoft YaHei"/>
              </a:rPr>
              <a:t>莱布尼茨史料考订</a:t>
            </a:r>
            <a:endParaRPr/>
          </a:p>
        </p:txBody>
      </p:sp>
      <p:sp>
        <p:nvSpPr>
          <p:cNvPr id="287" name="文本框 286" descr="{&quot;isTemplate&quot;:true,&quot;type&quot;:&quot;text&quot;}"/>
          <p:cNvSpPr txBox="1"/>
          <p:nvPr/>
        </p:nvSpPr>
        <p:spPr>
          <a:xfrm>
            <a:off x="3514725" y="5895975"/>
            <a:ext cx="1247775" cy="390525"/>
          </a:xfrm>
          <a:prstGeom prst="rect">
            <a:avLst/>
          </a:prstGeom>
        </p:spPr>
        <p:txBody>
          <a:bodyPr wrap="square" lIns="0" tIns="0" rIns="0" bIns="0">
            <a:normAutofit/>
          </a:bodyPr>
          <a:lstStyle/>
          <a:p>
            <a:pPr>
              <a:lnSpc>
                <a:spcPct val="155000"/>
              </a:lnSpc>
            </a:pPr>
            <a:r>
              <a:rPr lang="en-US" sz="825">
                <a:solidFill>
                  <a:srgbClr val="4A5568"/>
                </a:solidFill>
                <a:latin typeface="Microsoft YaHei"/>
                <a:ea typeface="Microsoft YaHei"/>
              </a:rPr>
              <a:t>Periodus numerorum </a:t>
            </a:r>
            <a:r>
              <a:rPr lang="zh-CN" sz="825">
                <a:solidFill>
                  <a:srgbClr val="4A5568"/>
                </a:solidFill>
                <a:latin typeface="Microsoft YaHei"/>
                <a:ea typeface="Microsoft YaHei"/>
              </a:rPr>
              <a:t>待原始文献支持</a:t>
            </a:r>
            <a:endParaRPr/>
          </a:p>
        </p:txBody>
      </p:sp>
      <p:sp>
        <p:nvSpPr>
          <p:cNvPr id="288" name="文本框 287" descr="{&quot;isTemplate&quot;:true,&quot;type&quot;:&quot;text&quot;}"/>
          <p:cNvSpPr txBox="1"/>
          <p:nvPr/>
        </p:nvSpPr>
        <p:spPr>
          <a:xfrm>
            <a:off x="5105400" y="1352550"/>
            <a:ext cx="670560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标注条件，是为了让别人能来验证</a:t>
            </a:r>
            <a:endParaRPr/>
          </a:p>
        </p:txBody>
      </p:sp>
      <p:sp>
        <p:nvSpPr>
          <p:cNvPr id="289" name="矩形 288"/>
          <p:cNvSpPr/>
          <p:nvPr/>
        </p:nvSpPr>
        <p:spPr>
          <a:xfrm>
            <a:off x="5105400" y="1714500"/>
            <a:ext cx="47625" cy="161925"/>
          </a:xfrm>
          <a:prstGeom prst="rect">
            <a:avLst/>
          </a:prstGeom>
          <a:solidFill>
            <a:srgbClr val="1E4FA8"/>
          </a:solidFill>
          <a:ln/>
        </p:spPr>
        <p:txBody>
          <a:bodyPr/>
          <a:lstStyle/>
          <a:p>
            <a:endParaRPr/>
          </a:p>
        </p:txBody>
      </p:sp>
      <p:sp>
        <p:nvSpPr>
          <p:cNvPr id="290" name="文本框 289" descr="{&quot;isTemplate&quot;:true,&quot;type&quot;:&quot;text&quot;}"/>
          <p:cNvSpPr txBox="1"/>
          <p:nvPr/>
        </p:nvSpPr>
        <p:spPr>
          <a:xfrm>
            <a:off x="5248275" y="1695450"/>
            <a:ext cx="762000" cy="190500"/>
          </a:xfrm>
          <a:prstGeom prst="rect">
            <a:avLst/>
          </a:prstGeom>
        </p:spPr>
        <p:txBody>
          <a:bodyPr wrap="none" lIns="0" tIns="0" rIns="0" bIns="0"/>
          <a:lstStyle/>
          <a:p>
            <a:pPr>
              <a:lnSpc>
                <a:spcPct val="100000"/>
              </a:lnSpc>
            </a:pPr>
            <a:r>
              <a:rPr lang="zh-CN" sz="1200" b="1">
                <a:solidFill>
                  <a:srgbClr val="1A2230"/>
                </a:solidFill>
                <a:latin typeface="Microsoft YaHei"/>
                <a:ea typeface="Microsoft YaHei"/>
              </a:rPr>
              <a:t>三档的含义</a:t>
            </a:r>
            <a:endParaRPr/>
          </a:p>
        </p:txBody>
      </p:sp>
      <p:sp>
        <p:nvSpPr>
          <p:cNvPr id="291" name="文本框 290" descr="{&quot;isTemplate&quot;:true,&quot;type&quot;:&quot;text&quot;}"/>
          <p:cNvSpPr txBox="1"/>
          <p:nvPr/>
        </p:nvSpPr>
        <p:spPr>
          <a:xfrm>
            <a:off x="5105400" y="1933575"/>
            <a:ext cx="6705600" cy="552450"/>
          </a:xfrm>
          <a:prstGeom prst="rect">
            <a:avLst/>
          </a:prstGeom>
        </p:spPr>
        <p:txBody>
          <a:bodyPr wrap="square" lIns="107156" tIns="0" rIns="0" bIns="0">
            <a:normAutofit/>
          </a:bodyPr>
          <a:lstStyle/>
          <a:p>
            <a:pPr>
              <a:lnSpc>
                <a:spcPct val="170000"/>
              </a:lnSpc>
            </a:pPr>
            <a:r>
              <a:rPr lang="en-US" sz="1050">
                <a:solidFill>
                  <a:srgbClr val="4A5568"/>
                </a:solidFill>
                <a:latin typeface="Microsoft YaHei"/>
                <a:ea typeface="Microsoft YaHei"/>
              </a:rPr>
              <a:t>"</a:t>
            </a:r>
            <a:r>
              <a:rPr lang="zh-CN" sz="1050">
                <a:solidFill>
                  <a:srgbClr val="4A5568"/>
                </a:solidFill>
                <a:latin typeface="Microsoft YaHei"/>
                <a:ea typeface="Microsoft YaHei"/>
              </a:rPr>
              <a:t>已证</a:t>
            </a:r>
            <a:r>
              <a:rPr lang="en-US" sz="1050">
                <a:solidFill>
                  <a:srgbClr val="4A5568"/>
                </a:solidFill>
                <a:latin typeface="Microsoft YaHei"/>
                <a:ea typeface="Microsoft YaHei"/>
              </a:rPr>
              <a:t>"</a:t>
            </a:r>
            <a:r>
              <a:rPr lang="zh-CN" sz="1050">
                <a:solidFill>
                  <a:srgbClr val="4A5568"/>
                </a:solidFill>
                <a:latin typeface="Microsoft YaHei"/>
                <a:ea typeface="Microsoft YaHei"/>
              </a:rPr>
              <a:t>指有完整定义—命题—定理—证明链条支撑；</a:t>
            </a:r>
            <a:r>
              <a:rPr lang="en-US" sz="1050">
                <a:solidFill>
                  <a:srgbClr val="4A5568"/>
                </a:solidFill>
                <a:latin typeface="Microsoft YaHei"/>
                <a:ea typeface="Microsoft YaHei"/>
              </a:rPr>
              <a:t>"</a:t>
            </a:r>
            <a:r>
              <a:rPr lang="zh-CN" sz="1050">
                <a:solidFill>
                  <a:srgbClr val="4A5568"/>
                </a:solidFill>
                <a:latin typeface="Microsoft YaHei"/>
                <a:ea typeface="Microsoft YaHei"/>
              </a:rPr>
              <a:t>有条件</a:t>
            </a:r>
            <a:r>
              <a:rPr lang="en-US" sz="1050">
                <a:solidFill>
                  <a:srgbClr val="4A5568"/>
                </a:solidFill>
                <a:latin typeface="Microsoft YaHei"/>
                <a:ea typeface="Microsoft YaHei"/>
              </a:rPr>
              <a:t>"</a:t>
            </a:r>
            <a:r>
              <a:rPr lang="zh-CN" sz="1050">
                <a:solidFill>
                  <a:srgbClr val="4A5568"/>
                </a:solidFill>
                <a:latin typeface="Microsoft YaHei"/>
                <a:ea typeface="Microsoft YaHei"/>
              </a:rPr>
              <a:t>指结论成立但依赖明确的附加假设；</a:t>
            </a:r>
            <a:r>
              <a:rPr lang="en-US" sz="1050">
                <a:solidFill>
                  <a:srgbClr val="4A5568"/>
                </a:solidFill>
                <a:latin typeface="Microsoft YaHei"/>
                <a:ea typeface="Microsoft YaHei"/>
              </a:rPr>
              <a:t>"</a:t>
            </a:r>
            <a:r>
              <a:rPr lang="zh-CN" sz="1050">
                <a:solidFill>
                  <a:srgbClr val="4A5568"/>
                </a:solidFill>
                <a:latin typeface="Microsoft YaHei"/>
                <a:ea typeface="Microsoft YaHei"/>
              </a:rPr>
              <a:t>待研究</a:t>
            </a:r>
            <a:r>
              <a:rPr lang="en-US" sz="1050">
                <a:solidFill>
                  <a:srgbClr val="4A5568"/>
                </a:solidFill>
                <a:latin typeface="Microsoft YaHei"/>
                <a:ea typeface="Microsoft YaHei"/>
              </a:rPr>
              <a:t>"</a:t>
            </a:r>
            <a:r>
              <a:rPr lang="zh-CN" sz="1050">
                <a:solidFill>
                  <a:srgbClr val="4A5568"/>
                </a:solidFill>
                <a:latin typeface="Microsoft YaHei"/>
                <a:ea typeface="Microsoft YaHei"/>
              </a:rPr>
              <a:t>指目前只有启发性论证，尚无可陈述的定理。</a:t>
            </a:r>
            <a:endParaRPr/>
          </a:p>
        </p:txBody>
      </p:sp>
      <p:sp>
        <p:nvSpPr>
          <p:cNvPr id="292" name="矩形 291"/>
          <p:cNvSpPr/>
          <p:nvPr/>
        </p:nvSpPr>
        <p:spPr>
          <a:xfrm>
            <a:off x="5105400" y="2638425"/>
            <a:ext cx="47625" cy="161925"/>
          </a:xfrm>
          <a:prstGeom prst="rect">
            <a:avLst/>
          </a:prstGeom>
          <a:solidFill>
            <a:srgbClr val="1E4FA8"/>
          </a:solidFill>
          <a:ln/>
        </p:spPr>
        <p:txBody>
          <a:bodyPr/>
          <a:lstStyle/>
          <a:p>
            <a:endParaRPr/>
          </a:p>
        </p:txBody>
      </p:sp>
      <p:sp>
        <p:nvSpPr>
          <p:cNvPr id="293" name="文本框 292" descr="{&quot;isTemplate&quot;:true,&quot;type&quot;:&quot;text&quot;}"/>
          <p:cNvSpPr txBox="1"/>
          <p:nvPr/>
        </p:nvSpPr>
        <p:spPr>
          <a:xfrm>
            <a:off x="5248275" y="2619375"/>
            <a:ext cx="1676400" cy="190500"/>
          </a:xfrm>
          <a:prstGeom prst="rect">
            <a:avLst/>
          </a:prstGeom>
        </p:spPr>
        <p:txBody>
          <a:bodyPr wrap="none" lIns="0" tIns="0" rIns="0" bIns="0"/>
          <a:lstStyle/>
          <a:p>
            <a:pPr>
              <a:lnSpc>
                <a:spcPct val="100000"/>
              </a:lnSpc>
            </a:pPr>
            <a:r>
              <a:rPr lang="zh-CN" sz="1200" b="1">
                <a:solidFill>
                  <a:srgbClr val="1A2230"/>
                </a:solidFill>
                <a:latin typeface="Microsoft YaHei"/>
                <a:ea typeface="Microsoft YaHei"/>
              </a:rPr>
              <a:t>诺特定理的条件不可省略</a:t>
            </a:r>
            <a:endParaRPr/>
          </a:p>
        </p:txBody>
      </p:sp>
      <p:sp>
        <p:nvSpPr>
          <p:cNvPr id="294" name="文本框 293" descr="{&quot;isTemplate&quot;:true,&quot;type&quot;:&quot;text&quot;}"/>
          <p:cNvSpPr txBox="1"/>
          <p:nvPr/>
        </p:nvSpPr>
        <p:spPr>
          <a:xfrm>
            <a:off x="5105400" y="2857500"/>
            <a:ext cx="6705600" cy="552450"/>
          </a:xfrm>
          <a:prstGeom prst="rect">
            <a:avLst/>
          </a:prstGeom>
        </p:spPr>
        <p:txBody>
          <a:bodyPr wrap="square" lIns="107156" tIns="0" rIns="0" bIns="0">
            <a:normAutofit fontScale="77500" lnSpcReduction="20000"/>
          </a:bodyPr>
          <a:lstStyle/>
          <a:p>
            <a:pPr>
              <a:lnSpc>
                <a:spcPct val="170000"/>
              </a:lnSpc>
            </a:pPr>
            <a:r>
              <a:rPr lang="zh-CN" sz="1050">
                <a:solidFill>
                  <a:srgbClr val="4A5568"/>
                </a:solidFill>
                <a:latin typeface="Microsoft YaHei"/>
                <a:ea typeface="Microsoft YaHei"/>
              </a:rPr>
              <a:t>对称性与守恒量的诺特对应（对称 ⇒ 守恒），需要</a:t>
            </a:r>
            <a:r>
              <a:rPr lang="en-US" sz="1050">
                <a:solidFill>
                  <a:srgbClr val="4A5568"/>
                </a:solidFill>
                <a:latin typeface="Microsoft YaHei"/>
                <a:ea typeface="Microsoft YaHei"/>
              </a:rPr>
              <a:t>"</a:t>
            </a:r>
            <a:r>
              <a:rPr lang="zh-CN" sz="1050">
                <a:solidFill>
                  <a:srgbClr val="4A5568"/>
                </a:solidFill>
                <a:latin typeface="Microsoft YaHei"/>
                <a:ea typeface="Microsoft YaHei"/>
              </a:rPr>
              <a:t>作用量原理成立</a:t>
            </a:r>
            <a:r>
              <a:rPr lang="en-US" sz="1050">
                <a:solidFill>
                  <a:srgbClr val="4A5568"/>
                </a:solidFill>
                <a:latin typeface="Microsoft YaHei"/>
                <a:ea typeface="Microsoft YaHei"/>
              </a:rPr>
              <a:t> + </a:t>
            </a:r>
            <a:r>
              <a:rPr lang="zh-CN" sz="1050">
                <a:solidFill>
                  <a:srgbClr val="4A5568"/>
                </a:solidFill>
                <a:latin typeface="Microsoft YaHei"/>
                <a:ea typeface="Microsoft YaHei"/>
              </a:rPr>
              <a:t>对称变换连续光滑</a:t>
            </a:r>
            <a:r>
              <a:rPr lang="en-US" sz="1050">
                <a:solidFill>
                  <a:srgbClr val="4A5568"/>
                </a:solidFill>
                <a:latin typeface="Microsoft YaHei"/>
                <a:ea typeface="Microsoft YaHei"/>
              </a:rPr>
              <a:t>"。</a:t>
            </a:r>
            <a:r>
              <a:rPr lang="zh-CN" sz="1050">
                <a:solidFill>
                  <a:srgbClr val="4A5568"/>
                </a:solidFill>
                <a:latin typeface="Microsoft YaHei"/>
                <a:ea typeface="Microsoft YaHei"/>
              </a:rPr>
              <a:t>守恒 ⇏ 对称，故两者并非等价（第一章推论：对称严格强于守恒）。对离散对称性、非拉格朗日系统或非光滑系统，这一对应一般不成立，必须分别处理。书中已证的周期函数版：平移、旋转、缩放具有周期轨道的群分别对应能量、角动量、标度荷守恒（第二十章）。</a:t>
            </a:r>
            <a:endParaRPr/>
          </a:p>
        </p:txBody>
      </p:sp>
      <p:sp>
        <p:nvSpPr>
          <p:cNvPr id="295" name="矩形 294"/>
          <p:cNvSpPr/>
          <p:nvPr/>
        </p:nvSpPr>
        <p:spPr>
          <a:xfrm>
            <a:off x="5105400" y="3562350"/>
            <a:ext cx="47625" cy="161925"/>
          </a:xfrm>
          <a:prstGeom prst="rect">
            <a:avLst/>
          </a:prstGeom>
          <a:solidFill>
            <a:srgbClr val="1E4FA8"/>
          </a:solidFill>
          <a:ln/>
        </p:spPr>
        <p:txBody>
          <a:bodyPr/>
          <a:lstStyle/>
          <a:p>
            <a:endParaRPr/>
          </a:p>
        </p:txBody>
      </p:sp>
      <p:sp>
        <p:nvSpPr>
          <p:cNvPr id="296" name="文本框 295" descr="{&quot;isTemplate&quot;:true,&quot;type&quot;:&quot;text&quot;}"/>
          <p:cNvSpPr txBox="1"/>
          <p:nvPr/>
        </p:nvSpPr>
        <p:spPr>
          <a:xfrm>
            <a:off x="5248275" y="3543300"/>
            <a:ext cx="1371600" cy="190500"/>
          </a:xfrm>
          <a:prstGeom prst="rect">
            <a:avLst/>
          </a:prstGeom>
        </p:spPr>
        <p:txBody>
          <a:bodyPr wrap="none" lIns="0" tIns="0" rIns="0" bIns="0"/>
          <a:lstStyle/>
          <a:p>
            <a:pPr>
              <a:lnSpc>
                <a:spcPct val="100000"/>
              </a:lnSpc>
            </a:pPr>
            <a:r>
              <a:rPr lang="zh-CN" sz="1200" b="1">
                <a:solidFill>
                  <a:srgbClr val="1A2230"/>
                </a:solidFill>
                <a:latin typeface="Microsoft YaHei"/>
                <a:ea typeface="Microsoft YaHei"/>
              </a:rPr>
              <a:t>置闰不解决所有困难</a:t>
            </a:r>
            <a:endParaRPr/>
          </a:p>
        </p:txBody>
      </p:sp>
      <p:sp>
        <p:nvSpPr>
          <p:cNvPr id="297" name="文本框 296" descr="{&quot;isTemplate&quot;:true,&quot;type&quot;:&quot;text&quot;}"/>
          <p:cNvSpPr txBox="1"/>
          <p:nvPr/>
        </p:nvSpPr>
        <p:spPr>
          <a:xfrm>
            <a:off x="5105400" y="3781425"/>
            <a:ext cx="6705600" cy="552450"/>
          </a:xfrm>
          <a:prstGeom prst="rect">
            <a:avLst/>
          </a:prstGeom>
        </p:spPr>
        <p:txBody>
          <a:bodyPr wrap="square" lIns="107156" tIns="0" rIns="0" bIns="0">
            <a:normAutofit/>
          </a:bodyPr>
          <a:lstStyle/>
          <a:p>
            <a:pPr>
              <a:lnSpc>
                <a:spcPct val="170000"/>
              </a:lnSpc>
            </a:pPr>
            <a:r>
              <a:rPr lang="zh-CN" sz="1050">
                <a:solidFill>
                  <a:srgbClr val="4A5568"/>
                </a:solidFill>
                <a:latin typeface="Microsoft YaHei"/>
                <a:ea typeface="Microsoft YaHei"/>
              </a:rPr>
              <a:t>它给出的是泄漏幅度的显式上界，而非消除泄漏。多频信号、时变周期、未知周期比等情形下，需与多窗谱估计、贝叶斯谱分析、联合连分数逼近结合使用。</a:t>
            </a:r>
            <a:endParaRPr/>
          </a:p>
        </p:txBody>
      </p:sp>
      <p:sp>
        <p:nvSpPr>
          <p:cNvPr id="298" name="矩形: 圆角 297"/>
          <p:cNvSpPr/>
          <p:nvPr/>
        </p:nvSpPr>
        <p:spPr>
          <a:xfrm>
            <a:off x="5105400" y="5486400"/>
            <a:ext cx="6705600" cy="895350"/>
          </a:xfrm>
          <a:prstGeom prst="roundRect">
            <a:avLst>
              <a:gd name="adj" fmla="val 6383"/>
            </a:avLst>
          </a:prstGeom>
          <a:solidFill>
            <a:srgbClr val="0E3F8C"/>
          </a:solidFill>
          <a:ln/>
        </p:spPr>
        <p:txBody>
          <a:bodyPr/>
          <a:lstStyle/>
          <a:p>
            <a:endParaRPr/>
          </a:p>
        </p:txBody>
      </p:sp>
      <p:sp>
        <p:nvSpPr>
          <p:cNvPr id="299" name="文本框 298" descr="{&quot;isTemplate&quot;:true,&quot;type&quot;:&quot;text&quot;}"/>
          <p:cNvSpPr txBox="1"/>
          <p:nvPr/>
        </p:nvSpPr>
        <p:spPr>
          <a:xfrm>
            <a:off x="5257800" y="5638800"/>
            <a:ext cx="6400800" cy="590550"/>
          </a:xfrm>
          <a:prstGeom prst="rect">
            <a:avLst/>
          </a:prstGeom>
        </p:spPr>
        <p:txBody>
          <a:bodyPr wrap="square" lIns="0" tIns="0" rIns="0" bIns="0">
            <a:normAutofit/>
          </a:bodyPr>
          <a:lstStyle/>
          <a:p>
            <a:pPr>
              <a:lnSpc>
                <a:spcPct val="170000"/>
              </a:lnSpc>
            </a:pPr>
            <a:r>
              <a:rPr lang="zh-CN" sz="1125">
                <a:solidFill>
                  <a:srgbClr val="DCE7F7"/>
                </a:solidFill>
                <a:latin typeface="Microsoft YaHei"/>
                <a:ea typeface="Microsoft YaHei"/>
              </a:rPr>
              <a:t>这条标注纪律本身是本书的方法论主张：</a:t>
            </a:r>
            <a:r>
              <a:rPr lang="zh-CN" sz="1125" b="1">
                <a:solidFill>
                  <a:srgbClr val="FFFFFF"/>
                </a:solidFill>
                <a:latin typeface="Microsoft YaHei"/>
                <a:ea typeface="Microsoft YaHei"/>
              </a:rPr>
              <a:t>只有说清条件，结论才可被检验</a:t>
            </a:r>
            <a:r>
              <a:rPr lang="zh-CN" sz="1125">
                <a:solidFill>
                  <a:srgbClr val="DCE7F7"/>
                </a:solidFill>
                <a:latin typeface="Microsoft YaHei"/>
                <a:ea typeface="Microsoft YaHei"/>
              </a:rPr>
              <a:t>；只有列明待研究项，合作才有明确的接口。</a:t>
            </a:r>
            <a:endParaRPr/>
          </a:p>
        </p:txBody>
      </p:sp>
      <p:sp>
        <p:nvSpPr>
          <p:cNvPr id="300" name="文本框 299"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301" name="文本框 300"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19 / 22</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4 边界、路线与展望&lt;/Text&gt;&#10;    &lt;/Box&gt;&#10;&#10;    &lt;Box style={{ width: '100%', height: 78, paddingLeft: 40, paddingRight: 40, justifyContent: 'center' }}&gt;&#10;        &lt;Text style={{ fontSize: 32, fontWeight: 'bold', color: '#0E3F8C' }}&gt;手稿已完整成稿，尚未发表&lt;/Text&gt;&#10;    &lt;/Box&gt;&#10;&#10;    &lt;Box style={{ width: '100%', flex: 1, flexDirection: 'row', gap: 26, paddingLeft: 40, paddingRight: 40, paddingBottom: 16 }}&gt;&#10;&#10;        &lt;Box style={{ width: 592, borderRadius: 6, background: '#F7F9FC', border: '1px solid #E5E7EB', padding: 30, flexDirection: 'column', justifyContent: 'center' }}&gt;&#10;            &lt;Text style={{ fontSize: 13, color: '#3D7BD9', letterSpacing: 3 }}&gt;THEOREM-LEVEL RESULTS&lt;/Text&gt;&#10;            &lt;Text style={{ fontSize: 138, fontWeight: 'bold', color: '#0E3F8C', lineHeight: 1.05, marginTop: 6 }}&gt;1989&lt;/Text&gt;&#10;            &lt;Text style={{ fontSize: 19, fontWeight: 'bold', color: '#1A2230', marginTop: 6 }}&gt;条定理类结果&lt;/Text&gt;&#10;            &lt;Text style={{ fontSize: 14, color: '#4A5568', lineHeight: 1.6, marginTop: 8 }}&gt;&#10;                {`252 条定理　·　754 条定义　·　983 条命题 / 引理 / 推论 / 注记 / 例 / 性质`}&#10;            &lt;/Text&gt;&#10;            &lt;Box style={{ width: '100%', height: 1, background: '#D6DCE5', marginTop: 22, marginBottom: 18 }} /&gt;&#10;            &lt;Box style={{ flexDirection: 'row' }}&gt;&#10;                {[&#10;                    ['41', '章', '完整成稿'],&#10;                    ['691 / 793', '页', '中文版 / 英文版'],&#10;                    ['21', '章', '应用领域'],&#10;                ].map((it, i) =&gt; (&#10;                    &lt;Box key={i} style={{ flex: 1, flexDirection: 'column' }}&gt;&#10;                        &lt;Text style={{ fontSize: 32, fontWeight: 'bold', color: '#1E4FA8', lineHeight: 1.15 }}&gt;{it[0]}&lt;/Text&gt;&#10;                        &lt;Text style={{ fontSize: 13, color: '#1A2230', marginTop: 4 }}&gt;{`${it[1]} · ${it[2]}`}&lt;/Text&gt;&#10;                    &lt;/Box&gt;&#10;                ))}&#10;            &lt;/Box&gt;&#10;        &lt;/Box&gt;&#10;&#10;        &lt;Box style={{ flex: 1, flexDirection: 'column' }}&gt;&#10;            &lt;Text style={{ fontSize: 20, fontWeight: 'bold', color: '#0E3F8C', marginBottom: 10 }}&gt;可以核对的规模&lt;/Text&gt;&#10;&#10;            {[&#10;                ['章节', '41 章：序言、引言 + 40 章正文 + 参考文献'],&#10;                ['篇幅', '中文版 691 页 · 英文版 793 页'],&#10;                ['规模', '约 2.84 万行 LaTeX 源码'],&#10;                ['结构', '393 节 · 36 幅图 · 14 张表'],&#10;                ['应用', '第 20–40 章共 21 章'],&#10;                ['双语', '中英两版的章序、章号与定理定义编号一一对应'],&#10;            ].map((it, i) =&gt; (&#10;                &lt;Box key={i} style={{ flexDirection: 'row', alignItems: 'center', paddingTop: 8, paddingBottom: 8, borderTop: '1px solid #E5E7EB' }}&gt;&#10;                    &lt;Text style={{ fontSize: 14, fontWeight: 'bold', color: '#1E4FA8', width: 62 }}&gt;{it[0]}&lt;/Text&gt;&#10;                    &lt;Text style={{ flex: 1, fontSize: 14, color: '#4A5568' }}&gt;{it[1]}&lt;/Text&gt;&#10;                &lt;/Box&gt;&#10;            ))}&#10;&#10;            &lt;Box style={{ flex: 1 }} /&gt;&#10;&#10;            &lt;Box style={{ padding: 16, borderRadius: 6, background: '#F7F9FC', borderLeft: '4px solid #D9534F' }}&gt;&#10;                &lt;Text style={{ fontSize: 15, color: '#1A2230', lineHeight: 1.7 }}&gt;&#10;                    &lt;span style={{ fontWeight: 'bold', color: '#D9534F' }}&gt;当前状态：&lt;/span&gt;&#10;                    {`由著者独立完成全部写作，全书`}&#10;                    &lt;span style={{ fontWeight: 'bold' }}&gt;尚未提交出版或同行评议&lt;/span&gt;&#10;                    {`。这意味着它需要合作方在三个方向上投入——`}&#10;                    &lt;span style={{ fontWeight: 'bold', color: '#0E3F8C' }}&gt;算法实现 · 实证检验 · 学术出版&lt;/span&gt;&#10;                    {`。`}&#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20 / 22&lt;/Text&gt;&#10;    &lt;/Box&gt;&#10;&lt;/Slide&gt;&#10;"/>
        <p:cNvGrpSpPr/>
        <p:nvPr/>
      </p:nvGrpSpPr>
      <p:grpSpPr>
        <a:xfrm>
          <a:off x="0" y="0"/>
          <a:ext cx="0" cy="0"/>
          <a:chOff x="0" y="0"/>
          <a:chExt cx="0" cy="0"/>
        </a:xfrm>
      </p:grpSpPr>
      <p:sp>
        <p:nvSpPr>
          <p:cNvPr id="343" name="矩形 342"/>
          <p:cNvSpPr/>
          <p:nvPr/>
        </p:nvSpPr>
        <p:spPr>
          <a:xfrm>
            <a:off x="0" y="0"/>
            <a:ext cx="12192000" cy="6858000"/>
          </a:xfrm>
          <a:prstGeom prst="rect">
            <a:avLst/>
          </a:prstGeom>
          <a:solidFill>
            <a:srgbClr val="FFFFFF"/>
          </a:solidFill>
          <a:ln/>
        </p:spPr>
        <p:txBody>
          <a:bodyPr/>
          <a:lstStyle/>
          <a:p>
            <a:endParaRPr/>
          </a:p>
        </p:txBody>
      </p:sp>
      <p:sp>
        <p:nvSpPr>
          <p:cNvPr id="344" name="矩形 343"/>
          <p:cNvSpPr/>
          <p:nvPr/>
        </p:nvSpPr>
        <p:spPr>
          <a:xfrm>
            <a:off x="0" y="0"/>
            <a:ext cx="12192000" cy="76200"/>
          </a:xfrm>
          <a:prstGeom prst="rect">
            <a:avLst/>
          </a:prstGeom>
          <a:solidFill>
            <a:srgbClr val="1E4FA8"/>
          </a:solidFill>
          <a:ln/>
        </p:spPr>
        <p:txBody>
          <a:bodyPr/>
          <a:lstStyle/>
          <a:p>
            <a:endParaRPr/>
          </a:p>
        </p:txBody>
      </p:sp>
      <p:sp>
        <p:nvSpPr>
          <p:cNvPr id="345" name="任意多边形: 形状 344"/>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346" name="文本框 345"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347" name="文本框 346" descr="{&quot;isTemplate&quot;:true,&quot;type&quot;:&quot;text&quot;}"/>
          <p:cNvSpPr txBox="1"/>
          <p:nvPr/>
        </p:nvSpPr>
        <p:spPr>
          <a:xfrm>
            <a:off x="10439400" y="257175"/>
            <a:ext cx="1371600"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04 </a:t>
            </a:r>
            <a:r>
              <a:rPr lang="zh-CN" sz="1050" spc="75">
                <a:solidFill>
                  <a:srgbClr val="1E4FA8"/>
                </a:solidFill>
                <a:latin typeface="Microsoft YaHei"/>
                <a:ea typeface="Microsoft YaHei"/>
              </a:rPr>
              <a:t>边界、路线与展望</a:t>
            </a:r>
            <a:endParaRPr/>
          </a:p>
        </p:txBody>
      </p:sp>
      <p:sp>
        <p:nvSpPr>
          <p:cNvPr id="348" name="文本框 347"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手稿已完整成稿，尚未发表</a:t>
            </a:r>
            <a:endParaRPr/>
          </a:p>
        </p:txBody>
      </p:sp>
      <p:sp>
        <p:nvSpPr>
          <p:cNvPr id="349" name="矩形: 圆角 348"/>
          <p:cNvSpPr/>
          <p:nvPr/>
        </p:nvSpPr>
        <p:spPr>
          <a:xfrm>
            <a:off x="381000" y="1352550"/>
            <a:ext cx="5638800" cy="5029200"/>
          </a:xfrm>
          <a:prstGeom prst="roundRect">
            <a:avLst>
              <a:gd name="adj" fmla="val 1136"/>
            </a:avLst>
          </a:prstGeom>
          <a:solidFill>
            <a:srgbClr val="F7F9FC"/>
          </a:solidFill>
          <a:ln w="12700">
            <a:solidFill>
              <a:srgbClr val="E5E7EB"/>
            </a:solidFill>
            <a:prstDash val="solid"/>
          </a:ln>
        </p:spPr>
        <p:txBody>
          <a:bodyPr/>
          <a:lstStyle/>
          <a:p>
            <a:endParaRPr/>
          </a:p>
        </p:txBody>
      </p:sp>
      <p:sp>
        <p:nvSpPr>
          <p:cNvPr id="350" name="文本框 349" descr="{&quot;isTemplate&quot;:true,&quot;type&quot;:&quot;text&quot;}"/>
          <p:cNvSpPr txBox="1"/>
          <p:nvPr/>
        </p:nvSpPr>
        <p:spPr>
          <a:xfrm>
            <a:off x="666750" y="2124075"/>
            <a:ext cx="5067300" cy="152400"/>
          </a:xfrm>
          <a:prstGeom prst="rect">
            <a:avLst/>
          </a:prstGeom>
        </p:spPr>
        <p:txBody>
          <a:bodyPr wrap="none" lIns="0" tIns="0" rIns="0" bIns="0"/>
          <a:lstStyle/>
          <a:p>
            <a:pPr>
              <a:lnSpc>
                <a:spcPct val="100000"/>
              </a:lnSpc>
            </a:pPr>
            <a:r>
              <a:rPr lang="en-US" sz="975" spc="225">
                <a:solidFill>
                  <a:srgbClr val="3D7BD9"/>
                </a:solidFill>
                <a:latin typeface="Microsoft YaHei"/>
                <a:ea typeface="Microsoft YaHei"/>
              </a:rPr>
              <a:t>THEOREM-LEVEL RESULTS</a:t>
            </a:r>
            <a:endParaRPr/>
          </a:p>
        </p:txBody>
      </p:sp>
      <p:sp>
        <p:nvSpPr>
          <p:cNvPr id="351" name="文本框 350" descr="{&quot;isTemplate&quot;:true,&quot;type&quot;:&quot;text&quot;}"/>
          <p:cNvSpPr txBox="1"/>
          <p:nvPr/>
        </p:nvSpPr>
        <p:spPr>
          <a:xfrm>
            <a:off x="666750" y="2333625"/>
            <a:ext cx="5067300" cy="1657350"/>
          </a:xfrm>
          <a:prstGeom prst="rect">
            <a:avLst/>
          </a:prstGeom>
        </p:spPr>
        <p:txBody>
          <a:bodyPr wrap="none" lIns="0" tIns="0" rIns="0" bIns="0"/>
          <a:lstStyle/>
          <a:p>
            <a:pPr>
              <a:lnSpc>
                <a:spcPct val="105000"/>
              </a:lnSpc>
            </a:pPr>
            <a:r>
              <a:rPr lang="en-US" sz="10350" b="1">
                <a:solidFill>
                  <a:srgbClr val="0E3F8C"/>
                </a:solidFill>
                <a:latin typeface="Microsoft YaHei"/>
                <a:ea typeface="Microsoft YaHei"/>
              </a:rPr>
              <a:t>3379</a:t>
            </a:r>
            <a:endParaRPr/>
          </a:p>
        </p:txBody>
      </p:sp>
      <p:sp>
        <p:nvSpPr>
          <p:cNvPr id="352" name="文本框 351" descr="{&quot;isTemplate&quot;:true,&quot;type&quot;:&quot;text&quot;}"/>
          <p:cNvSpPr txBox="1"/>
          <p:nvPr/>
        </p:nvSpPr>
        <p:spPr>
          <a:xfrm>
            <a:off x="666750" y="4048125"/>
            <a:ext cx="5067300" cy="219075"/>
          </a:xfrm>
          <a:prstGeom prst="rect">
            <a:avLst/>
          </a:prstGeom>
        </p:spPr>
        <p:txBody>
          <a:bodyPr wrap="none" lIns="0" tIns="0" rIns="0" bIns="0"/>
          <a:lstStyle/>
          <a:p>
            <a:pPr>
              <a:lnSpc>
                <a:spcPct val="100000"/>
              </a:lnSpc>
            </a:pPr>
            <a:r>
              <a:rPr lang="zh-CN" sz="1425" b="1">
                <a:solidFill>
                  <a:srgbClr val="1A2230"/>
                </a:solidFill>
                <a:latin typeface="Microsoft YaHei"/>
                <a:ea typeface="Microsoft YaHei"/>
              </a:rPr>
              <a:t>条定理类结果</a:t>
            </a:r>
            <a:endParaRPr/>
          </a:p>
        </p:txBody>
      </p:sp>
      <p:sp>
        <p:nvSpPr>
          <p:cNvPr id="353" name="文本框 352" descr="{&quot;isTemplate&quot;:true,&quot;type&quot;:&quot;text&quot;}"/>
          <p:cNvSpPr txBox="1"/>
          <p:nvPr/>
        </p:nvSpPr>
        <p:spPr>
          <a:xfrm>
            <a:off x="666750" y="4343400"/>
            <a:ext cx="5067300" cy="257175"/>
          </a:xfrm>
          <a:prstGeom prst="rect">
            <a:avLst/>
          </a:prstGeom>
        </p:spPr>
        <p:txBody>
          <a:bodyPr wrap="none" lIns="0" tIns="0" rIns="0" bIns="0"/>
          <a:lstStyle/>
          <a:p>
            <a:pPr>
              <a:lnSpc>
                <a:spcPct val="160000"/>
              </a:lnSpc>
            </a:pPr>
            <a:r>
              <a:rPr lang="en-US" sz="1050" dirty="0">
                <a:solidFill>
                  <a:srgbClr val="4A5568"/>
                </a:solidFill>
                <a:latin typeface="Microsoft YaHei"/>
                <a:ea typeface="Microsoft YaHei"/>
              </a:rPr>
              <a:t>503 </a:t>
            </a:r>
            <a:r>
              <a:rPr lang="zh-CN" sz="1050" dirty="0">
                <a:solidFill>
                  <a:srgbClr val="4A5568"/>
                </a:solidFill>
                <a:latin typeface="Microsoft YaHei"/>
                <a:ea typeface="Microsoft YaHei"/>
              </a:rPr>
              <a:t>条定理　·　</a:t>
            </a:r>
            <a:r>
              <a:rPr lang="en-US" sz="1050" dirty="0">
                <a:solidFill>
                  <a:srgbClr val="4A5568"/>
                </a:solidFill>
                <a:latin typeface="Microsoft YaHei"/>
                <a:ea typeface="Microsoft YaHei"/>
              </a:rPr>
              <a:t>1048 </a:t>
            </a:r>
            <a:r>
              <a:rPr lang="zh-CN" sz="1050" dirty="0">
                <a:solidFill>
                  <a:srgbClr val="4A5568"/>
                </a:solidFill>
                <a:latin typeface="Microsoft YaHei"/>
                <a:ea typeface="Microsoft YaHei"/>
              </a:rPr>
              <a:t>条定义　·　</a:t>
            </a:r>
            <a:r>
              <a:rPr lang="en-US" sz="1050" dirty="0">
                <a:solidFill>
                  <a:srgbClr val="4A5568"/>
                </a:solidFill>
                <a:latin typeface="Microsoft YaHei"/>
                <a:ea typeface="Microsoft YaHei"/>
              </a:rPr>
              <a:t>1828 </a:t>
            </a:r>
            <a:r>
              <a:rPr lang="zh-CN" sz="1050" dirty="0">
                <a:solidFill>
                  <a:srgbClr val="4A5568"/>
                </a:solidFill>
                <a:latin typeface="Microsoft YaHei"/>
                <a:ea typeface="Microsoft YaHei"/>
              </a:rPr>
              <a:t>条命题</a:t>
            </a:r>
            <a:r>
              <a:rPr lang="en-US" sz="1050" dirty="0">
                <a:solidFill>
                  <a:srgbClr val="4A5568"/>
                </a:solidFill>
                <a:latin typeface="Microsoft YaHei"/>
                <a:ea typeface="Microsoft YaHei"/>
              </a:rPr>
              <a:t> / </a:t>
            </a:r>
            <a:r>
              <a:rPr lang="zh-CN" sz="1050" dirty="0">
                <a:solidFill>
                  <a:srgbClr val="4A5568"/>
                </a:solidFill>
                <a:latin typeface="Microsoft YaHei"/>
                <a:ea typeface="Microsoft YaHei"/>
              </a:rPr>
              <a:t>引理</a:t>
            </a:r>
            <a:r>
              <a:rPr lang="en-US" sz="1050" dirty="0">
                <a:solidFill>
                  <a:srgbClr val="4A5568"/>
                </a:solidFill>
                <a:latin typeface="Microsoft YaHei"/>
                <a:ea typeface="Microsoft YaHei"/>
              </a:rPr>
              <a:t> / </a:t>
            </a:r>
            <a:r>
              <a:rPr lang="zh-CN" sz="1050" dirty="0">
                <a:solidFill>
                  <a:srgbClr val="4A5568"/>
                </a:solidFill>
                <a:latin typeface="Microsoft YaHei"/>
                <a:ea typeface="Microsoft YaHei"/>
              </a:rPr>
              <a:t>推论</a:t>
            </a:r>
            <a:r>
              <a:rPr lang="en-US" sz="1050" dirty="0">
                <a:solidFill>
                  <a:srgbClr val="4A5568"/>
                </a:solidFill>
                <a:latin typeface="Microsoft YaHei"/>
                <a:ea typeface="Microsoft YaHei"/>
              </a:rPr>
              <a:t> / </a:t>
            </a:r>
            <a:r>
              <a:rPr lang="zh-CN" sz="1050" dirty="0">
                <a:solidFill>
                  <a:srgbClr val="4A5568"/>
                </a:solidFill>
                <a:latin typeface="Microsoft YaHei"/>
                <a:ea typeface="Microsoft YaHei"/>
              </a:rPr>
              <a:t>注记</a:t>
            </a:r>
            <a:r>
              <a:rPr lang="en-US" sz="1050" dirty="0">
                <a:solidFill>
                  <a:srgbClr val="4A5568"/>
                </a:solidFill>
                <a:latin typeface="Microsoft YaHei"/>
                <a:ea typeface="Microsoft YaHei"/>
              </a:rPr>
              <a:t> / </a:t>
            </a:r>
            <a:r>
              <a:rPr lang="zh-CN" sz="1050" dirty="0">
                <a:solidFill>
                  <a:srgbClr val="4A5568"/>
                </a:solidFill>
                <a:latin typeface="Microsoft YaHei"/>
                <a:ea typeface="Microsoft YaHei"/>
              </a:rPr>
              <a:t>例</a:t>
            </a:r>
            <a:r>
              <a:rPr lang="en-US" sz="1050" dirty="0">
                <a:solidFill>
                  <a:srgbClr val="4A5568"/>
                </a:solidFill>
                <a:latin typeface="Microsoft YaHei"/>
                <a:ea typeface="Microsoft YaHei"/>
              </a:rPr>
              <a:t> / </a:t>
            </a:r>
            <a:r>
              <a:rPr lang="zh-CN" sz="1050" dirty="0">
                <a:solidFill>
                  <a:srgbClr val="4A5568"/>
                </a:solidFill>
                <a:latin typeface="Microsoft YaHei"/>
                <a:ea typeface="Microsoft YaHei"/>
              </a:rPr>
              <a:t>性质</a:t>
            </a:r>
            <a:endParaRPr dirty="0"/>
          </a:p>
        </p:txBody>
      </p:sp>
      <p:sp>
        <p:nvSpPr>
          <p:cNvPr id="354" name="矩形 353"/>
          <p:cNvSpPr/>
          <p:nvPr/>
        </p:nvSpPr>
        <p:spPr>
          <a:xfrm>
            <a:off x="666750" y="4810125"/>
            <a:ext cx="5067300" cy="9525"/>
          </a:xfrm>
          <a:prstGeom prst="rect">
            <a:avLst/>
          </a:prstGeom>
          <a:solidFill>
            <a:srgbClr val="D6DCE5"/>
          </a:solidFill>
          <a:ln/>
        </p:spPr>
        <p:txBody>
          <a:bodyPr/>
          <a:lstStyle/>
          <a:p>
            <a:endParaRPr/>
          </a:p>
        </p:txBody>
      </p:sp>
      <p:sp>
        <p:nvSpPr>
          <p:cNvPr id="355" name="文本框 354" descr="{&quot;isTemplate&quot;:true,&quot;type&quot;:&quot;text&quot;}"/>
          <p:cNvSpPr txBox="1"/>
          <p:nvPr/>
        </p:nvSpPr>
        <p:spPr>
          <a:xfrm>
            <a:off x="666750" y="4991100"/>
            <a:ext cx="1685925" cy="428625"/>
          </a:xfrm>
          <a:prstGeom prst="rect">
            <a:avLst/>
          </a:prstGeom>
        </p:spPr>
        <p:txBody>
          <a:bodyPr wrap="none" lIns="0" tIns="0" rIns="0" bIns="0"/>
          <a:lstStyle/>
          <a:p>
            <a:pPr>
              <a:lnSpc>
                <a:spcPct val="114999"/>
              </a:lnSpc>
            </a:pPr>
            <a:r>
              <a:rPr lang="en-US" sz="2400" b="1">
                <a:solidFill>
                  <a:srgbClr val="1E4FA8"/>
                </a:solidFill>
                <a:latin typeface="Microsoft YaHei"/>
                <a:ea typeface="Microsoft YaHei"/>
              </a:rPr>
              <a:t>46</a:t>
            </a:r>
            <a:endParaRPr/>
          </a:p>
        </p:txBody>
      </p:sp>
      <p:sp>
        <p:nvSpPr>
          <p:cNvPr id="356" name="文本框 355" descr="{&quot;isTemplate&quot;:true,&quot;type&quot;:&quot;text&quot;}"/>
          <p:cNvSpPr txBox="1"/>
          <p:nvPr/>
        </p:nvSpPr>
        <p:spPr>
          <a:xfrm>
            <a:off x="666750" y="5457825"/>
            <a:ext cx="1685925" cy="152400"/>
          </a:xfrm>
          <a:prstGeom prst="rect">
            <a:avLst/>
          </a:prstGeom>
        </p:spPr>
        <p:txBody>
          <a:bodyPr wrap="none" lIns="0" tIns="0" rIns="0" bIns="0"/>
          <a:lstStyle/>
          <a:p>
            <a:pPr>
              <a:lnSpc>
                <a:spcPct val="100000"/>
              </a:lnSpc>
            </a:pPr>
            <a:r>
              <a:rPr lang="zh-CN" sz="975">
                <a:solidFill>
                  <a:srgbClr val="1A2230"/>
                </a:solidFill>
                <a:latin typeface="Microsoft YaHei"/>
                <a:ea typeface="Microsoft YaHei"/>
              </a:rPr>
              <a:t>章</a:t>
            </a:r>
            <a:r>
              <a:rPr lang="en-US" sz="975">
                <a:solidFill>
                  <a:srgbClr val="1A2230"/>
                </a:solidFill>
                <a:latin typeface="Microsoft YaHei"/>
                <a:ea typeface="Microsoft YaHei"/>
              </a:rPr>
              <a:t> · </a:t>
            </a:r>
            <a:r>
              <a:rPr lang="zh-CN" sz="975">
                <a:solidFill>
                  <a:srgbClr val="1A2230"/>
                </a:solidFill>
                <a:latin typeface="Microsoft YaHei"/>
                <a:ea typeface="Microsoft YaHei"/>
              </a:rPr>
              <a:t>完整成稿</a:t>
            </a:r>
            <a:endParaRPr/>
          </a:p>
        </p:txBody>
      </p:sp>
      <p:grpSp>
        <p:nvGrpSpPr>
          <p:cNvPr id="2" name="组合 1">
            <a:extLst>
              <a:ext uri="{FF2B5EF4-FFF2-40B4-BE49-F238E27FC236}">
                <a16:creationId xmlns:a16="http://schemas.microsoft.com/office/drawing/2014/main" id="{7F4AA865-7032-5654-8731-B00AA863C7F3}"/>
              </a:ext>
            </a:extLst>
          </p:cNvPr>
          <p:cNvGrpSpPr/>
          <p:nvPr/>
        </p:nvGrpSpPr>
        <p:grpSpPr>
          <a:xfrm>
            <a:off x="1839587" y="4991100"/>
            <a:ext cx="1865638" cy="619125"/>
            <a:chOff x="1934837" y="4991100"/>
            <a:chExt cx="1865638" cy="619125"/>
          </a:xfrm>
        </p:grpSpPr>
        <p:sp>
          <p:nvSpPr>
            <p:cNvPr id="357" name="文本框 356" descr="{&quot;isTemplate&quot;:true,&quot;type&quot;:&quot;text&quot;}"/>
            <p:cNvSpPr txBox="1"/>
            <p:nvPr/>
          </p:nvSpPr>
          <p:spPr>
            <a:xfrm>
              <a:off x="1934837" y="4991100"/>
              <a:ext cx="1695450" cy="428625"/>
            </a:xfrm>
            <a:prstGeom prst="rect">
              <a:avLst/>
            </a:prstGeom>
          </p:spPr>
          <p:txBody>
            <a:bodyPr wrap="none" lIns="0" tIns="0" rIns="0" bIns="0"/>
            <a:lstStyle/>
            <a:p>
              <a:pPr>
                <a:lnSpc>
                  <a:spcPct val="114999"/>
                </a:lnSpc>
              </a:pPr>
              <a:r>
                <a:rPr lang="en-US" sz="2400" b="1" dirty="0">
                  <a:solidFill>
                    <a:srgbClr val="1E4FA8"/>
                  </a:solidFill>
                  <a:latin typeface="Microsoft YaHei"/>
                  <a:ea typeface="Microsoft YaHei"/>
                </a:rPr>
                <a:t>1271 / 1456</a:t>
              </a:r>
              <a:endParaRPr dirty="0"/>
            </a:p>
          </p:txBody>
        </p:sp>
        <p:sp>
          <p:nvSpPr>
            <p:cNvPr id="358" name="文本框 357" descr="{&quot;isTemplate&quot;:true,&quot;type&quot;:&quot;text&quot;}"/>
            <p:cNvSpPr txBox="1"/>
            <p:nvPr/>
          </p:nvSpPr>
          <p:spPr>
            <a:xfrm>
              <a:off x="2105025" y="5457825"/>
              <a:ext cx="1695450" cy="152400"/>
            </a:xfrm>
            <a:prstGeom prst="rect">
              <a:avLst/>
            </a:prstGeom>
          </p:spPr>
          <p:txBody>
            <a:bodyPr wrap="none" lIns="0" tIns="0" rIns="0" bIns="0"/>
            <a:lstStyle/>
            <a:p>
              <a:pPr>
                <a:lnSpc>
                  <a:spcPct val="100000"/>
                </a:lnSpc>
              </a:pPr>
              <a:r>
                <a:rPr lang="zh-CN" sz="975" dirty="0">
                  <a:solidFill>
                    <a:srgbClr val="1A2230"/>
                  </a:solidFill>
                  <a:latin typeface="Microsoft YaHei"/>
                  <a:ea typeface="Microsoft YaHei"/>
                </a:rPr>
                <a:t>页</a:t>
              </a:r>
              <a:r>
                <a:rPr lang="en-US" sz="975" dirty="0">
                  <a:solidFill>
                    <a:srgbClr val="1A2230"/>
                  </a:solidFill>
                  <a:latin typeface="Microsoft YaHei"/>
                  <a:ea typeface="Microsoft YaHei"/>
                </a:rPr>
                <a:t> · </a:t>
              </a:r>
              <a:r>
                <a:rPr lang="zh-CN" sz="975" dirty="0">
                  <a:solidFill>
                    <a:srgbClr val="1A2230"/>
                  </a:solidFill>
                  <a:latin typeface="Microsoft YaHei"/>
                  <a:ea typeface="Microsoft YaHei"/>
                </a:rPr>
                <a:t>中文版</a:t>
              </a:r>
              <a:r>
                <a:rPr lang="en-US" sz="975" dirty="0">
                  <a:solidFill>
                    <a:srgbClr val="1A2230"/>
                  </a:solidFill>
                  <a:latin typeface="Microsoft YaHei"/>
                  <a:ea typeface="Microsoft YaHei"/>
                </a:rPr>
                <a:t> / </a:t>
              </a:r>
              <a:r>
                <a:rPr lang="zh-CN" sz="975" dirty="0">
                  <a:solidFill>
                    <a:srgbClr val="1A2230"/>
                  </a:solidFill>
                  <a:latin typeface="Microsoft YaHei"/>
                  <a:ea typeface="Microsoft YaHei"/>
                </a:rPr>
                <a:t>英文版</a:t>
              </a:r>
              <a:endParaRPr dirty="0"/>
            </a:p>
          </p:txBody>
        </p:sp>
      </p:grpSp>
      <p:sp>
        <p:nvSpPr>
          <p:cNvPr id="359" name="文本框 358" descr="{&quot;isTemplate&quot;:true,&quot;type&quot;:&quot;text&quot;}"/>
          <p:cNvSpPr txBox="1"/>
          <p:nvPr/>
        </p:nvSpPr>
        <p:spPr>
          <a:xfrm>
            <a:off x="4048125" y="4991100"/>
            <a:ext cx="1685925" cy="428625"/>
          </a:xfrm>
          <a:prstGeom prst="rect">
            <a:avLst/>
          </a:prstGeom>
        </p:spPr>
        <p:txBody>
          <a:bodyPr wrap="none" lIns="0" tIns="0" rIns="0" bIns="0"/>
          <a:lstStyle/>
          <a:p>
            <a:pPr>
              <a:lnSpc>
                <a:spcPct val="114999"/>
              </a:lnSpc>
            </a:pPr>
            <a:r>
              <a:rPr lang="en-US" sz="2400" b="1" dirty="0">
                <a:solidFill>
                  <a:srgbClr val="1E4FA8"/>
                </a:solidFill>
                <a:latin typeface="Microsoft YaHei"/>
                <a:ea typeface="Microsoft YaHei"/>
              </a:rPr>
              <a:t>21</a:t>
            </a:r>
            <a:endParaRPr dirty="0"/>
          </a:p>
        </p:txBody>
      </p:sp>
      <p:sp>
        <p:nvSpPr>
          <p:cNvPr id="360" name="文本框 359" descr="{&quot;isTemplate&quot;:true,&quot;type&quot;:&quot;text&quot;}"/>
          <p:cNvSpPr txBox="1"/>
          <p:nvPr/>
        </p:nvSpPr>
        <p:spPr>
          <a:xfrm>
            <a:off x="4048125" y="5457825"/>
            <a:ext cx="1685925" cy="152400"/>
          </a:xfrm>
          <a:prstGeom prst="rect">
            <a:avLst/>
          </a:prstGeom>
        </p:spPr>
        <p:txBody>
          <a:bodyPr wrap="none" lIns="0" tIns="0" rIns="0" bIns="0"/>
          <a:lstStyle/>
          <a:p>
            <a:pPr>
              <a:lnSpc>
                <a:spcPct val="100000"/>
              </a:lnSpc>
            </a:pPr>
            <a:r>
              <a:rPr lang="zh-CN" sz="975">
                <a:solidFill>
                  <a:srgbClr val="1A2230"/>
                </a:solidFill>
                <a:latin typeface="Microsoft YaHei"/>
                <a:ea typeface="Microsoft YaHei"/>
              </a:rPr>
              <a:t>章</a:t>
            </a:r>
            <a:r>
              <a:rPr lang="en-US" sz="975">
                <a:solidFill>
                  <a:srgbClr val="1A2230"/>
                </a:solidFill>
                <a:latin typeface="Microsoft YaHei"/>
                <a:ea typeface="Microsoft YaHei"/>
              </a:rPr>
              <a:t> · </a:t>
            </a:r>
            <a:r>
              <a:rPr lang="zh-CN" sz="975">
                <a:solidFill>
                  <a:srgbClr val="1A2230"/>
                </a:solidFill>
                <a:latin typeface="Microsoft YaHei"/>
                <a:ea typeface="Microsoft YaHei"/>
              </a:rPr>
              <a:t>应用领域</a:t>
            </a:r>
            <a:endParaRPr/>
          </a:p>
        </p:txBody>
      </p:sp>
      <p:sp>
        <p:nvSpPr>
          <p:cNvPr id="361" name="文本框 360" descr="{&quot;isTemplate&quot;:true,&quot;type&quot;:&quot;text&quot;}"/>
          <p:cNvSpPr txBox="1"/>
          <p:nvPr/>
        </p:nvSpPr>
        <p:spPr>
          <a:xfrm>
            <a:off x="6267450" y="1352550"/>
            <a:ext cx="5543550" cy="228600"/>
          </a:xfrm>
          <a:prstGeom prst="rect">
            <a:avLst/>
          </a:prstGeom>
        </p:spPr>
        <p:txBody>
          <a:bodyPr wrap="none" lIns="0" tIns="0" rIns="0" bIns="0"/>
          <a:lstStyle/>
          <a:p>
            <a:pPr>
              <a:lnSpc>
                <a:spcPct val="100000"/>
              </a:lnSpc>
            </a:pPr>
            <a:r>
              <a:rPr lang="zh-CN" sz="1500" b="1">
                <a:solidFill>
                  <a:srgbClr val="0E3F8C"/>
                </a:solidFill>
                <a:latin typeface="Microsoft YaHei"/>
                <a:ea typeface="Microsoft YaHei"/>
              </a:rPr>
              <a:t>可以核对的规模</a:t>
            </a:r>
            <a:endParaRPr/>
          </a:p>
        </p:txBody>
      </p:sp>
      <p:sp>
        <p:nvSpPr>
          <p:cNvPr id="362" name="任意多边形: 形状 361"/>
          <p:cNvSpPr/>
          <p:nvPr/>
        </p:nvSpPr>
        <p:spPr>
          <a:xfrm>
            <a:off x="6267450" y="1676400"/>
            <a:ext cx="5543550" cy="333375"/>
          </a:xfrm>
          <a:custGeom>
            <a:avLst/>
            <a:gdLst/>
            <a:ahLst/>
            <a:cxnLst/>
            <a:rect l="0" t="0" r="0" b="0"/>
            <a:pathLst>
              <a:path w="582" h="35">
                <a:moveTo>
                  <a:pt x="0" y="0"/>
                </a:moveTo>
                <a:lnTo>
                  <a:pt x="582" y="0"/>
                </a:lnTo>
                <a:lnTo>
                  <a:pt x="582" y="1"/>
                </a:lnTo>
                <a:lnTo>
                  <a:pt x="0" y="1"/>
                </a:lnTo>
                <a:close/>
              </a:path>
            </a:pathLst>
          </a:custGeom>
          <a:solidFill>
            <a:srgbClr val="E5E7EB"/>
          </a:solidFill>
          <a:ln/>
        </p:spPr>
        <p:txBody>
          <a:bodyPr/>
          <a:lstStyle/>
          <a:p>
            <a:endParaRPr/>
          </a:p>
        </p:txBody>
      </p:sp>
      <p:sp>
        <p:nvSpPr>
          <p:cNvPr id="363" name="文本框 362" descr="{&quot;isTemplate&quot;:true,&quot;type&quot;:&quot;text&quot;}"/>
          <p:cNvSpPr txBox="1"/>
          <p:nvPr/>
        </p:nvSpPr>
        <p:spPr>
          <a:xfrm>
            <a:off x="6267450" y="1762125"/>
            <a:ext cx="59055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章节</a:t>
            </a:r>
            <a:endParaRPr/>
          </a:p>
        </p:txBody>
      </p:sp>
      <p:sp>
        <p:nvSpPr>
          <p:cNvPr id="364" name="文本框 363" descr="{&quot;isTemplate&quot;:true,&quot;type&quot;:&quot;text&quot;}"/>
          <p:cNvSpPr txBox="1"/>
          <p:nvPr/>
        </p:nvSpPr>
        <p:spPr>
          <a:xfrm>
            <a:off x="6858000" y="1762125"/>
            <a:ext cx="4953000" cy="161925"/>
          </a:xfrm>
          <a:prstGeom prst="rect">
            <a:avLst/>
          </a:prstGeom>
        </p:spPr>
        <p:txBody>
          <a:bodyPr wrap="none" lIns="0" tIns="0" rIns="0" bIns="0"/>
          <a:lstStyle/>
          <a:p>
            <a:pPr>
              <a:lnSpc>
                <a:spcPct val="100000"/>
              </a:lnSpc>
            </a:pPr>
            <a:r>
              <a:rPr lang="en-US" sz="1050">
                <a:solidFill>
                  <a:srgbClr val="4A5568"/>
                </a:solidFill>
                <a:latin typeface="Microsoft YaHei"/>
                <a:ea typeface="Microsoft YaHei"/>
              </a:rPr>
              <a:t>46 </a:t>
            </a:r>
            <a:r>
              <a:rPr lang="zh-CN" sz="1050">
                <a:solidFill>
                  <a:srgbClr val="4A5568"/>
                </a:solidFill>
                <a:latin typeface="Microsoft YaHei"/>
                <a:ea typeface="Microsoft YaHei"/>
              </a:rPr>
              <a:t>章（第 1–46 章）</a:t>
            </a:r>
            <a:r>
              <a:rPr lang="en-US" sz="1050">
                <a:solidFill>
                  <a:srgbClr val="4A5568"/>
                </a:solidFill>
                <a:latin typeface="Microsoft YaHei"/>
                <a:ea typeface="Microsoft YaHei"/>
              </a:rPr>
              <a:t>；另有</a:t>
            </a:r>
            <a:r>
              <a:rPr lang="zh-CN" sz="1050">
                <a:solidFill>
                  <a:srgbClr val="4A5568"/>
                </a:solidFill>
                <a:latin typeface="Microsoft YaHei"/>
                <a:ea typeface="Microsoft YaHei"/>
              </a:rPr>
              <a:t>符号表、摘要、序言、引言、参考文献、作者简介、致谢</a:t>
            </a:r>
            <a:endParaRPr/>
          </a:p>
        </p:txBody>
      </p:sp>
      <p:sp>
        <p:nvSpPr>
          <p:cNvPr id="365" name="任意多边形: 形状 364"/>
          <p:cNvSpPr/>
          <p:nvPr/>
        </p:nvSpPr>
        <p:spPr>
          <a:xfrm>
            <a:off x="6267450" y="2000250"/>
            <a:ext cx="5543550" cy="333375"/>
          </a:xfrm>
          <a:custGeom>
            <a:avLst/>
            <a:gdLst/>
            <a:ahLst/>
            <a:cxnLst/>
            <a:rect l="0" t="0" r="0" b="0"/>
            <a:pathLst>
              <a:path w="582" h="35">
                <a:moveTo>
                  <a:pt x="0" y="0"/>
                </a:moveTo>
                <a:lnTo>
                  <a:pt x="582" y="0"/>
                </a:lnTo>
                <a:lnTo>
                  <a:pt x="582" y="1"/>
                </a:lnTo>
                <a:lnTo>
                  <a:pt x="0" y="1"/>
                </a:lnTo>
                <a:close/>
              </a:path>
            </a:pathLst>
          </a:custGeom>
          <a:solidFill>
            <a:srgbClr val="E5E7EB"/>
          </a:solidFill>
          <a:ln/>
        </p:spPr>
        <p:txBody>
          <a:bodyPr/>
          <a:lstStyle/>
          <a:p>
            <a:endParaRPr/>
          </a:p>
        </p:txBody>
      </p:sp>
      <p:sp>
        <p:nvSpPr>
          <p:cNvPr id="366" name="文本框 365" descr="{&quot;isTemplate&quot;:true,&quot;type&quot;:&quot;text&quot;}"/>
          <p:cNvSpPr txBox="1"/>
          <p:nvPr/>
        </p:nvSpPr>
        <p:spPr>
          <a:xfrm>
            <a:off x="6267450" y="2085975"/>
            <a:ext cx="59055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篇幅</a:t>
            </a:r>
            <a:endParaRPr/>
          </a:p>
        </p:txBody>
      </p:sp>
      <p:sp>
        <p:nvSpPr>
          <p:cNvPr id="367" name="文本框 366" descr="{&quot;isTemplate&quot;:true,&quot;type&quot;:&quot;text&quot;}"/>
          <p:cNvSpPr txBox="1"/>
          <p:nvPr/>
        </p:nvSpPr>
        <p:spPr>
          <a:xfrm>
            <a:off x="6858000" y="2085975"/>
            <a:ext cx="4953000" cy="161925"/>
          </a:xfrm>
          <a:prstGeom prst="rect">
            <a:avLst/>
          </a:prstGeom>
        </p:spPr>
        <p:txBody>
          <a:bodyPr wrap="none" lIns="0" tIns="0" rIns="0" bIns="0"/>
          <a:lstStyle/>
          <a:p>
            <a:pPr>
              <a:lnSpc>
                <a:spcPct val="100000"/>
              </a:lnSpc>
            </a:pPr>
            <a:r>
              <a:rPr lang="zh-CN" sz="1050">
                <a:solidFill>
                  <a:srgbClr val="4A5568"/>
                </a:solidFill>
                <a:latin typeface="Microsoft YaHei"/>
                <a:ea typeface="Microsoft YaHei"/>
              </a:rPr>
              <a:t>中文版</a:t>
            </a:r>
            <a:r>
              <a:rPr lang="en-US" sz="1050">
                <a:solidFill>
                  <a:srgbClr val="4A5568"/>
                </a:solidFill>
                <a:latin typeface="Microsoft YaHei"/>
                <a:ea typeface="Microsoft YaHei"/>
              </a:rPr>
              <a:t> 1271 </a:t>
            </a:r>
            <a:r>
              <a:rPr lang="zh-CN" sz="1050">
                <a:solidFill>
                  <a:srgbClr val="4A5568"/>
                </a:solidFill>
                <a:latin typeface="Microsoft YaHei"/>
                <a:ea typeface="Microsoft YaHei"/>
              </a:rPr>
              <a:t>页</a:t>
            </a:r>
            <a:r>
              <a:rPr lang="en-US" sz="1050">
                <a:solidFill>
                  <a:srgbClr val="4A5568"/>
                </a:solidFill>
                <a:latin typeface="Microsoft YaHei"/>
                <a:ea typeface="Microsoft YaHei"/>
              </a:rPr>
              <a:t> · </a:t>
            </a:r>
            <a:r>
              <a:rPr lang="zh-CN" sz="1050">
                <a:solidFill>
                  <a:srgbClr val="4A5568"/>
                </a:solidFill>
                <a:latin typeface="Microsoft YaHei"/>
                <a:ea typeface="Microsoft YaHei"/>
              </a:rPr>
              <a:t>英文版</a:t>
            </a:r>
            <a:r>
              <a:rPr lang="en-US" sz="1050">
                <a:solidFill>
                  <a:srgbClr val="4A5568"/>
                </a:solidFill>
                <a:latin typeface="Microsoft YaHei"/>
                <a:ea typeface="Microsoft YaHei"/>
              </a:rPr>
              <a:t> 1456 </a:t>
            </a:r>
            <a:r>
              <a:rPr lang="zh-CN" sz="1050">
                <a:solidFill>
                  <a:srgbClr val="4A5568"/>
                </a:solidFill>
                <a:latin typeface="Microsoft YaHei"/>
                <a:ea typeface="Microsoft YaHei"/>
              </a:rPr>
              <a:t>页</a:t>
            </a:r>
            <a:endParaRPr/>
          </a:p>
        </p:txBody>
      </p:sp>
      <p:sp>
        <p:nvSpPr>
          <p:cNvPr id="368" name="任意多边形: 形状 367"/>
          <p:cNvSpPr/>
          <p:nvPr/>
        </p:nvSpPr>
        <p:spPr>
          <a:xfrm>
            <a:off x="6267450" y="2324100"/>
            <a:ext cx="5543550" cy="333375"/>
          </a:xfrm>
          <a:custGeom>
            <a:avLst/>
            <a:gdLst/>
            <a:ahLst/>
            <a:cxnLst/>
            <a:rect l="0" t="0" r="0" b="0"/>
            <a:pathLst>
              <a:path w="582" h="35">
                <a:moveTo>
                  <a:pt x="0" y="0"/>
                </a:moveTo>
                <a:lnTo>
                  <a:pt x="582" y="0"/>
                </a:lnTo>
                <a:lnTo>
                  <a:pt x="582" y="1"/>
                </a:lnTo>
                <a:lnTo>
                  <a:pt x="0" y="1"/>
                </a:lnTo>
                <a:close/>
              </a:path>
            </a:pathLst>
          </a:custGeom>
          <a:solidFill>
            <a:srgbClr val="E5E7EB"/>
          </a:solidFill>
          <a:ln/>
        </p:spPr>
        <p:txBody>
          <a:bodyPr/>
          <a:lstStyle/>
          <a:p>
            <a:endParaRPr/>
          </a:p>
        </p:txBody>
      </p:sp>
      <p:sp>
        <p:nvSpPr>
          <p:cNvPr id="369" name="文本框 368" descr="{&quot;isTemplate&quot;:true,&quot;type&quot;:&quot;text&quot;}"/>
          <p:cNvSpPr txBox="1"/>
          <p:nvPr/>
        </p:nvSpPr>
        <p:spPr>
          <a:xfrm>
            <a:off x="6267450" y="2409825"/>
            <a:ext cx="59055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规模</a:t>
            </a:r>
            <a:endParaRPr/>
          </a:p>
        </p:txBody>
      </p:sp>
      <p:sp>
        <p:nvSpPr>
          <p:cNvPr id="370" name="文本框 369" descr="{&quot;isTemplate&quot;:true,&quot;type&quot;:&quot;text&quot;}"/>
          <p:cNvSpPr txBox="1"/>
          <p:nvPr/>
        </p:nvSpPr>
        <p:spPr>
          <a:xfrm>
            <a:off x="6858000" y="2409825"/>
            <a:ext cx="4953000" cy="161925"/>
          </a:xfrm>
          <a:prstGeom prst="rect">
            <a:avLst/>
          </a:prstGeom>
        </p:spPr>
        <p:txBody>
          <a:bodyPr wrap="none" lIns="0" tIns="0" rIns="0" bIns="0"/>
          <a:lstStyle/>
          <a:p>
            <a:pPr>
              <a:lnSpc>
                <a:spcPct val="100000"/>
              </a:lnSpc>
            </a:pPr>
            <a:r>
              <a:rPr lang="zh-CN" sz="1050">
                <a:solidFill>
                  <a:srgbClr val="4A5568"/>
                </a:solidFill>
                <a:latin typeface="Microsoft YaHei"/>
                <a:ea typeface="Microsoft YaHei"/>
              </a:rPr>
              <a:t>约</a:t>
            </a:r>
            <a:r>
              <a:rPr lang="en-US" sz="1050">
                <a:solidFill>
                  <a:srgbClr val="4A5568"/>
                </a:solidFill>
                <a:latin typeface="Microsoft YaHei"/>
                <a:ea typeface="Microsoft YaHei"/>
              </a:rPr>
              <a:t> 5.66 </a:t>
            </a:r>
            <a:r>
              <a:rPr lang="zh-CN" sz="1050">
                <a:solidFill>
                  <a:srgbClr val="4A5568"/>
                </a:solidFill>
                <a:latin typeface="Microsoft YaHei"/>
                <a:ea typeface="Microsoft YaHei"/>
              </a:rPr>
              <a:t>万行</a:t>
            </a:r>
            <a:r>
              <a:rPr lang="en-US" sz="1050">
                <a:solidFill>
                  <a:srgbClr val="4A5568"/>
                </a:solidFill>
                <a:latin typeface="Microsoft YaHei"/>
                <a:ea typeface="Microsoft YaHei"/>
              </a:rPr>
              <a:t> LaTeX </a:t>
            </a:r>
            <a:r>
              <a:rPr lang="zh-CN" sz="1050">
                <a:solidFill>
                  <a:srgbClr val="4A5568"/>
                </a:solidFill>
                <a:latin typeface="Microsoft YaHei"/>
                <a:ea typeface="Microsoft YaHei"/>
              </a:rPr>
              <a:t>源码</a:t>
            </a:r>
            <a:endParaRPr/>
          </a:p>
        </p:txBody>
      </p:sp>
      <p:sp>
        <p:nvSpPr>
          <p:cNvPr id="371" name="任意多边形: 形状 370"/>
          <p:cNvSpPr/>
          <p:nvPr/>
        </p:nvSpPr>
        <p:spPr>
          <a:xfrm>
            <a:off x="6267450" y="2647950"/>
            <a:ext cx="5543550" cy="333375"/>
          </a:xfrm>
          <a:custGeom>
            <a:avLst/>
            <a:gdLst/>
            <a:ahLst/>
            <a:cxnLst/>
            <a:rect l="0" t="0" r="0" b="0"/>
            <a:pathLst>
              <a:path w="582" h="35">
                <a:moveTo>
                  <a:pt x="0" y="0"/>
                </a:moveTo>
                <a:lnTo>
                  <a:pt x="582" y="0"/>
                </a:lnTo>
                <a:lnTo>
                  <a:pt x="582" y="1"/>
                </a:lnTo>
                <a:lnTo>
                  <a:pt x="0" y="1"/>
                </a:lnTo>
                <a:close/>
              </a:path>
            </a:pathLst>
          </a:custGeom>
          <a:solidFill>
            <a:srgbClr val="E5E7EB"/>
          </a:solidFill>
          <a:ln/>
        </p:spPr>
        <p:txBody>
          <a:bodyPr/>
          <a:lstStyle/>
          <a:p>
            <a:endParaRPr/>
          </a:p>
        </p:txBody>
      </p:sp>
      <p:sp>
        <p:nvSpPr>
          <p:cNvPr id="372" name="文本框 371" descr="{&quot;isTemplate&quot;:true,&quot;type&quot;:&quot;text&quot;}"/>
          <p:cNvSpPr txBox="1"/>
          <p:nvPr/>
        </p:nvSpPr>
        <p:spPr>
          <a:xfrm>
            <a:off x="6267450" y="2733675"/>
            <a:ext cx="59055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结构</a:t>
            </a:r>
            <a:endParaRPr/>
          </a:p>
        </p:txBody>
      </p:sp>
      <p:sp>
        <p:nvSpPr>
          <p:cNvPr id="373" name="文本框 372" descr="{&quot;isTemplate&quot;:true,&quot;type&quot;:&quot;text&quot;}"/>
          <p:cNvSpPr txBox="1"/>
          <p:nvPr/>
        </p:nvSpPr>
        <p:spPr>
          <a:xfrm>
            <a:off x="6858000" y="2733675"/>
            <a:ext cx="4953000" cy="161925"/>
          </a:xfrm>
          <a:prstGeom prst="rect">
            <a:avLst/>
          </a:prstGeom>
        </p:spPr>
        <p:txBody>
          <a:bodyPr wrap="none" lIns="0" tIns="0" rIns="0" bIns="0"/>
          <a:lstStyle/>
          <a:p>
            <a:pPr>
              <a:lnSpc>
                <a:spcPct val="100000"/>
              </a:lnSpc>
            </a:pPr>
            <a:r>
              <a:rPr lang="en-US" sz="1050">
                <a:solidFill>
                  <a:srgbClr val="4A5568"/>
                </a:solidFill>
                <a:latin typeface="Microsoft YaHei"/>
                <a:ea typeface="Microsoft YaHei"/>
              </a:rPr>
              <a:t>469 </a:t>
            </a:r>
            <a:r>
              <a:rPr lang="zh-CN" sz="1050">
                <a:solidFill>
                  <a:srgbClr val="4A5568"/>
                </a:solidFill>
                <a:latin typeface="Microsoft YaHei"/>
                <a:ea typeface="Microsoft YaHei"/>
              </a:rPr>
              <a:t>节</a:t>
            </a:r>
            <a:r>
              <a:rPr lang="en-US" sz="1050">
                <a:solidFill>
                  <a:srgbClr val="4A5568"/>
                </a:solidFill>
                <a:latin typeface="Microsoft YaHei"/>
                <a:ea typeface="Microsoft YaHei"/>
              </a:rPr>
              <a:t> · 298 </a:t>
            </a:r>
            <a:r>
              <a:rPr lang="zh-CN" sz="1050">
                <a:solidFill>
                  <a:srgbClr val="4A5568"/>
                </a:solidFill>
                <a:latin typeface="Microsoft YaHei"/>
                <a:ea typeface="Microsoft YaHei"/>
              </a:rPr>
              <a:t>幅图</a:t>
            </a:r>
            <a:r>
              <a:rPr lang="en-US" sz="1050">
                <a:solidFill>
                  <a:srgbClr val="4A5568"/>
                </a:solidFill>
                <a:latin typeface="Microsoft YaHei"/>
                <a:ea typeface="Microsoft YaHei"/>
              </a:rPr>
              <a:t> · 23 </a:t>
            </a:r>
            <a:r>
              <a:rPr lang="zh-CN" sz="1050">
                <a:solidFill>
                  <a:srgbClr val="4A5568"/>
                </a:solidFill>
                <a:latin typeface="Microsoft YaHei"/>
                <a:ea typeface="Microsoft YaHei"/>
              </a:rPr>
              <a:t>张表</a:t>
            </a:r>
            <a:endParaRPr/>
          </a:p>
        </p:txBody>
      </p:sp>
      <p:sp>
        <p:nvSpPr>
          <p:cNvPr id="374" name="任意多边形: 形状 373"/>
          <p:cNvSpPr/>
          <p:nvPr/>
        </p:nvSpPr>
        <p:spPr>
          <a:xfrm>
            <a:off x="6267450" y="2971800"/>
            <a:ext cx="5543550" cy="333375"/>
          </a:xfrm>
          <a:custGeom>
            <a:avLst/>
            <a:gdLst/>
            <a:ahLst/>
            <a:cxnLst/>
            <a:rect l="0" t="0" r="0" b="0"/>
            <a:pathLst>
              <a:path w="582" h="35">
                <a:moveTo>
                  <a:pt x="0" y="0"/>
                </a:moveTo>
                <a:lnTo>
                  <a:pt x="582" y="0"/>
                </a:lnTo>
                <a:lnTo>
                  <a:pt x="582" y="1"/>
                </a:lnTo>
                <a:lnTo>
                  <a:pt x="0" y="1"/>
                </a:lnTo>
                <a:close/>
              </a:path>
            </a:pathLst>
          </a:custGeom>
          <a:solidFill>
            <a:srgbClr val="E5E7EB"/>
          </a:solidFill>
          <a:ln/>
        </p:spPr>
        <p:txBody>
          <a:bodyPr/>
          <a:lstStyle/>
          <a:p>
            <a:endParaRPr/>
          </a:p>
        </p:txBody>
      </p:sp>
      <p:sp>
        <p:nvSpPr>
          <p:cNvPr id="375" name="文本框 374" descr="{&quot;isTemplate&quot;:true,&quot;type&quot;:&quot;text&quot;}"/>
          <p:cNvSpPr txBox="1"/>
          <p:nvPr/>
        </p:nvSpPr>
        <p:spPr>
          <a:xfrm>
            <a:off x="6267450" y="3057525"/>
            <a:ext cx="59055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应用</a:t>
            </a:r>
            <a:endParaRPr/>
          </a:p>
        </p:txBody>
      </p:sp>
      <p:sp>
        <p:nvSpPr>
          <p:cNvPr id="376" name="文本框 375" descr="{&quot;isTemplate&quot;:true,&quot;type&quot;:&quot;text&quot;}"/>
          <p:cNvSpPr txBox="1"/>
          <p:nvPr/>
        </p:nvSpPr>
        <p:spPr>
          <a:xfrm>
            <a:off x="6858000" y="3057525"/>
            <a:ext cx="4953000" cy="161925"/>
          </a:xfrm>
          <a:prstGeom prst="rect">
            <a:avLst/>
          </a:prstGeom>
        </p:spPr>
        <p:txBody>
          <a:bodyPr wrap="none" lIns="0" tIns="0" rIns="0" bIns="0"/>
          <a:lstStyle/>
          <a:p>
            <a:pPr>
              <a:lnSpc>
                <a:spcPct val="100000"/>
              </a:lnSpc>
            </a:pPr>
            <a:r>
              <a:rPr lang="zh-CN" sz="1050">
                <a:solidFill>
                  <a:srgbClr val="4A5568"/>
                </a:solidFill>
                <a:latin typeface="Microsoft YaHei"/>
                <a:ea typeface="Microsoft YaHei"/>
              </a:rPr>
              <a:t>第</a:t>
            </a:r>
            <a:r>
              <a:rPr lang="en-US" sz="1050">
                <a:solidFill>
                  <a:srgbClr val="4A5568"/>
                </a:solidFill>
                <a:latin typeface="Microsoft YaHei"/>
                <a:ea typeface="Microsoft YaHei"/>
              </a:rPr>
              <a:t> 25–45 </a:t>
            </a:r>
            <a:r>
              <a:rPr lang="zh-CN" sz="1050">
                <a:solidFill>
                  <a:srgbClr val="4A5568"/>
                </a:solidFill>
                <a:latin typeface="Microsoft YaHei"/>
                <a:ea typeface="Microsoft YaHei"/>
              </a:rPr>
              <a:t>章共</a:t>
            </a:r>
            <a:r>
              <a:rPr lang="en-US" sz="1050">
                <a:solidFill>
                  <a:srgbClr val="4A5568"/>
                </a:solidFill>
                <a:latin typeface="Microsoft YaHei"/>
                <a:ea typeface="Microsoft YaHei"/>
              </a:rPr>
              <a:t> 21 </a:t>
            </a:r>
            <a:r>
              <a:rPr lang="zh-CN" sz="1050">
                <a:solidFill>
                  <a:srgbClr val="4A5568"/>
                </a:solidFill>
                <a:latin typeface="Microsoft YaHei"/>
                <a:ea typeface="Microsoft YaHei"/>
              </a:rPr>
              <a:t>章</a:t>
            </a:r>
            <a:endParaRPr/>
          </a:p>
        </p:txBody>
      </p:sp>
      <p:sp>
        <p:nvSpPr>
          <p:cNvPr id="377" name="任意多边形: 形状 376"/>
          <p:cNvSpPr/>
          <p:nvPr/>
        </p:nvSpPr>
        <p:spPr>
          <a:xfrm>
            <a:off x="6267450" y="3295650"/>
            <a:ext cx="5543550" cy="333375"/>
          </a:xfrm>
          <a:custGeom>
            <a:avLst/>
            <a:gdLst/>
            <a:ahLst/>
            <a:cxnLst/>
            <a:rect l="0" t="0" r="0" b="0"/>
            <a:pathLst>
              <a:path w="582" h="35">
                <a:moveTo>
                  <a:pt x="0" y="0"/>
                </a:moveTo>
                <a:lnTo>
                  <a:pt x="582" y="0"/>
                </a:lnTo>
                <a:lnTo>
                  <a:pt x="582" y="1"/>
                </a:lnTo>
                <a:lnTo>
                  <a:pt x="0" y="1"/>
                </a:lnTo>
                <a:close/>
              </a:path>
            </a:pathLst>
          </a:custGeom>
          <a:solidFill>
            <a:srgbClr val="E5E7EB"/>
          </a:solidFill>
          <a:ln/>
        </p:spPr>
        <p:txBody>
          <a:bodyPr/>
          <a:lstStyle/>
          <a:p>
            <a:endParaRPr/>
          </a:p>
        </p:txBody>
      </p:sp>
      <p:sp>
        <p:nvSpPr>
          <p:cNvPr id="378" name="文本框 377" descr="{&quot;isTemplate&quot;:true,&quot;type&quot;:&quot;text&quot;}"/>
          <p:cNvSpPr txBox="1"/>
          <p:nvPr/>
        </p:nvSpPr>
        <p:spPr>
          <a:xfrm>
            <a:off x="6267450" y="3381375"/>
            <a:ext cx="590550" cy="161925"/>
          </a:xfrm>
          <a:prstGeom prst="rect">
            <a:avLst/>
          </a:prstGeom>
        </p:spPr>
        <p:txBody>
          <a:bodyPr wrap="none" lIns="0" tIns="0" rIns="0" bIns="0"/>
          <a:lstStyle/>
          <a:p>
            <a:pPr>
              <a:lnSpc>
                <a:spcPct val="100000"/>
              </a:lnSpc>
            </a:pPr>
            <a:r>
              <a:rPr lang="zh-CN" sz="1050" b="1">
                <a:solidFill>
                  <a:srgbClr val="1E4FA8"/>
                </a:solidFill>
                <a:latin typeface="Microsoft YaHei"/>
                <a:ea typeface="Microsoft YaHei"/>
              </a:rPr>
              <a:t>双语</a:t>
            </a:r>
            <a:endParaRPr/>
          </a:p>
        </p:txBody>
      </p:sp>
      <p:sp>
        <p:nvSpPr>
          <p:cNvPr id="379" name="文本框 378" descr="{&quot;isTemplate&quot;:true,&quot;type&quot;:&quot;text&quot;}"/>
          <p:cNvSpPr txBox="1"/>
          <p:nvPr/>
        </p:nvSpPr>
        <p:spPr>
          <a:xfrm>
            <a:off x="6858000" y="3381375"/>
            <a:ext cx="4953000" cy="161925"/>
          </a:xfrm>
          <a:prstGeom prst="rect">
            <a:avLst/>
          </a:prstGeom>
        </p:spPr>
        <p:txBody>
          <a:bodyPr wrap="none" lIns="0" tIns="0" rIns="0" bIns="0"/>
          <a:lstStyle/>
          <a:p>
            <a:pPr>
              <a:lnSpc>
                <a:spcPct val="100000"/>
              </a:lnSpc>
            </a:pPr>
            <a:r>
              <a:rPr lang="zh-CN" sz="1050">
                <a:solidFill>
                  <a:srgbClr val="4A5568"/>
                </a:solidFill>
                <a:latin typeface="Microsoft YaHei"/>
                <a:ea typeface="Microsoft YaHei"/>
              </a:rPr>
              <a:t>中英两版的章序、章号与定理定义编号一一对应</a:t>
            </a:r>
            <a:endParaRPr/>
          </a:p>
        </p:txBody>
      </p:sp>
      <p:sp>
        <p:nvSpPr>
          <p:cNvPr id="380" name="矩形: 圆角 379"/>
          <p:cNvSpPr/>
          <p:nvPr/>
        </p:nvSpPr>
        <p:spPr>
          <a:xfrm>
            <a:off x="6305550" y="5486400"/>
            <a:ext cx="5543550" cy="895350"/>
          </a:xfrm>
          <a:prstGeom prst="roundRect">
            <a:avLst>
              <a:gd name="adj" fmla="val 6383"/>
            </a:avLst>
          </a:prstGeom>
          <a:solidFill>
            <a:srgbClr val="F7F9FC"/>
          </a:solidFill>
          <a:ln/>
        </p:spPr>
        <p:txBody>
          <a:bodyPr/>
          <a:lstStyle/>
          <a:p>
            <a:endParaRPr/>
          </a:p>
        </p:txBody>
      </p:sp>
      <p:sp>
        <p:nvSpPr>
          <p:cNvPr id="381" name="任意多边形: 形状 380"/>
          <p:cNvSpPr/>
          <p:nvPr/>
        </p:nvSpPr>
        <p:spPr>
          <a:xfrm>
            <a:off x="6305550" y="5486400"/>
            <a:ext cx="5543550" cy="895350"/>
          </a:xfrm>
          <a:custGeom>
            <a:avLst/>
            <a:gdLst/>
            <a:ahLst/>
            <a:cxnLst/>
            <a:rect l="0" t="0" r="0" b="0"/>
            <a:pathLst>
              <a:path w="582" h="94">
                <a:moveTo>
                  <a:pt x="6" y="0"/>
                </a:moveTo>
                <a:cubicBezTo>
                  <a:pt x="5" y="0"/>
                  <a:pt x="4" y="1"/>
                  <a:pt x="4" y="2"/>
                </a:cubicBezTo>
                <a:lnTo>
                  <a:pt x="4" y="92"/>
                </a:lnTo>
                <a:cubicBezTo>
                  <a:pt x="4" y="93"/>
                  <a:pt x="5" y="94"/>
                  <a:pt x="6" y="94"/>
                </a:cubicBezTo>
                <a:cubicBezTo>
                  <a:pt x="3" y="94"/>
                  <a:pt x="0" y="91"/>
                  <a:pt x="0" y="88"/>
                </a:cubicBezTo>
                <a:lnTo>
                  <a:pt x="0" y="6"/>
                </a:lnTo>
                <a:cubicBezTo>
                  <a:pt x="0" y="3"/>
                  <a:pt x="3" y="0"/>
                  <a:pt x="6" y="0"/>
                </a:cubicBezTo>
                <a:close/>
              </a:path>
            </a:pathLst>
          </a:custGeom>
          <a:solidFill>
            <a:srgbClr val="D9534F"/>
          </a:solidFill>
          <a:ln/>
        </p:spPr>
        <p:txBody>
          <a:bodyPr/>
          <a:lstStyle/>
          <a:p>
            <a:endParaRPr/>
          </a:p>
        </p:txBody>
      </p:sp>
      <p:sp>
        <p:nvSpPr>
          <p:cNvPr id="382" name="文本框 381" descr="{&quot;isTemplate&quot;:true,&quot;type&quot;:&quot;text&quot;}"/>
          <p:cNvSpPr txBox="1"/>
          <p:nvPr/>
        </p:nvSpPr>
        <p:spPr>
          <a:xfrm>
            <a:off x="6457950" y="5638800"/>
            <a:ext cx="5200650" cy="590550"/>
          </a:xfrm>
          <a:prstGeom prst="rect">
            <a:avLst/>
          </a:prstGeom>
        </p:spPr>
        <p:txBody>
          <a:bodyPr wrap="square" lIns="0" tIns="0" rIns="0" bIns="0">
            <a:normAutofit/>
          </a:bodyPr>
          <a:lstStyle/>
          <a:p>
            <a:pPr>
              <a:lnSpc>
                <a:spcPct val="170000"/>
              </a:lnSpc>
            </a:pPr>
            <a:r>
              <a:rPr lang="zh-CN" sz="1125" b="1">
                <a:solidFill>
                  <a:srgbClr val="D9534F"/>
                </a:solidFill>
                <a:latin typeface="Microsoft YaHei"/>
                <a:ea typeface="Microsoft YaHei"/>
              </a:rPr>
              <a:t>当前状态：</a:t>
            </a:r>
            <a:r>
              <a:rPr lang="zh-CN" sz="1125">
                <a:solidFill>
                  <a:srgbClr val="1A2230"/>
                </a:solidFill>
                <a:latin typeface="Microsoft YaHei"/>
                <a:ea typeface="Microsoft YaHei"/>
              </a:rPr>
              <a:t>由著者独立完成全部写作，全书</a:t>
            </a:r>
            <a:r>
              <a:rPr lang="zh-CN" sz="1125" b="1">
                <a:solidFill>
                  <a:srgbClr val="1A2230"/>
                </a:solidFill>
                <a:latin typeface="Microsoft YaHei"/>
                <a:ea typeface="Microsoft YaHei"/>
              </a:rPr>
              <a:t>尚未提交出版或同行评议</a:t>
            </a:r>
            <a:r>
              <a:rPr lang="zh-CN" sz="1125">
                <a:solidFill>
                  <a:srgbClr val="1A2230"/>
                </a:solidFill>
                <a:latin typeface="Microsoft YaHei"/>
                <a:ea typeface="Microsoft YaHei"/>
              </a:rPr>
              <a:t>。这意味着它需要合作方在三个方向上投入——</a:t>
            </a:r>
            <a:r>
              <a:rPr lang="zh-CN" sz="1125" b="1">
                <a:solidFill>
                  <a:srgbClr val="0E3F8C"/>
                </a:solidFill>
                <a:latin typeface="Microsoft YaHei"/>
                <a:ea typeface="Microsoft YaHei"/>
              </a:rPr>
              <a:t>算法实现</a:t>
            </a:r>
            <a:r>
              <a:rPr lang="en-US" sz="1125" b="1">
                <a:solidFill>
                  <a:srgbClr val="0E3F8C"/>
                </a:solidFill>
                <a:latin typeface="Microsoft YaHei"/>
                <a:ea typeface="Microsoft YaHei"/>
              </a:rPr>
              <a:t> · </a:t>
            </a:r>
            <a:r>
              <a:rPr lang="zh-CN" sz="1125" b="1">
                <a:solidFill>
                  <a:srgbClr val="0E3F8C"/>
                </a:solidFill>
                <a:latin typeface="Microsoft YaHei"/>
                <a:ea typeface="Microsoft YaHei"/>
              </a:rPr>
              <a:t>实证检验</a:t>
            </a:r>
            <a:r>
              <a:rPr lang="en-US" sz="1125" b="1">
                <a:solidFill>
                  <a:srgbClr val="0E3F8C"/>
                </a:solidFill>
                <a:latin typeface="Microsoft YaHei"/>
                <a:ea typeface="Microsoft YaHei"/>
              </a:rPr>
              <a:t> · </a:t>
            </a:r>
            <a:r>
              <a:rPr lang="zh-CN" sz="1125" b="1">
                <a:solidFill>
                  <a:srgbClr val="0E3F8C"/>
                </a:solidFill>
                <a:latin typeface="Microsoft YaHei"/>
                <a:ea typeface="Microsoft YaHei"/>
              </a:rPr>
              <a:t>学术出版</a:t>
            </a:r>
            <a:r>
              <a:rPr lang="zh-CN" sz="1125">
                <a:solidFill>
                  <a:srgbClr val="1A2230"/>
                </a:solidFill>
                <a:latin typeface="Microsoft YaHei"/>
                <a:ea typeface="Microsoft YaHei"/>
              </a:rPr>
              <a:t>。</a:t>
            </a:r>
            <a:endParaRPr/>
          </a:p>
        </p:txBody>
      </p:sp>
      <p:sp>
        <p:nvSpPr>
          <p:cNvPr id="383" name="文本框 382"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384" name="文本框 383"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20 / 22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FFFFF', fontFamily: '&quot;Microsoft YaHei&quot;, &quot;Source Han Sans SC&quot;, sans-serif' }}&gt;&#10;&#10;    &lt;Box style={{ width: '100%', height: 8, background: '#1E4FA8' }} /&gt;&#10;&#10;    &lt;Box style={{ width: '100%', height: 56, paddingLeft: 40, paddingRight: 40, flexDirection: 'row', alignItems: 'center', justifyContent: 'space-between', borderBottom: '1px solid #D6DCE5' }}&gt;&#10;        &lt;Text style={{ fontSize: 14, color: '#8B97A8', letterSpacing: 1 }}&gt;周期数学 · 对外宣讲&lt;/Text&gt;&#10;        &lt;Text style={{ fontSize: 14, color: '#1E4FA8', letterSpacing: 1 }}&gt;04 边界、路线与展望&lt;/Text&gt;&#10;    &lt;/Box&gt;&#10;&#10;    &lt;Box style={{ width: '100%', height: 78, paddingLeft: 40, paddingRight: 40, justifyContent: 'center' }}&gt;&#10;        &lt;Text style={{ fontSize: 32, fontWeight: 'bold', color: '#0E3F8C' }}&gt;三步走：让纲领进入可验证、可引用的轨道&lt;/Text&gt;&#10;    &lt;/Box&gt;&#10;&#10;    &lt;Box style={{ width: '100%', flex: 1, flexDirection: 'column', gap: 14, paddingLeft: 40, paddingRight: 40, paddingBottom: 16 }}&gt;&#10;&#10;        &lt;Box style={{ width: '100%', borderRadius: 6, background: '#F7F9FC', border: '1px solid #E5E7EB', justifyContent: 'center', alignItems: 'center' }}&gt;&#10;            &lt;svg width={1120} height={266} viewBox='0 0 1200 285'&gt;&#10;                &lt;line x1='90' y1='212' x2='1110' y2='212' stroke='#D6DCE5' strokeWidth='2' /&gt;&#10;&#10;                &lt;rect x='90' y='36' width='300' height='152' rx='6' fill='#E8EFF8' stroke='#D6DCE5' /&gt;&#10;                &lt;text x='110' y='66' fontSize='15' fontWeight='bold' fill='#0E3F8C'&gt;近期 · 工程化&lt;/text&gt;&#10;                &lt;line x1='110' y1='78' x2='370' y2='78' stroke='#D6DCE5' /&gt;&#10;                &lt;circle cx='118' cy='100' r='3' fill='#3D7BD9' /&gt;&#10;                &lt;text x='130' y='104' fontSize='12' fill='#1A2230'&gt;FFT 快速算法：O(N²) → O(N log N)&lt;/text&gt;&#10;                &lt;circle cx='118' cy='126' r='3' fill='#3D7BD9' /&gt;&#10;                &lt;text x='130' y='130' fontSize='12' fill='#1A2230'&gt;窗半径自动选择与显著性检验&lt;/text&gt;&#10;                &lt;circle cx='118' cy='152' r='3' fill='#3D7BD9' /&gt;&#10;                &lt;text x='130' y='156' fontSize='12' fill='#1A2230'&gt;开源参考实现与使用文档&lt;/text&gt;&#10;                &lt;circle cx='240' cy='212' r='11' fill='#1E4FA8' /&gt;&#10;                &lt;text x='240' y='217' textAnchor='middle' fontSize='11' fill='#FFFFFF'&gt;1&lt;/text&gt;&#10;                &lt;text x='240' y='248' textAnchor='middle' fontSize='13' fill='#4A5568'&gt;可立即启动&lt;/text&gt;&#10;&#10;                &lt;rect x='450' y='36' width='300' height='152' rx='6' fill='#F0F5FC' stroke='#D6DCE5' /&gt;&#10;                &lt;text x='470' y='66' fontSize='15' fontWeight='bold' fill='#1E4FA8'&gt;中期 · 实证与出版&lt;/text&gt;&#10;                &lt;line x1='470' y1='78' x2='730' y2='78' stroke='#D6DCE5' /&gt;&#10;                &lt;circle cx='478' cy='100' r='3' fill='#3D7BD9' /&gt;&#10;                &lt;text x='490' y='104' fontSize='12' fill='#1A2230'&gt;金融与生理信号的实证检验&lt;/text&gt;&#10;                &lt;circle cx='478' cy='126' r='3' fill='#3D7BD9' /&gt;&#10;                &lt;text x='490' y='130' fontSize='12' fill='#1A2230'&gt;CEAF 时序预测对照实验&lt;/text&gt;&#10;                &lt;circle cx='478' cy='152' r='3' fill='#3D7BD9' /&gt;&#10;                &lt;text x='490' y='156' fontSize='12' fill='#1A2230'&gt;英文版进入同行评议与出版流程&lt;/text&gt;&#10;                &lt;circle cx='600' cy='212' r='11' fill='#1E4FA8' /&gt;&#10;                &lt;text x='600' y='217' textAnchor='middle' fontSize='11' fill='#FFFFFF'&gt;2&lt;/text&gt;&#10;                &lt;text x='600' y='248' textAnchor='middle' fontSize='13' fill='#4A5568'&gt;需数据与算力&lt;/text&gt;&#10;&#10;                &lt;rect x='810' y='36' width='300' height='152' rx='6' fill='#E8EFF8' stroke='#D6DCE5' /&gt;&#10;                &lt;text x='830' y='66' fontSize='15' fontWeight='bold' fill='#0E3F8C'&gt;长期 · 学科化&lt;/text&gt;&#10;                &lt;line x1='830' y1='78' x2='1090' y2='78' stroke='#D6DCE5' /&gt;&#10;                &lt;circle cx='838' cy='100' r='3' fill='#3D7BD9' /&gt;&#10;                &lt;text x='850' y='104' fontSize='12' fill='#1A2230'&gt;相位算子推广到任意周期 T&lt;/text&gt;&#10;                &lt;circle cx='838' cy='126' r='3' fill='#3D7BD9' /&gt;&#10;                &lt;text x='850' y='130' fontSize='12' fill='#1A2230'&gt;与高校 / 研究所共建课题&lt;/text&gt;&#10;                &lt;circle cx='838' cy='152' r='3' fill='#3D7BD9' /&gt;&#10;                &lt;text x='850' y='156' fontSize='12' fill='#1A2230'&gt;沉淀为可复用的分析范式&lt;/text&gt;&#10;                &lt;circle cx='960' cy='212' r='11' fill='#1E4FA8' /&gt;&#10;                &lt;text x='960' y='217' textAnchor='middle' fontSize='11' fill='#FFFFFF'&gt;3&lt;/text&gt;&#10;                &lt;text x='960' y='248' textAnchor='middle' fontSize='13' fill='#4A5568'&gt;需学术网络&lt;/text&gt;&#10;&#10;                &lt;path d='M396 212 L438 212' stroke='#3D7BD9' strokeWidth='2.5' fill='none' /&gt;&#10;                &lt;path d='M430 206 L442 212 L430 218 Z' fill='#3D7BD9' /&gt;&#10;                &lt;path d='M756 212 L798 212' stroke='#3D7BD9' strokeWidth='2.5' fill='none' /&gt;&#10;                &lt;path d='M790 206 L802 212 L790 218 Z' fill='#3D7BD9' /&gt;&#10;            &lt;/svg&gt;&#10;        &lt;/Box&gt;&#10;&#10;        &lt;Box style={{ flex: 1, flexDirection: 'row', background: '#F7F9FC', border: '1px solid #E5E7EB', borderRadius: 6, paddingTop: 16, paddingBottom: 16, paddingLeft: 24, paddingRight: 24 }}&gt;&#10;            &lt;Box style={{ flex: 1, flexDirection: 'column', paddingRight: 20 }}&gt;&#10;                &lt;Text style={{ fontSize: 13, color: '#8B97A8', letterSpacing: 1, marginBottom: 8 }}&gt;十项开放问题&lt;/Text&gt;&#10;                &lt;Text style={{ fontSize: 15, color: '#1A2230', lineHeight: 1.7 }}&gt;&#10;                    {`已在手稿末章逐条列出：快速算法、自动化拐点检验、周期卷积的深度学习集成、CEAF 规模化、相位算子体系扩展等。每一条都可以独立开工。`}&#10;                &lt;/Text&gt;&#10;            &lt;/Box&gt;&#10;            &lt;Box style={{ width: 1, background: '#D6DCE5', marginRight: 20 }} /&gt;&#10;            &lt;Box style={{ flex: 1, flexDirection: 'column' }}&gt;&#10;                &lt;Text style={{ fontSize: 13, color: '#8B97A8', letterSpacing: 1, marginBottom: 8 }}&gt;期望的合作形式&lt;/Text&gt;&#10;                &lt;Text style={{ fontSize: 15, color: '#1A2230', lineHeight: 1.7 }}&gt;&#10;                    {`联合课题、工程实现委托、数据集与算力支持、出版与评议渠道对接——四种形式中任意一种，都能让上述路线图的某一段提前落地。`}&#10;                &lt;/Text&gt;&#10;            &lt;/Box&gt;&#10;        &lt;/Box&gt;&#10;    &lt;/Box&gt;&#10;&#10;    &lt;Box style={{ width: '100%', height: 34, paddingLeft: 40, paddingRight: 40, flexDirection: 'row', alignItems: 'center', justifyContent: 'space-between' }}&gt;&#10;        &lt;Text style={{ fontSize: 12, color: '#8B97A8' }}&gt;Periodicity Mathematics&lt;/Text&gt;&#10;        &lt;Text style={{ fontSize: 14, color: '#0E3F8C' }}&gt;21 / 22&lt;/Text&gt;&#10;    &lt;/Box&gt;&#10;&lt;/Slide&gt;&#10;"/>
        <p:cNvGrpSpPr/>
        <p:nvPr/>
      </p:nvGrpSpPr>
      <p:grpSpPr>
        <a:xfrm>
          <a:off x="0" y="0"/>
          <a:ext cx="0" cy="0"/>
          <a:chOff x="0" y="0"/>
          <a:chExt cx="0" cy="0"/>
        </a:xfrm>
      </p:grpSpPr>
      <p:sp>
        <p:nvSpPr>
          <p:cNvPr id="386" name="矩形 385"/>
          <p:cNvSpPr/>
          <p:nvPr/>
        </p:nvSpPr>
        <p:spPr>
          <a:xfrm>
            <a:off x="0" y="0"/>
            <a:ext cx="12192000" cy="6858000"/>
          </a:xfrm>
          <a:prstGeom prst="rect">
            <a:avLst/>
          </a:prstGeom>
          <a:solidFill>
            <a:srgbClr val="FFFFFF"/>
          </a:solidFill>
          <a:ln/>
        </p:spPr>
        <p:txBody>
          <a:bodyPr/>
          <a:lstStyle/>
          <a:p>
            <a:endParaRPr/>
          </a:p>
        </p:txBody>
      </p:sp>
      <p:sp>
        <p:nvSpPr>
          <p:cNvPr id="387" name="矩形 386"/>
          <p:cNvSpPr/>
          <p:nvPr/>
        </p:nvSpPr>
        <p:spPr>
          <a:xfrm>
            <a:off x="0" y="0"/>
            <a:ext cx="12192000" cy="76200"/>
          </a:xfrm>
          <a:prstGeom prst="rect">
            <a:avLst/>
          </a:prstGeom>
          <a:solidFill>
            <a:srgbClr val="1E4FA8"/>
          </a:solidFill>
          <a:ln/>
        </p:spPr>
        <p:txBody>
          <a:bodyPr/>
          <a:lstStyle/>
          <a:p>
            <a:endParaRPr/>
          </a:p>
        </p:txBody>
      </p:sp>
      <p:sp>
        <p:nvSpPr>
          <p:cNvPr id="388" name="任意多边形: 形状 387"/>
          <p:cNvSpPr/>
          <p:nvPr/>
        </p:nvSpPr>
        <p:spPr>
          <a:xfrm>
            <a:off x="0" y="76200"/>
            <a:ext cx="12192000" cy="533400"/>
          </a:xfrm>
          <a:custGeom>
            <a:avLst/>
            <a:gdLst/>
            <a:ahLst/>
            <a:cxnLst/>
            <a:rect l="0" t="0" r="0" b="0"/>
            <a:pathLst>
              <a:path w="1280" h="56">
                <a:moveTo>
                  <a:pt x="0" y="55"/>
                </a:moveTo>
                <a:lnTo>
                  <a:pt x="1280" y="55"/>
                </a:lnTo>
                <a:lnTo>
                  <a:pt x="1280" y="56"/>
                </a:lnTo>
                <a:lnTo>
                  <a:pt x="0" y="56"/>
                </a:lnTo>
                <a:close/>
              </a:path>
            </a:pathLst>
          </a:custGeom>
          <a:solidFill>
            <a:srgbClr val="D6DCE5"/>
          </a:solidFill>
          <a:ln/>
        </p:spPr>
        <p:txBody>
          <a:bodyPr/>
          <a:lstStyle/>
          <a:p>
            <a:endParaRPr/>
          </a:p>
        </p:txBody>
      </p:sp>
      <p:sp>
        <p:nvSpPr>
          <p:cNvPr id="389" name="文本框 388" descr="{&quot;isTemplate&quot;:true,&quot;type&quot;:&quot;text&quot;}"/>
          <p:cNvSpPr txBox="1"/>
          <p:nvPr/>
        </p:nvSpPr>
        <p:spPr>
          <a:xfrm>
            <a:off x="381000" y="257175"/>
            <a:ext cx="1285875" cy="161925"/>
          </a:xfrm>
          <a:prstGeom prst="rect">
            <a:avLst/>
          </a:prstGeom>
        </p:spPr>
        <p:txBody>
          <a:bodyPr wrap="none" lIns="0" tIns="0" rIns="0" bIns="0"/>
          <a:lstStyle/>
          <a:p>
            <a:pPr>
              <a:lnSpc>
                <a:spcPct val="100000"/>
              </a:lnSpc>
            </a:pPr>
            <a:r>
              <a:rPr lang="zh-CN" sz="1050" spc="75">
                <a:solidFill>
                  <a:srgbClr val="8B97A8"/>
                </a:solidFill>
                <a:latin typeface="Microsoft YaHei"/>
                <a:ea typeface="Microsoft YaHei"/>
              </a:rPr>
              <a:t>周期数学</a:t>
            </a:r>
            <a:r>
              <a:rPr lang="en-US" sz="1050" spc="75">
                <a:solidFill>
                  <a:srgbClr val="8B97A8"/>
                </a:solidFill>
                <a:latin typeface="Microsoft YaHei"/>
                <a:ea typeface="Microsoft YaHei"/>
              </a:rPr>
              <a:t> · </a:t>
            </a:r>
            <a:r>
              <a:rPr lang="zh-CN" sz="1050" spc="75">
                <a:solidFill>
                  <a:srgbClr val="8B97A8"/>
                </a:solidFill>
                <a:latin typeface="Microsoft YaHei"/>
                <a:ea typeface="Microsoft YaHei"/>
              </a:rPr>
              <a:t>对外宣讲</a:t>
            </a:r>
            <a:endParaRPr/>
          </a:p>
        </p:txBody>
      </p:sp>
      <p:sp>
        <p:nvSpPr>
          <p:cNvPr id="390" name="文本框 389" descr="{&quot;isTemplate&quot;:true,&quot;type&quot;:&quot;text&quot;}"/>
          <p:cNvSpPr txBox="1"/>
          <p:nvPr/>
        </p:nvSpPr>
        <p:spPr>
          <a:xfrm>
            <a:off x="10439400" y="257175"/>
            <a:ext cx="1371600" cy="161925"/>
          </a:xfrm>
          <a:prstGeom prst="rect">
            <a:avLst/>
          </a:prstGeom>
        </p:spPr>
        <p:txBody>
          <a:bodyPr wrap="none" lIns="0" tIns="0" rIns="0" bIns="0"/>
          <a:lstStyle/>
          <a:p>
            <a:pPr>
              <a:lnSpc>
                <a:spcPct val="100000"/>
              </a:lnSpc>
            </a:pPr>
            <a:r>
              <a:rPr lang="en-US" sz="1050" spc="75">
                <a:solidFill>
                  <a:srgbClr val="1E4FA8"/>
                </a:solidFill>
                <a:latin typeface="Microsoft YaHei"/>
                <a:ea typeface="Microsoft YaHei"/>
              </a:rPr>
              <a:t>04 </a:t>
            </a:r>
            <a:r>
              <a:rPr lang="zh-CN" sz="1050" spc="75">
                <a:solidFill>
                  <a:srgbClr val="1E4FA8"/>
                </a:solidFill>
                <a:latin typeface="Microsoft YaHei"/>
                <a:ea typeface="Microsoft YaHei"/>
              </a:rPr>
              <a:t>边界、路线与展望</a:t>
            </a:r>
            <a:endParaRPr/>
          </a:p>
        </p:txBody>
      </p:sp>
      <p:sp>
        <p:nvSpPr>
          <p:cNvPr id="391" name="文本框 390" descr="{&quot;isTemplate&quot;:true,&quot;type&quot;:&quot;text&quot;}"/>
          <p:cNvSpPr txBox="1"/>
          <p:nvPr/>
        </p:nvSpPr>
        <p:spPr>
          <a:xfrm>
            <a:off x="381000" y="800100"/>
            <a:ext cx="11430000" cy="371475"/>
          </a:xfrm>
          <a:prstGeom prst="rect">
            <a:avLst/>
          </a:prstGeom>
        </p:spPr>
        <p:txBody>
          <a:bodyPr wrap="none" lIns="0" tIns="0" rIns="0" bIns="0"/>
          <a:lstStyle/>
          <a:p>
            <a:pPr>
              <a:lnSpc>
                <a:spcPct val="100000"/>
              </a:lnSpc>
            </a:pPr>
            <a:r>
              <a:rPr lang="zh-CN" sz="2400" b="1">
                <a:solidFill>
                  <a:srgbClr val="0E3F8C"/>
                </a:solidFill>
                <a:latin typeface="Microsoft YaHei"/>
                <a:ea typeface="Microsoft YaHei"/>
              </a:rPr>
              <a:t>三步走：让纲领进入可验证、可引用的轨道</a:t>
            </a:r>
            <a:endParaRPr/>
          </a:p>
        </p:txBody>
      </p:sp>
      <p:sp>
        <p:nvSpPr>
          <p:cNvPr id="392" name="矩形: 圆角 391"/>
          <p:cNvSpPr/>
          <p:nvPr/>
        </p:nvSpPr>
        <p:spPr>
          <a:xfrm>
            <a:off x="381000" y="1352550"/>
            <a:ext cx="11430000" cy="2533650"/>
          </a:xfrm>
          <a:prstGeom prst="roundRect">
            <a:avLst>
              <a:gd name="adj" fmla="val 2256"/>
            </a:avLst>
          </a:prstGeom>
          <a:solidFill>
            <a:srgbClr val="F7F9FC"/>
          </a:solidFill>
          <a:ln w="12700">
            <a:solidFill>
              <a:srgbClr val="E5E7EB"/>
            </a:solidFill>
            <a:prstDash val="solid"/>
          </a:ln>
        </p:spPr>
        <p:txBody>
          <a:bodyPr/>
          <a:lstStyle/>
          <a:p>
            <a:endParaRPr/>
          </a:p>
        </p:txBody>
      </p:sp>
      <p:pic>
        <p:nvPicPr>
          <p:cNvPr id="393" name="图形 392"/>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1352550"/>
            <a:ext cx="10668000" cy="2533650"/>
          </a:xfrm>
          <a:prstGeom prst="rect">
            <a:avLst/>
          </a:prstGeom>
          <a:ln/>
        </p:spPr>
      </p:pic>
      <p:sp>
        <p:nvSpPr>
          <p:cNvPr id="394" name="矩形: 圆角 393"/>
          <p:cNvSpPr/>
          <p:nvPr/>
        </p:nvSpPr>
        <p:spPr>
          <a:xfrm>
            <a:off x="381000" y="4019550"/>
            <a:ext cx="11430000" cy="2362200"/>
          </a:xfrm>
          <a:prstGeom prst="roundRect">
            <a:avLst>
              <a:gd name="adj" fmla="val 2419"/>
            </a:avLst>
          </a:prstGeom>
          <a:solidFill>
            <a:srgbClr val="F7F9FC"/>
          </a:solidFill>
          <a:ln w="12700">
            <a:solidFill>
              <a:srgbClr val="E5E7EB"/>
            </a:solidFill>
            <a:prstDash val="solid"/>
          </a:ln>
        </p:spPr>
        <p:txBody>
          <a:bodyPr/>
          <a:lstStyle/>
          <a:p>
            <a:endParaRPr/>
          </a:p>
        </p:txBody>
      </p:sp>
      <p:sp>
        <p:nvSpPr>
          <p:cNvPr id="395" name="文本框 394" descr="{&quot;isTemplate&quot;:true,&quot;type&quot;:&quot;text&quot;}"/>
          <p:cNvSpPr txBox="1"/>
          <p:nvPr/>
        </p:nvSpPr>
        <p:spPr>
          <a:xfrm>
            <a:off x="609600" y="4171950"/>
            <a:ext cx="5200650" cy="152400"/>
          </a:xfrm>
          <a:prstGeom prst="rect">
            <a:avLst/>
          </a:prstGeom>
        </p:spPr>
        <p:txBody>
          <a:bodyPr wrap="none" lIns="0" tIns="0" rIns="0" bIns="0"/>
          <a:lstStyle/>
          <a:p>
            <a:pPr>
              <a:lnSpc>
                <a:spcPct val="100000"/>
              </a:lnSpc>
            </a:pPr>
            <a:r>
              <a:rPr lang="zh-CN" sz="975" spc="75">
                <a:solidFill>
                  <a:srgbClr val="8B97A8"/>
                </a:solidFill>
                <a:latin typeface="Microsoft YaHei"/>
                <a:ea typeface="Microsoft YaHei"/>
              </a:rPr>
              <a:t>十项开放问题</a:t>
            </a:r>
            <a:endParaRPr/>
          </a:p>
        </p:txBody>
      </p:sp>
      <p:sp>
        <p:nvSpPr>
          <p:cNvPr id="396" name="文本框 395" descr="{&quot;isTemplate&quot;:true,&quot;type&quot;:&quot;text&quot;}"/>
          <p:cNvSpPr txBox="1"/>
          <p:nvPr/>
        </p:nvSpPr>
        <p:spPr>
          <a:xfrm>
            <a:off x="609600" y="4400550"/>
            <a:ext cx="5200650" cy="590550"/>
          </a:xfrm>
          <a:prstGeom prst="rect">
            <a:avLst/>
          </a:prstGeom>
        </p:spPr>
        <p:txBody>
          <a:bodyPr wrap="square" lIns="0" tIns="0" rIns="0" bIns="0">
            <a:normAutofit/>
          </a:bodyPr>
          <a:lstStyle/>
          <a:p>
            <a:pPr>
              <a:lnSpc>
                <a:spcPct val="170000"/>
              </a:lnSpc>
            </a:pPr>
            <a:r>
              <a:rPr lang="zh-CN" sz="1125">
                <a:solidFill>
                  <a:srgbClr val="1A2230"/>
                </a:solidFill>
                <a:latin typeface="Microsoft YaHei"/>
                <a:ea typeface="Microsoft YaHei"/>
              </a:rPr>
              <a:t>已在手稿末章逐条列出：快速算法、自动化拐点检验、周期卷积的深度学习集成、</a:t>
            </a:r>
            <a:r>
              <a:rPr lang="en-US" sz="1125">
                <a:solidFill>
                  <a:srgbClr val="1A2230"/>
                </a:solidFill>
                <a:latin typeface="Microsoft YaHei"/>
                <a:ea typeface="Microsoft YaHei"/>
              </a:rPr>
              <a:t>CEAF </a:t>
            </a:r>
            <a:r>
              <a:rPr lang="zh-CN" sz="1125">
                <a:solidFill>
                  <a:srgbClr val="1A2230"/>
                </a:solidFill>
                <a:latin typeface="Microsoft YaHei"/>
                <a:ea typeface="Microsoft YaHei"/>
              </a:rPr>
              <a:t>规模化、相位算子体系扩展等。每一条都可以独立开工。</a:t>
            </a:r>
            <a:endParaRPr/>
          </a:p>
        </p:txBody>
      </p:sp>
      <p:sp>
        <p:nvSpPr>
          <p:cNvPr id="397" name="矩形 396"/>
          <p:cNvSpPr/>
          <p:nvPr/>
        </p:nvSpPr>
        <p:spPr>
          <a:xfrm>
            <a:off x="6000750" y="4171950"/>
            <a:ext cx="9525" cy="2057400"/>
          </a:xfrm>
          <a:prstGeom prst="rect">
            <a:avLst/>
          </a:prstGeom>
          <a:solidFill>
            <a:srgbClr val="D6DCE5"/>
          </a:solidFill>
          <a:ln/>
        </p:spPr>
        <p:txBody>
          <a:bodyPr/>
          <a:lstStyle/>
          <a:p>
            <a:endParaRPr/>
          </a:p>
        </p:txBody>
      </p:sp>
      <p:sp>
        <p:nvSpPr>
          <p:cNvPr id="398" name="文本框 397" descr="{&quot;isTemplate&quot;:true,&quot;type&quot;:&quot;text&quot;}"/>
          <p:cNvSpPr txBox="1"/>
          <p:nvPr/>
        </p:nvSpPr>
        <p:spPr>
          <a:xfrm>
            <a:off x="6200775" y="4171950"/>
            <a:ext cx="5381625" cy="152400"/>
          </a:xfrm>
          <a:prstGeom prst="rect">
            <a:avLst/>
          </a:prstGeom>
        </p:spPr>
        <p:txBody>
          <a:bodyPr wrap="none" lIns="0" tIns="0" rIns="0" bIns="0"/>
          <a:lstStyle/>
          <a:p>
            <a:pPr>
              <a:lnSpc>
                <a:spcPct val="100000"/>
              </a:lnSpc>
            </a:pPr>
            <a:r>
              <a:rPr lang="zh-CN" sz="975" spc="75">
                <a:solidFill>
                  <a:srgbClr val="8B97A8"/>
                </a:solidFill>
                <a:latin typeface="Microsoft YaHei"/>
                <a:ea typeface="Microsoft YaHei"/>
              </a:rPr>
              <a:t>期望的合作形式</a:t>
            </a:r>
            <a:endParaRPr/>
          </a:p>
        </p:txBody>
      </p:sp>
      <p:sp>
        <p:nvSpPr>
          <p:cNvPr id="399" name="文本框 398" descr="{&quot;isTemplate&quot;:true,&quot;type&quot;:&quot;text&quot;}"/>
          <p:cNvSpPr txBox="1"/>
          <p:nvPr/>
        </p:nvSpPr>
        <p:spPr>
          <a:xfrm>
            <a:off x="6200775" y="4400550"/>
            <a:ext cx="5381625" cy="590550"/>
          </a:xfrm>
          <a:prstGeom prst="rect">
            <a:avLst/>
          </a:prstGeom>
        </p:spPr>
        <p:txBody>
          <a:bodyPr wrap="square" lIns="0" tIns="0" rIns="0" bIns="0">
            <a:normAutofit/>
          </a:bodyPr>
          <a:lstStyle/>
          <a:p>
            <a:pPr>
              <a:lnSpc>
                <a:spcPct val="170000"/>
              </a:lnSpc>
            </a:pPr>
            <a:r>
              <a:rPr lang="zh-CN" sz="1125">
                <a:solidFill>
                  <a:srgbClr val="1A2230"/>
                </a:solidFill>
                <a:latin typeface="Microsoft YaHei"/>
                <a:ea typeface="Microsoft YaHei"/>
              </a:rPr>
              <a:t>联合课题、工程实现委托、数据集与算力支持、出版与评议渠道对接——四种形式中任意一种，都能让上述路线图的某一段提前落地。</a:t>
            </a:r>
            <a:endParaRPr/>
          </a:p>
        </p:txBody>
      </p:sp>
      <p:sp>
        <p:nvSpPr>
          <p:cNvPr id="400" name="文本框 399"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401" name="文本框 400"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21 / 22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descr="&lt;Slide style={{ width: 1280, height: 720, flexDirection: 'column', background: '#F7F9FC', fontFamily: '&quot;Microsoft YaHei&quot;, &quot;Source Han Sans SC&quot;, sans-serif' }}&gt;&#10;&#10;    &lt;Box style={{ width: '100%', height: 8, background: '#1E4FA8' }} /&gt;&#10;&#10;    &lt;Box style={{ width: '100%', flex: 1, flexDirection: 'column', justifyContent: 'center', alignItems: 'center', paddingLeft: 120, paddingRight: 120 }}&gt;&#10;&#10;        &lt;svg width={760} height={186} viewBox='0 0 760 186'&gt;&#10;            &lt;path d='M20 152 Q210 152 340 96' fill='none' stroke='#8FB4E8' strokeWidth='2.5' /&gt;&#10;            &lt;path d='M20 96 Q210 96 340 96' fill='none' stroke='#3D7BD9' strokeWidth='2.5' /&gt;&#10;            &lt;path d='M20 40 Q210 40 340 96' fill='none' stroke='#8FB4E8' strokeWidth='2.5' /&gt;&#10;            &lt;ellipse cx='540' cy='96' rx='140' ry='58' fill='none' stroke='#1E4FA8' strokeWidth='3' /&gt;&#10;            &lt;circle cx='680' cy='96' r='6' fill='#D9534F' /&gt;&#10;            &lt;circle cx='20' cy='152' r='4' fill='#8FB4E8' /&gt;&#10;            &lt;circle cx='20' cy='96' r='4' fill='#3D7BD9' /&gt;&#10;            &lt;circle cx='20' cy='40' r='4' fill='#8FB4E8' /&gt;&#10;            &lt;text x='20' y='180' fontSize='12' fill='#8B97A8'&gt;平移 · 缩放 · 旋转&lt;/text&gt;&#10;            &lt;text x='680' y='180' textAnchor='end' fontSize='12' fill='#8B97A8'&gt;一致闭合轨道&lt;/text&gt;&#10;        &lt;/svg&gt;&#10;&#10;        &lt;Text style={{ fontSize: 56, fontWeight: 'bold', color: '#0E3F8C', marginTop: 18 }}&gt;帷幕刚刚拉开&lt;/Text&gt;&#10;        &lt;Box style={{ width: 108, height: 5, background: '#FFC107', marginTop: 20, marginBottom: 24 }} /&gt;&#10;&#10;        &lt;Text style={{ fontSize: 17, color: '#4A5568', lineHeight: 1.85, textAlign: 'center', maxWidth: 940 }}&gt;&#10;            {`从原子内部的电子云振动到行星的公转，从心跳的节律到经济波动的循环，对称性与不变量编织了宇宙演化的韵律。这本手稿试图为这一韵律谱写一部统一的乐章。`}&#10;        &lt;/Text&gt;&#10;&#10;        &lt;Text style={{ fontSize: 18, fontWeight: 'bold', color: '#0E3F8C', lineHeight: 1.8, textAlign: 'center', maxWidth: 940, marginTop: 16 }}&gt;&#10;            {`它的成功不在于证明一切都是周期，而在于能够精确指出：这个系统是周期的，因为它在某个群的作用下轨道闭合。`}&#10;        &lt;/Text&gt;&#10;&#10;        &lt;Box style={{ flexDirection: 'row', alignItems: 'center', gap: 18, marginTop: 34, paddingTop: 16, paddingBottom: 16, paddingLeft: 30, paddingRight: 30, background: '#0E3F8C', borderRadius: 6 }}&gt;&#10;            &lt;Text style={{ fontSize: 16, color: '#B8CEEC' }}&gt;诚邀共同推进：&lt;/Text&gt;&#10;            &lt;Text style={{ fontSize: 16, fontWeight: 'bold', color: '#FFFFFF' }}&gt;算法实现&lt;/Text&gt;&#10;            &lt;Box style={{ width: 1, height: 20, background: 'rgba(184,206,236,0.4)' }} /&gt;&#10;            &lt;Text style={{ fontSize: 16, fontWeight: 'bold', color: '#FFFFFF' }}&gt;实证检验&lt;/Text&gt;&#10;            &lt;Box style={{ width: 1, height: 20, background: 'rgba(184,206,236,0.4)' }} /&gt;&#10;            &lt;Text style={{ fontSize: 16, fontWeight: 'bold', color: '#FFFFFF' }}&gt;学术出版&lt;/Text&gt;&#10;        &lt;/Box&gt;&#10;    &lt;/Box&gt;&#10;&#10;    &lt;Box style={{ width: '100%', height: 34, paddingLeft: 40, paddingRight: 40, flexDirection: 'row', alignItems: 'center', justifyContent: 'space-between' }}&gt;&#10;        &lt;Text style={{ fontSize: 12, color: '#8B97A8' }}&gt;Periodicity Mathematics&lt;/Text&gt;&#10;        &lt;Text style={{ fontSize: 14, color: '#0E3F8C' }}&gt;22 / 22&lt;/Text&gt;&#10;    &lt;/Box&gt;&#10;&lt;/Slide&gt;&#10;"/>
        <p:cNvGrpSpPr/>
        <p:nvPr/>
      </p:nvGrpSpPr>
      <p:grpSpPr>
        <a:xfrm>
          <a:off x="0" y="0"/>
          <a:ext cx="0" cy="0"/>
          <a:chOff x="0" y="0"/>
          <a:chExt cx="0" cy="0"/>
        </a:xfrm>
      </p:grpSpPr>
      <p:sp>
        <p:nvSpPr>
          <p:cNvPr id="403" name="矩形 402"/>
          <p:cNvSpPr/>
          <p:nvPr/>
        </p:nvSpPr>
        <p:spPr>
          <a:xfrm>
            <a:off x="0" y="0"/>
            <a:ext cx="12192000" cy="6858000"/>
          </a:xfrm>
          <a:prstGeom prst="rect">
            <a:avLst/>
          </a:prstGeom>
          <a:solidFill>
            <a:srgbClr val="F7F9FC"/>
          </a:solidFill>
          <a:ln/>
        </p:spPr>
        <p:txBody>
          <a:bodyPr/>
          <a:lstStyle/>
          <a:p>
            <a:endParaRPr/>
          </a:p>
        </p:txBody>
      </p:sp>
      <p:sp>
        <p:nvSpPr>
          <p:cNvPr id="404" name="矩形 403"/>
          <p:cNvSpPr/>
          <p:nvPr/>
        </p:nvSpPr>
        <p:spPr>
          <a:xfrm>
            <a:off x="0" y="0"/>
            <a:ext cx="12192000" cy="76200"/>
          </a:xfrm>
          <a:prstGeom prst="rect">
            <a:avLst/>
          </a:prstGeom>
          <a:solidFill>
            <a:srgbClr val="1E4FA8"/>
          </a:solidFill>
          <a:ln/>
        </p:spPr>
        <p:txBody>
          <a:bodyPr/>
          <a:lstStyle/>
          <a:p>
            <a:endParaRPr/>
          </a:p>
        </p:txBody>
      </p:sp>
      <p:pic>
        <p:nvPicPr>
          <p:cNvPr id="405" name="图形 404"/>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476500" y="742950"/>
            <a:ext cx="7239000" cy="1771650"/>
          </a:xfrm>
          <a:prstGeom prst="rect">
            <a:avLst/>
          </a:prstGeom>
          <a:ln/>
        </p:spPr>
      </p:pic>
      <p:sp>
        <p:nvSpPr>
          <p:cNvPr id="406" name="文本框 405" descr="{&quot;isTemplate&quot;:true,&quot;type&quot;:&quot;text&quot;}"/>
          <p:cNvSpPr txBox="1"/>
          <p:nvPr/>
        </p:nvSpPr>
        <p:spPr>
          <a:xfrm>
            <a:off x="4495800" y="2686050"/>
            <a:ext cx="3200400" cy="647700"/>
          </a:xfrm>
          <a:prstGeom prst="rect">
            <a:avLst/>
          </a:prstGeom>
        </p:spPr>
        <p:txBody>
          <a:bodyPr wrap="none" lIns="0" tIns="0" rIns="0" bIns="0"/>
          <a:lstStyle/>
          <a:p>
            <a:pPr>
              <a:lnSpc>
                <a:spcPct val="100000"/>
              </a:lnSpc>
            </a:pPr>
            <a:r>
              <a:rPr lang="zh-CN" sz="4200" b="1">
                <a:solidFill>
                  <a:srgbClr val="0E3F8C"/>
                </a:solidFill>
                <a:latin typeface="Microsoft YaHei"/>
                <a:ea typeface="Microsoft YaHei"/>
              </a:rPr>
              <a:t>帷幕刚刚拉开</a:t>
            </a:r>
            <a:endParaRPr/>
          </a:p>
        </p:txBody>
      </p:sp>
      <p:sp>
        <p:nvSpPr>
          <p:cNvPr id="407" name="矩形 406"/>
          <p:cNvSpPr/>
          <p:nvPr/>
        </p:nvSpPr>
        <p:spPr>
          <a:xfrm>
            <a:off x="5581650" y="3524250"/>
            <a:ext cx="1028700" cy="47625"/>
          </a:xfrm>
          <a:prstGeom prst="rect">
            <a:avLst/>
          </a:prstGeom>
          <a:solidFill>
            <a:srgbClr val="FFC107"/>
          </a:solidFill>
          <a:ln/>
        </p:spPr>
        <p:txBody>
          <a:bodyPr/>
          <a:lstStyle/>
          <a:p>
            <a:endParaRPr/>
          </a:p>
        </p:txBody>
      </p:sp>
      <p:sp>
        <p:nvSpPr>
          <p:cNvPr id="408" name="文本框 407" descr="{&quot;isTemplate&quot;:true,&quot;type&quot;:&quot;text&quot;}"/>
          <p:cNvSpPr txBox="1"/>
          <p:nvPr/>
        </p:nvSpPr>
        <p:spPr>
          <a:xfrm>
            <a:off x="1143000" y="3800475"/>
            <a:ext cx="9906000" cy="723900"/>
          </a:xfrm>
          <a:prstGeom prst="rect">
            <a:avLst/>
          </a:prstGeom>
        </p:spPr>
        <p:txBody>
          <a:bodyPr wrap="square" lIns="0" tIns="0" rIns="0" bIns="0">
            <a:normAutofit/>
          </a:bodyPr>
          <a:lstStyle/>
          <a:p>
            <a:pPr algn="ctr">
              <a:lnSpc>
                <a:spcPct val="185000"/>
              </a:lnSpc>
            </a:pPr>
            <a:r>
              <a:rPr lang="zh-CN" sz="1275">
                <a:solidFill>
                  <a:srgbClr val="4A5568"/>
                </a:solidFill>
                <a:latin typeface="Microsoft YaHei"/>
                <a:ea typeface="Microsoft YaHei"/>
              </a:rPr>
              <a:t>从原子内部的电子云振动到行星的公转，从心跳的节律到经济波动的循环，对称性与不变量编织了宇宙演化的韵律。这本手稿试图为这一韵律谱写一部统一的乐章。</a:t>
            </a:r>
            <a:endParaRPr/>
          </a:p>
        </p:txBody>
      </p:sp>
      <p:sp>
        <p:nvSpPr>
          <p:cNvPr id="409" name="文本框 408" descr="{&quot;isTemplate&quot;:true,&quot;type&quot;:&quot;text&quot;}"/>
          <p:cNvSpPr txBox="1"/>
          <p:nvPr/>
        </p:nvSpPr>
        <p:spPr>
          <a:xfrm>
            <a:off x="1724025" y="4676775"/>
            <a:ext cx="8743950" cy="371475"/>
          </a:xfrm>
          <a:prstGeom prst="rect">
            <a:avLst/>
          </a:prstGeom>
        </p:spPr>
        <p:txBody>
          <a:bodyPr wrap="none" lIns="0" tIns="0" rIns="0" bIns="0"/>
          <a:lstStyle/>
          <a:p>
            <a:pPr algn="ctr">
              <a:lnSpc>
                <a:spcPct val="180000"/>
              </a:lnSpc>
            </a:pPr>
            <a:r>
              <a:rPr lang="zh-CN" sz="1350" b="1">
                <a:solidFill>
                  <a:srgbClr val="0E3F8C"/>
                </a:solidFill>
                <a:latin typeface="Microsoft YaHei"/>
                <a:ea typeface="Microsoft YaHei"/>
              </a:rPr>
              <a:t>它的成功不在于证明一切都是周期，而在于能够精确指出：这个系统是周期的，因为它在某个群的作用下轨道闭合。</a:t>
            </a:r>
            <a:endParaRPr/>
          </a:p>
        </p:txBody>
      </p:sp>
      <p:sp>
        <p:nvSpPr>
          <p:cNvPr id="410" name="矩形: 圆角 409"/>
          <p:cNvSpPr/>
          <p:nvPr/>
        </p:nvSpPr>
        <p:spPr>
          <a:xfrm>
            <a:off x="3924300" y="5372100"/>
            <a:ext cx="4343400" cy="495300"/>
          </a:xfrm>
          <a:prstGeom prst="roundRect">
            <a:avLst>
              <a:gd name="adj" fmla="val 11538"/>
            </a:avLst>
          </a:prstGeom>
          <a:solidFill>
            <a:srgbClr val="0E3F8C"/>
          </a:solidFill>
          <a:ln/>
        </p:spPr>
        <p:txBody>
          <a:bodyPr/>
          <a:lstStyle/>
          <a:p>
            <a:endParaRPr/>
          </a:p>
        </p:txBody>
      </p:sp>
      <p:sp>
        <p:nvSpPr>
          <p:cNvPr id="411" name="文本框 410" descr="{&quot;isTemplate&quot;:true,&quot;type&quot;:&quot;text&quot;}"/>
          <p:cNvSpPr txBox="1"/>
          <p:nvPr/>
        </p:nvSpPr>
        <p:spPr>
          <a:xfrm>
            <a:off x="4210050" y="5524500"/>
            <a:ext cx="1066800" cy="190500"/>
          </a:xfrm>
          <a:prstGeom prst="rect">
            <a:avLst/>
          </a:prstGeom>
        </p:spPr>
        <p:txBody>
          <a:bodyPr wrap="none" lIns="0" tIns="0" rIns="0" bIns="0"/>
          <a:lstStyle/>
          <a:p>
            <a:pPr>
              <a:lnSpc>
                <a:spcPct val="100000"/>
              </a:lnSpc>
            </a:pPr>
            <a:r>
              <a:rPr lang="zh-CN" sz="1200">
                <a:solidFill>
                  <a:srgbClr val="B8CEEC"/>
                </a:solidFill>
                <a:latin typeface="Microsoft YaHei"/>
                <a:ea typeface="Microsoft YaHei"/>
              </a:rPr>
              <a:t>诚邀共同推进：</a:t>
            </a:r>
            <a:endParaRPr/>
          </a:p>
        </p:txBody>
      </p:sp>
      <p:sp>
        <p:nvSpPr>
          <p:cNvPr id="412" name="文本框 411" descr="{&quot;isTemplate&quot;:true,&quot;type&quot;:&quot;text&quot;}"/>
          <p:cNvSpPr txBox="1"/>
          <p:nvPr/>
        </p:nvSpPr>
        <p:spPr>
          <a:xfrm>
            <a:off x="5448300" y="5524500"/>
            <a:ext cx="609600" cy="190500"/>
          </a:xfrm>
          <a:prstGeom prst="rect">
            <a:avLst/>
          </a:prstGeom>
        </p:spPr>
        <p:txBody>
          <a:bodyPr wrap="none" lIns="0" tIns="0" rIns="0" bIns="0"/>
          <a:lstStyle/>
          <a:p>
            <a:pPr>
              <a:lnSpc>
                <a:spcPct val="100000"/>
              </a:lnSpc>
            </a:pPr>
            <a:r>
              <a:rPr lang="zh-CN" sz="1200" b="1">
                <a:solidFill>
                  <a:srgbClr val="FFFFFF"/>
                </a:solidFill>
                <a:latin typeface="Microsoft YaHei"/>
                <a:ea typeface="Microsoft YaHei"/>
              </a:rPr>
              <a:t>算法实现</a:t>
            </a:r>
            <a:endParaRPr/>
          </a:p>
        </p:txBody>
      </p:sp>
      <p:sp>
        <p:nvSpPr>
          <p:cNvPr id="413" name="矩形 412"/>
          <p:cNvSpPr/>
          <p:nvPr/>
        </p:nvSpPr>
        <p:spPr>
          <a:xfrm>
            <a:off x="6229350" y="5524500"/>
            <a:ext cx="9525" cy="190500"/>
          </a:xfrm>
          <a:prstGeom prst="rect">
            <a:avLst/>
          </a:prstGeom>
          <a:solidFill>
            <a:srgbClr val="B8CEEC">
              <a:alpha val="40000"/>
            </a:srgbClr>
          </a:solidFill>
          <a:ln/>
        </p:spPr>
        <p:txBody>
          <a:bodyPr/>
          <a:lstStyle/>
          <a:p>
            <a:endParaRPr/>
          </a:p>
        </p:txBody>
      </p:sp>
      <p:sp>
        <p:nvSpPr>
          <p:cNvPr id="414" name="文本框 413" descr="{&quot;isTemplate&quot;:true,&quot;type&quot;:&quot;text&quot;}"/>
          <p:cNvSpPr txBox="1"/>
          <p:nvPr/>
        </p:nvSpPr>
        <p:spPr>
          <a:xfrm>
            <a:off x="6410325" y="5524500"/>
            <a:ext cx="609600" cy="190500"/>
          </a:xfrm>
          <a:prstGeom prst="rect">
            <a:avLst/>
          </a:prstGeom>
        </p:spPr>
        <p:txBody>
          <a:bodyPr wrap="none" lIns="0" tIns="0" rIns="0" bIns="0"/>
          <a:lstStyle/>
          <a:p>
            <a:pPr>
              <a:lnSpc>
                <a:spcPct val="100000"/>
              </a:lnSpc>
            </a:pPr>
            <a:r>
              <a:rPr lang="zh-CN" sz="1200" b="1">
                <a:solidFill>
                  <a:srgbClr val="FFFFFF"/>
                </a:solidFill>
                <a:latin typeface="Microsoft YaHei"/>
                <a:ea typeface="Microsoft YaHei"/>
              </a:rPr>
              <a:t>实证检验</a:t>
            </a:r>
            <a:endParaRPr/>
          </a:p>
        </p:txBody>
      </p:sp>
      <p:sp>
        <p:nvSpPr>
          <p:cNvPr id="415" name="矩形 414"/>
          <p:cNvSpPr/>
          <p:nvPr/>
        </p:nvSpPr>
        <p:spPr>
          <a:xfrm>
            <a:off x="7191375" y="5524500"/>
            <a:ext cx="9525" cy="190500"/>
          </a:xfrm>
          <a:prstGeom prst="rect">
            <a:avLst/>
          </a:prstGeom>
          <a:solidFill>
            <a:srgbClr val="B8CEEC">
              <a:alpha val="40000"/>
            </a:srgbClr>
          </a:solidFill>
          <a:ln/>
        </p:spPr>
        <p:txBody>
          <a:bodyPr/>
          <a:lstStyle/>
          <a:p>
            <a:endParaRPr/>
          </a:p>
        </p:txBody>
      </p:sp>
      <p:sp>
        <p:nvSpPr>
          <p:cNvPr id="416" name="文本框 415" descr="{&quot;isTemplate&quot;:true,&quot;type&quot;:&quot;text&quot;}"/>
          <p:cNvSpPr txBox="1"/>
          <p:nvPr/>
        </p:nvSpPr>
        <p:spPr>
          <a:xfrm>
            <a:off x="7372350" y="5524500"/>
            <a:ext cx="609600" cy="190500"/>
          </a:xfrm>
          <a:prstGeom prst="rect">
            <a:avLst/>
          </a:prstGeom>
        </p:spPr>
        <p:txBody>
          <a:bodyPr wrap="none" lIns="0" tIns="0" rIns="0" bIns="0"/>
          <a:lstStyle/>
          <a:p>
            <a:pPr>
              <a:lnSpc>
                <a:spcPct val="100000"/>
              </a:lnSpc>
            </a:pPr>
            <a:r>
              <a:rPr lang="zh-CN" sz="1200" b="1">
                <a:solidFill>
                  <a:srgbClr val="FFFFFF"/>
                </a:solidFill>
                <a:latin typeface="Microsoft YaHei"/>
                <a:ea typeface="Microsoft YaHei"/>
              </a:rPr>
              <a:t>学术出版</a:t>
            </a:r>
            <a:endParaRPr/>
          </a:p>
        </p:txBody>
      </p:sp>
      <p:sp>
        <p:nvSpPr>
          <p:cNvPr id="417" name="文本框 416" descr="{&quot;isTemplate&quot;:true,&quot;type&quot;:&quot;text&quot;}"/>
          <p:cNvSpPr txBox="1"/>
          <p:nvPr/>
        </p:nvSpPr>
        <p:spPr>
          <a:xfrm>
            <a:off x="381000" y="6629400"/>
            <a:ext cx="1314450" cy="142875"/>
          </a:xfrm>
          <a:prstGeom prst="rect">
            <a:avLst/>
          </a:prstGeom>
        </p:spPr>
        <p:txBody>
          <a:bodyPr wrap="none" lIns="0" tIns="0" rIns="0" bIns="0"/>
          <a:lstStyle/>
          <a:p>
            <a:pPr>
              <a:lnSpc>
                <a:spcPct val="100000"/>
              </a:lnSpc>
            </a:pPr>
            <a:r>
              <a:rPr lang="en-US" sz="900">
                <a:solidFill>
                  <a:srgbClr val="8B97A8"/>
                </a:solidFill>
                <a:latin typeface="Microsoft YaHei"/>
                <a:ea typeface="Microsoft YaHei"/>
              </a:rPr>
              <a:t>Periodicity Mathematics</a:t>
            </a:r>
            <a:endParaRPr/>
          </a:p>
        </p:txBody>
      </p:sp>
      <p:sp>
        <p:nvSpPr>
          <p:cNvPr id="418" name="文本框 417" descr="{&quot;isTemplate&quot;:true,&quot;type&quot;:&quot;text&quot;}"/>
          <p:cNvSpPr txBox="1"/>
          <p:nvPr/>
        </p:nvSpPr>
        <p:spPr>
          <a:xfrm>
            <a:off x="11353800" y="6619875"/>
            <a:ext cx="457200" cy="161925"/>
          </a:xfrm>
          <a:prstGeom prst="rect">
            <a:avLst/>
          </a:prstGeom>
        </p:spPr>
        <p:txBody>
          <a:bodyPr wrap="none" lIns="0" tIns="0" rIns="0" bIns="0"/>
          <a:lstStyle/>
          <a:p>
            <a:pPr>
              <a:lnSpc>
                <a:spcPct val="100000"/>
              </a:lnSpc>
            </a:pPr>
            <a:r>
              <a:rPr lang="en-US" sz="1050">
                <a:solidFill>
                  <a:srgbClr val="0E3F8C"/>
                </a:solidFill>
                <a:latin typeface="Microsoft YaHei"/>
                <a:ea typeface="Microsoft YaHei"/>
              </a:rPr>
              <a:t>22 / 22</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4161</Words>
  <Application>Microsoft Office PowerPoint</Application>
  <PresentationFormat>宽屏</PresentationFormat>
  <Paragraphs>400</Paragraphs>
  <Slides>22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Microsoft YaHei</vt:lpstr>
      <vt:lpstr>Microsoft YaHei</vt:lpstr>
      <vt:lpstr>Arial</vt:lpstr>
      <vt:lpstr>Calibri</vt:lpstr>
      <vt:lpstr>Cambria Math</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周期数学</dc:title>
  <dc:subject>对外宣讲</dc:subject>
  <dc:creator>Eloy Kim</dc:creator>
  <cp:lastModifiedBy>Administrator</cp:lastModifiedBy>
  <cp:revision>7</cp:revision>
  <dcterms:created xsi:type="dcterms:W3CDTF">2026-09-17T15:51:09Z</dcterms:created>
  <dcterms:modified xsi:type="dcterms:W3CDTF">2026-09-27T10:11:46Z</dcterms:modified>
</cp:coreProperties>
</file>